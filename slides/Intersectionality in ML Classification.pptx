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Lst>
  <p:sldSz cy="5143500" cx="9144000"/>
  <p:notesSz cx="6858000" cy="9144000"/>
  <p:embeddedFontLst>
    <p:embeddedFont>
      <p:font typeface="Raleway"/>
      <p:regular r:id="rId71"/>
      <p:bold r:id="rId72"/>
      <p:italic r:id="rId73"/>
      <p:boldItalic r:id="rId74"/>
    </p:embeddedFont>
    <p:embeddedFont>
      <p:font typeface="Lato"/>
      <p:regular r:id="rId75"/>
      <p:bold r:id="rId76"/>
      <p:italic r:id="rId77"/>
      <p:boldItalic r:id="rId7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9299406-39BF-4800-BCAD-0E380AE722B9}">
  <a:tblStyle styleId="{29299406-39BF-4800-BCAD-0E380AE722B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Raleway-italic.fntdata"/><Relationship Id="rId72" Type="http://schemas.openxmlformats.org/officeDocument/2006/relationships/font" Target="fonts/Raleway-bold.fntdata"/><Relationship Id="rId31" Type="http://schemas.openxmlformats.org/officeDocument/2006/relationships/slide" Target="slides/slide24.xml"/><Relationship Id="rId75" Type="http://schemas.openxmlformats.org/officeDocument/2006/relationships/font" Target="fonts/Lato-regular.fntdata"/><Relationship Id="rId30" Type="http://schemas.openxmlformats.org/officeDocument/2006/relationships/slide" Target="slides/slide23.xml"/><Relationship Id="rId74" Type="http://schemas.openxmlformats.org/officeDocument/2006/relationships/font" Target="fonts/Raleway-boldItalic.fntdata"/><Relationship Id="rId33" Type="http://schemas.openxmlformats.org/officeDocument/2006/relationships/slide" Target="slides/slide26.xml"/><Relationship Id="rId77" Type="http://schemas.openxmlformats.org/officeDocument/2006/relationships/font" Target="fonts/Lato-italic.fntdata"/><Relationship Id="rId32" Type="http://schemas.openxmlformats.org/officeDocument/2006/relationships/slide" Target="slides/slide25.xml"/><Relationship Id="rId76" Type="http://schemas.openxmlformats.org/officeDocument/2006/relationships/font" Target="fonts/Lato-bold.fntdata"/><Relationship Id="rId35" Type="http://schemas.openxmlformats.org/officeDocument/2006/relationships/slide" Target="slides/slide28.xml"/><Relationship Id="rId34" Type="http://schemas.openxmlformats.org/officeDocument/2006/relationships/slide" Target="slides/slide27.xml"/><Relationship Id="rId78" Type="http://schemas.openxmlformats.org/officeDocument/2006/relationships/font" Target="fonts/Lato-boldItalic.fntdata"/><Relationship Id="rId71" Type="http://schemas.openxmlformats.org/officeDocument/2006/relationships/font" Target="fonts/Raleway-regular.fntdata"/><Relationship Id="rId70" Type="http://schemas.openxmlformats.org/officeDocument/2006/relationships/slide" Target="slides/slide63.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slide" Target="slides/slide61.xml"/><Relationship Id="rId23" Type="http://schemas.openxmlformats.org/officeDocument/2006/relationships/slide" Target="slides/slide16.xml"/><Relationship Id="rId67" Type="http://schemas.openxmlformats.org/officeDocument/2006/relationships/slide" Target="slides/slide60.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slide" Target="slides/slide62.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300d21ee37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300d21ee37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Presentazione talk + speaker</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2dd5569997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2dd5569997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2dd5569997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2dd5569997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2dd5569997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2dd5569997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300d21ee37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300d21ee37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2dd556999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2dd556999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2dd5569997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2dd5569997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2dd5569997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2dd5569997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2dd556999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2dd556999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2dd5569997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2dd5569997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2dd5569997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2dd5569997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2dd5569997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2dd5569997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2dd5569997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2dd5569997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2dd5569997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2dd5569997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2dd5569997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2dd5569997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2dd5569997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2dd5569997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2dd5569997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2dd5569997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2dd5569997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2dd5569997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300d21ee37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300d21ee37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2dd5569997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2dd5569997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2dd5569997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2dd5569997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2dd5569997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2dd5569997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2dd5569997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2dd5569997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300d21ee37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300d21ee37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2dd5569997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2dd5569997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2dd5569997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2dd5569997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300d21ee37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300d21ee37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300d21ee37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300d21ee37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300d21ee37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300d21ee37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300d21ee37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300d21ee37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300d21ee37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300d21ee37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30ad8e59b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30ad8e59b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30ad8e59b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30ad8e59b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30ad8e59be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30ad8e59be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30ad8e59be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30ad8e59be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30ad8e59be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30ad8e59be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36ed1fe02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36ed1fe02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32bae2808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32bae2808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32bae2808f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32bae2808f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32bae2808f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32bae2808f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32bae2808f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32bae2808f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32bae2808f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32bae2808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32bae2808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32bae2808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32bae2808f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32bae2808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32bae2808f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32bae2808f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32bae2808f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32bae2808f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32bae2808f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32bae2808f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32bae2808f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32bae2808f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145782d639b7dc3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145782d639b7dc3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4280ebd71e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4280ebd71e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4280ebd71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4280ebd7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333ca7574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333ca7574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4280ebd71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4280ebd71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4280ebd71e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4280ebd71e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4280ebd71e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4280ebd71e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4280ebd71e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4280ebd71e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4280ebd71e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4280ebd71e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4280ebd71e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34280ebd71e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4280ebd71e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34280ebd71e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4814727c2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4814727c2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4814727c2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34814727c2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4814727c23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34814727c2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4049b27cb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34049b27cb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54" name="Shape 54"/>
        <p:cNvGrpSpPr/>
        <p:nvPr/>
      </p:nvGrpSpPr>
      <p:grpSpPr>
        <a:xfrm>
          <a:off x="0" y="0"/>
          <a:ext cx="0" cy="0"/>
          <a:chOff x="0" y="0"/>
          <a:chExt cx="0" cy="0"/>
        </a:xfrm>
      </p:grpSpPr>
      <p:cxnSp>
        <p:nvCxnSpPr>
          <p:cNvPr id="55" name="Google Shape;55;p14"/>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56" name="Google Shape;56;p14"/>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57" name="Google Shape;57;p14"/>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58" name="Google Shape;58;p14"/>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9" name="Google Shape;59;p14"/>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60" name="Google Shape;60;p1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61" name="Shape 61"/>
        <p:cNvGrpSpPr/>
        <p:nvPr/>
      </p:nvGrpSpPr>
      <p:grpSpPr>
        <a:xfrm>
          <a:off x="0" y="0"/>
          <a:ext cx="0" cy="0"/>
          <a:chOff x="0" y="0"/>
          <a:chExt cx="0" cy="0"/>
        </a:xfrm>
      </p:grpSpPr>
      <p:cxnSp>
        <p:nvCxnSpPr>
          <p:cNvPr id="62" name="Google Shape;62;p15"/>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63" name="Google Shape;63;p15"/>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64" name="Google Shape;64;p15"/>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
        <p:nvSpPr>
          <p:cNvPr id="65" name="Google Shape;65;p1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6" name="Shape 66"/>
        <p:cNvGrpSpPr/>
        <p:nvPr/>
      </p:nvGrpSpPr>
      <p:grpSpPr>
        <a:xfrm>
          <a:off x="0" y="0"/>
          <a:ext cx="0" cy="0"/>
          <a:chOff x="0" y="0"/>
          <a:chExt cx="0" cy="0"/>
        </a:xfrm>
      </p:grpSpPr>
      <p:cxnSp>
        <p:nvCxnSpPr>
          <p:cNvPr id="67" name="Google Shape;67;p16"/>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68" name="Google Shape;68;p16"/>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69" name="Google Shape;69;p16"/>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70" name="Google Shape;70;p16"/>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1" name="Google Shape;71;p16"/>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72" name="Google Shape;72;p16"/>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3" name="Shape 73"/>
        <p:cNvGrpSpPr/>
        <p:nvPr/>
      </p:nvGrpSpPr>
      <p:grpSpPr>
        <a:xfrm>
          <a:off x="0" y="0"/>
          <a:ext cx="0" cy="0"/>
          <a:chOff x="0" y="0"/>
          <a:chExt cx="0" cy="0"/>
        </a:xfrm>
      </p:grpSpPr>
      <p:cxnSp>
        <p:nvCxnSpPr>
          <p:cNvPr id="74" name="Google Shape;74;p17"/>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75" name="Google Shape;75;p17"/>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76" name="Google Shape;76;p1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77" name="Google Shape;77;p17"/>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8" name="Google Shape;78;p17"/>
          <p:cNvSpPr txBox="1"/>
          <p:nvPr>
            <p:ph idx="1" type="body"/>
          </p:nvPr>
        </p:nvSpPr>
        <p:spPr>
          <a:xfrm>
            <a:off x="2400303" y="1602675"/>
            <a:ext cx="3071400" cy="3002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79" name="Google Shape;79;p17"/>
          <p:cNvSpPr txBox="1"/>
          <p:nvPr>
            <p:ph idx="2" type="body"/>
          </p:nvPr>
        </p:nvSpPr>
        <p:spPr>
          <a:xfrm>
            <a:off x="5650572" y="1602675"/>
            <a:ext cx="3071400" cy="3002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80" name="Google Shape;80;p17"/>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18"/>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3" name="Google Shape;83;p1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4" name="Shape 84"/>
        <p:cNvGrpSpPr/>
        <p:nvPr/>
      </p:nvGrpSpPr>
      <p:grpSpPr>
        <a:xfrm>
          <a:off x="0" y="0"/>
          <a:ext cx="0" cy="0"/>
          <a:chOff x="0" y="0"/>
          <a:chExt cx="0" cy="0"/>
        </a:xfrm>
      </p:grpSpPr>
      <p:cxnSp>
        <p:nvCxnSpPr>
          <p:cNvPr id="85" name="Google Shape;85;p19"/>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86" name="Google Shape;86;p19"/>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7" name="Google Shape;87;p19"/>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88" name="Google Shape;88;p1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353535"/>
        </a:solidFill>
      </p:bgPr>
    </p:bg>
    <p:spTree>
      <p:nvGrpSpPr>
        <p:cNvPr id="89" name="Shape 89"/>
        <p:cNvGrpSpPr/>
        <p:nvPr/>
      </p:nvGrpSpPr>
      <p:grpSpPr>
        <a:xfrm>
          <a:off x="0" y="0"/>
          <a:ext cx="0" cy="0"/>
          <a:chOff x="0" y="0"/>
          <a:chExt cx="0" cy="0"/>
        </a:xfrm>
      </p:grpSpPr>
      <p:cxnSp>
        <p:nvCxnSpPr>
          <p:cNvPr id="90" name="Google Shape;90;p20"/>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91" name="Google Shape;91;p20"/>
          <p:cNvSpPr txBox="1"/>
          <p:nvPr>
            <p:ph type="title"/>
          </p:nvPr>
        </p:nvSpPr>
        <p:spPr>
          <a:xfrm>
            <a:off x="283103" y="712141"/>
            <a:ext cx="6244200" cy="383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92" name="Google Shape;92;p20"/>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3" name="Shape 93"/>
        <p:cNvGrpSpPr/>
        <p:nvPr/>
      </p:nvGrpSpPr>
      <p:grpSpPr>
        <a:xfrm>
          <a:off x="0" y="0"/>
          <a:ext cx="0" cy="0"/>
          <a:chOff x="0" y="0"/>
          <a:chExt cx="0" cy="0"/>
        </a:xfrm>
      </p:grpSpPr>
      <p:sp>
        <p:nvSpPr>
          <p:cNvPr id="94" name="Google Shape;94;p21"/>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5" name="Google Shape;95;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96" name="Google Shape;96;p21"/>
          <p:cNvSpPr txBox="1"/>
          <p:nvPr>
            <p:ph type="title"/>
          </p:nvPr>
        </p:nvSpPr>
        <p:spPr>
          <a:xfrm>
            <a:off x="265500" y="1397350"/>
            <a:ext cx="4045200" cy="1318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1"/>
              </a:buClr>
              <a:buSzPts val="3600"/>
              <a:buNone/>
              <a:defRPr sz="3600">
                <a:solidFill>
                  <a:schemeClr val="dk1"/>
                </a:solidFill>
              </a:defRPr>
            </a:lvl1pPr>
            <a:lvl2pPr lvl="1" algn="ctr">
              <a:spcBef>
                <a:spcPts val="0"/>
              </a:spcBef>
              <a:spcAft>
                <a:spcPts val="0"/>
              </a:spcAft>
              <a:buClr>
                <a:schemeClr val="dk1"/>
              </a:buClr>
              <a:buSzPts val="3600"/>
              <a:buNone/>
              <a:defRPr sz="3600">
                <a:solidFill>
                  <a:schemeClr val="dk1"/>
                </a:solidFill>
              </a:defRPr>
            </a:lvl2pPr>
            <a:lvl3pPr lvl="2" algn="ctr">
              <a:spcBef>
                <a:spcPts val="0"/>
              </a:spcBef>
              <a:spcAft>
                <a:spcPts val="0"/>
              </a:spcAft>
              <a:buClr>
                <a:schemeClr val="dk1"/>
              </a:buClr>
              <a:buSzPts val="3600"/>
              <a:buNone/>
              <a:defRPr sz="3600">
                <a:solidFill>
                  <a:schemeClr val="dk1"/>
                </a:solidFill>
              </a:defRPr>
            </a:lvl3pPr>
            <a:lvl4pPr lvl="3" algn="ctr">
              <a:spcBef>
                <a:spcPts val="0"/>
              </a:spcBef>
              <a:spcAft>
                <a:spcPts val="0"/>
              </a:spcAft>
              <a:buClr>
                <a:schemeClr val="dk1"/>
              </a:buClr>
              <a:buSzPts val="3600"/>
              <a:buNone/>
              <a:defRPr sz="3600">
                <a:solidFill>
                  <a:schemeClr val="dk1"/>
                </a:solidFill>
              </a:defRPr>
            </a:lvl4pPr>
            <a:lvl5pPr lvl="4" algn="ctr">
              <a:spcBef>
                <a:spcPts val="0"/>
              </a:spcBef>
              <a:spcAft>
                <a:spcPts val="0"/>
              </a:spcAft>
              <a:buClr>
                <a:schemeClr val="dk1"/>
              </a:buClr>
              <a:buSzPts val="3600"/>
              <a:buNone/>
              <a:defRPr sz="3600">
                <a:solidFill>
                  <a:schemeClr val="dk1"/>
                </a:solidFill>
              </a:defRPr>
            </a:lvl5pPr>
            <a:lvl6pPr lvl="5" algn="ctr">
              <a:spcBef>
                <a:spcPts val="0"/>
              </a:spcBef>
              <a:spcAft>
                <a:spcPts val="0"/>
              </a:spcAft>
              <a:buClr>
                <a:schemeClr val="dk1"/>
              </a:buClr>
              <a:buSzPts val="3600"/>
              <a:buNone/>
              <a:defRPr sz="3600">
                <a:solidFill>
                  <a:schemeClr val="dk1"/>
                </a:solidFill>
              </a:defRPr>
            </a:lvl6pPr>
            <a:lvl7pPr lvl="6" algn="ctr">
              <a:spcBef>
                <a:spcPts val="0"/>
              </a:spcBef>
              <a:spcAft>
                <a:spcPts val="0"/>
              </a:spcAft>
              <a:buClr>
                <a:schemeClr val="dk1"/>
              </a:buClr>
              <a:buSzPts val="3600"/>
              <a:buNone/>
              <a:defRPr sz="3600">
                <a:solidFill>
                  <a:schemeClr val="dk1"/>
                </a:solidFill>
              </a:defRPr>
            </a:lvl7pPr>
            <a:lvl8pPr lvl="7" algn="ctr">
              <a:spcBef>
                <a:spcPts val="0"/>
              </a:spcBef>
              <a:spcAft>
                <a:spcPts val="0"/>
              </a:spcAft>
              <a:buClr>
                <a:schemeClr val="dk1"/>
              </a:buClr>
              <a:buSzPts val="3600"/>
              <a:buNone/>
              <a:defRPr sz="3600">
                <a:solidFill>
                  <a:schemeClr val="dk1"/>
                </a:solidFill>
              </a:defRPr>
            </a:lvl8pPr>
            <a:lvl9pPr lvl="8" algn="ctr">
              <a:spcBef>
                <a:spcPts val="0"/>
              </a:spcBef>
              <a:spcAft>
                <a:spcPts val="0"/>
              </a:spcAft>
              <a:buClr>
                <a:schemeClr val="dk1"/>
              </a:buClr>
              <a:buSzPts val="3600"/>
              <a:buNone/>
              <a:defRPr sz="3600">
                <a:solidFill>
                  <a:schemeClr val="dk1"/>
                </a:solidFill>
              </a:defRPr>
            </a:lvl9pPr>
          </a:lstStyle>
          <a:p/>
        </p:txBody>
      </p:sp>
      <p:sp>
        <p:nvSpPr>
          <p:cNvPr id="97" name="Google Shape;97;p21"/>
          <p:cNvSpPr txBox="1"/>
          <p:nvPr>
            <p:ph idx="1" type="subTitle"/>
          </p:nvPr>
        </p:nvSpPr>
        <p:spPr>
          <a:xfrm>
            <a:off x="265500" y="273537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8" name="Google Shape;98;p21"/>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99" name="Google Shape;99;p2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0" name="Shape 100"/>
        <p:cNvGrpSpPr/>
        <p:nvPr/>
      </p:nvGrpSpPr>
      <p:grpSpPr>
        <a:xfrm>
          <a:off x="0" y="0"/>
          <a:ext cx="0" cy="0"/>
          <a:chOff x="0" y="0"/>
          <a:chExt cx="0" cy="0"/>
        </a:xfrm>
      </p:grpSpPr>
      <p:cxnSp>
        <p:nvCxnSpPr>
          <p:cNvPr id="101" name="Google Shape;101;p22"/>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102" name="Google Shape;102;p22"/>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103" name="Google Shape;103;p22"/>
          <p:cNvSpPr txBox="1"/>
          <p:nvPr>
            <p:ph idx="1" type="body"/>
          </p:nvPr>
        </p:nvSpPr>
        <p:spPr>
          <a:xfrm>
            <a:off x="328017" y="4226025"/>
            <a:ext cx="8388600" cy="3936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104" name="Google Shape;104;p2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cxnSp>
        <p:nvCxnSpPr>
          <p:cNvPr id="106" name="Google Shape;106;p23"/>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107" name="Google Shape;107;p23"/>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108" name="Google Shape;108;p23"/>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109" name="Google Shape;109;p23"/>
          <p:cNvSpPr txBox="1"/>
          <p:nvPr>
            <p:ph idx="1" type="body"/>
          </p:nvPr>
        </p:nvSpPr>
        <p:spPr>
          <a:xfrm>
            <a:off x="853950" y="2919450"/>
            <a:ext cx="74361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110" name="Google Shape;110;p2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1" name="Shape 111"/>
        <p:cNvGrpSpPr/>
        <p:nvPr/>
      </p:nvGrpSpPr>
      <p:grpSpPr>
        <a:xfrm>
          <a:off x="0" y="0"/>
          <a:ext cx="0" cy="0"/>
          <a:chOff x="0" y="0"/>
          <a:chExt cx="0" cy="0"/>
        </a:xfrm>
      </p:grpSpPr>
      <p:sp>
        <p:nvSpPr>
          <p:cNvPr id="112" name="Google Shape;112;p2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52" name="Google Shape;52;p13"/>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p:txBody>
      </p:sp>
      <p:sp>
        <p:nvSpPr>
          <p:cNvPr id="53" name="Google Shape;53;p13"/>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 Id="rId3"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3.xml"/><Relationship Id="rId3" Type="http://schemas.openxmlformats.org/officeDocument/2006/relationships/image" Target="../media/image8.png"/><Relationship Id="rId4" Type="http://schemas.openxmlformats.org/officeDocument/2006/relationships/image" Target="../media/image19.png"/><Relationship Id="rId5" Type="http://schemas.openxmlformats.org/officeDocument/2006/relationships/image" Target="../media/image13.png"/><Relationship Id="rId6" Type="http://schemas.openxmlformats.org/officeDocument/2006/relationships/image" Target="../media/image12.png"/><Relationship Id="rId7"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xml"/><Relationship Id="rId3" Type="http://schemas.openxmlformats.org/officeDocument/2006/relationships/image" Target="../media/image25.png"/><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xml"/><Relationship Id="rId3" Type="http://schemas.openxmlformats.org/officeDocument/2006/relationships/image" Target="../media/image16.png"/><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6.xml"/><Relationship Id="rId3" Type="http://schemas.openxmlformats.org/officeDocument/2006/relationships/image" Target="../media/image35.png"/><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7.xml"/><Relationship Id="rId3" Type="http://schemas.openxmlformats.org/officeDocument/2006/relationships/image" Target="../media/image8.png"/><Relationship Id="rId4" Type="http://schemas.openxmlformats.org/officeDocument/2006/relationships/image" Target="../media/image19.png"/><Relationship Id="rId5" Type="http://schemas.openxmlformats.org/officeDocument/2006/relationships/image" Target="../media/image13.png"/><Relationship Id="rId6" Type="http://schemas.openxmlformats.org/officeDocument/2006/relationships/image" Target="../media/image12.png"/><Relationship Id="rId7" Type="http://schemas.openxmlformats.org/officeDocument/2006/relationships/image" Target="../media/image22.png"/><Relationship Id="rId8"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9.xml"/><Relationship Id="rId3" Type="http://schemas.openxmlformats.org/officeDocument/2006/relationships/image" Target="../media/image23.png"/><Relationship Id="rId4" Type="http://schemas.openxmlformats.org/officeDocument/2006/relationships/image" Target="../media/image33.png"/><Relationship Id="rId5" Type="http://schemas.openxmlformats.org/officeDocument/2006/relationships/image" Target="../media/image28.png"/><Relationship Id="rId6" Type="http://schemas.openxmlformats.org/officeDocument/2006/relationships/image" Target="../media/image2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0.xml"/><Relationship Id="rId3" Type="http://schemas.openxmlformats.org/officeDocument/2006/relationships/image" Target="../media/image21.png"/><Relationship Id="rId4" Type="http://schemas.openxmlformats.org/officeDocument/2006/relationships/image" Target="../media/image26.png"/><Relationship Id="rId5" Type="http://schemas.openxmlformats.org/officeDocument/2006/relationships/image" Target="../media/image32.png"/><Relationship Id="rId6" Type="http://schemas.openxmlformats.org/officeDocument/2006/relationships/image" Target="../media/image3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1.xml"/><Relationship Id="rId3" Type="http://schemas.openxmlformats.org/officeDocument/2006/relationships/image" Target="../media/image3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2.xml"/><Relationship Id="rId3" Type="http://schemas.openxmlformats.org/officeDocument/2006/relationships/image" Target="../media/image4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3.xml"/><Relationship Id="rId3" Type="http://schemas.openxmlformats.org/officeDocument/2006/relationships/image" Target="../media/image4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5.xml"/><Relationship Id="rId3" Type="http://schemas.openxmlformats.org/officeDocument/2006/relationships/image" Target="../media/image27.png"/><Relationship Id="rId4" Type="http://schemas.openxmlformats.org/officeDocument/2006/relationships/image" Target="../media/image24.png"/><Relationship Id="rId5" Type="http://schemas.openxmlformats.org/officeDocument/2006/relationships/image" Target="../media/image3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6.xml"/><Relationship Id="rId3" Type="http://schemas.openxmlformats.org/officeDocument/2006/relationships/image" Target="../media/image4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7.xml"/><Relationship Id="rId3" Type="http://schemas.openxmlformats.org/officeDocument/2006/relationships/image" Target="../media/image38.png"/><Relationship Id="rId4" Type="http://schemas.openxmlformats.org/officeDocument/2006/relationships/image" Target="../media/image40.png"/><Relationship Id="rId5" Type="http://schemas.openxmlformats.org/officeDocument/2006/relationships/image" Target="../media/image3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8.xml"/><Relationship Id="rId3" Type="http://schemas.openxmlformats.org/officeDocument/2006/relationships/image" Target="../media/image5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9.xml"/><Relationship Id="rId3" Type="http://schemas.openxmlformats.org/officeDocument/2006/relationships/image" Target="../media/image3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1.xml"/><Relationship Id="rId3" Type="http://schemas.openxmlformats.org/officeDocument/2006/relationships/hyperlink" Target="https://emojipedia.org/check-mark-button" TargetMode="External"/><Relationship Id="rId4" Type="http://schemas.openxmlformats.org/officeDocument/2006/relationships/hyperlink" Target="https://emojipedia.org/check-mark-button"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3.xml"/><Relationship Id="rId3" Type="http://schemas.openxmlformats.org/officeDocument/2006/relationships/image" Target="../media/image4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4.xml"/><Relationship Id="rId3" Type="http://schemas.openxmlformats.org/officeDocument/2006/relationships/image" Target="../media/image54.png"/><Relationship Id="rId4" Type="http://schemas.openxmlformats.org/officeDocument/2006/relationships/image" Target="../media/image46.png"/><Relationship Id="rId5" Type="http://schemas.openxmlformats.org/officeDocument/2006/relationships/image" Target="../media/image49.png"/><Relationship Id="rId6" Type="http://schemas.openxmlformats.org/officeDocument/2006/relationships/image" Target="../media/image4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5.xml"/><Relationship Id="rId3" Type="http://schemas.openxmlformats.org/officeDocument/2006/relationships/image" Target="../media/image49.png"/><Relationship Id="rId4" Type="http://schemas.openxmlformats.org/officeDocument/2006/relationships/image" Target="../media/image5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6.xml"/><Relationship Id="rId3" Type="http://schemas.openxmlformats.org/officeDocument/2006/relationships/image" Target="../media/image57.png"/><Relationship Id="rId4" Type="http://schemas.openxmlformats.org/officeDocument/2006/relationships/image" Target="../media/image4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7.xml"/><Relationship Id="rId3" Type="http://schemas.openxmlformats.org/officeDocument/2006/relationships/image" Target="../media/image56.png"/><Relationship Id="rId4" Type="http://schemas.openxmlformats.org/officeDocument/2006/relationships/image" Target="../media/image4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8.xml"/><Relationship Id="rId3" Type="http://schemas.openxmlformats.org/officeDocument/2006/relationships/image" Target="../media/image54.png"/><Relationship Id="rId4" Type="http://schemas.openxmlformats.org/officeDocument/2006/relationships/image" Target="../media/image5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9.xml"/><Relationship Id="rId3" Type="http://schemas.openxmlformats.org/officeDocument/2006/relationships/image" Target="../media/image60.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2.xml"/><Relationship Id="rId3" Type="http://schemas.openxmlformats.org/officeDocument/2006/relationships/image" Target="../media/image5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3.xml"/><Relationship Id="rId3"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5"/>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it" sz="4100"/>
              <a:t>Intersectionality in ML Classification</a:t>
            </a:r>
            <a:endParaRPr b="0" sz="4100"/>
          </a:p>
        </p:txBody>
      </p:sp>
      <p:sp>
        <p:nvSpPr>
          <p:cNvPr id="118" name="Google Shape;118;p25"/>
          <p:cNvSpPr txBox="1"/>
          <p:nvPr>
            <p:ph idx="1" type="subTitle"/>
          </p:nvPr>
        </p:nvSpPr>
        <p:spPr>
          <a:xfrm>
            <a:off x="2371717" y="3473175"/>
            <a:ext cx="6331500" cy="1241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ctr">
              <a:spcBef>
                <a:spcPts val="0"/>
              </a:spcBef>
              <a:spcAft>
                <a:spcPts val="0"/>
              </a:spcAft>
              <a:buNone/>
            </a:pPr>
            <a:r>
              <a:rPr lang="it" sz="2400"/>
              <a:t>02/10/2025 - Chiara Criscuolo </a:t>
            </a:r>
            <a:endParaRPr sz="2400"/>
          </a:p>
        </p:txBody>
      </p:sp>
      <p:pic>
        <p:nvPicPr>
          <p:cNvPr id="119" name="Google Shape;119;p25"/>
          <p:cNvPicPr preferRelativeResize="0"/>
          <p:nvPr/>
        </p:nvPicPr>
        <p:blipFill>
          <a:blip r:embed="rId3">
            <a:alphaModFix/>
          </a:blip>
          <a:stretch>
            <a:fillRect/>
          </a:stretch>
        </p:blipFill>
        <p:spPr>
          <a:xfrm>
            <a:off x="138750" y="4138951"/>
            <a:ext cx="2232975" cy="652029"/>
          </a:xfrm>
          <a:prstGeom prst="rect">
            <a:avLst/>
          </a:prstGeom>
          <a:noFill/>
          <a:ln>
            <a:noFill/>
          </a:ln>
        </p:spPr>
      </p:pic>
      <p:sp>
        <p:nvSpPr>
          <p:cNvPr id="120" name="Google Shape;120;p2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Fairness Issues</a:t>
            </a:r>
            <a:endParaRPr/>
          </a:p>
        </p:txBody>
      </p:sp>
      <p:sp>
        <p:nvSpPr>
          <p:cNvPr id="126" name="Google Shape;126;p26"/>
          <p:cNvSpPr txBox="1"/>
          <p:nvPr/>
        </p:nvSpPr>
        <p:spPr>
          <a:xfrm>
            <a:off x="311700" y="1051175"/>
            <a:ext cx="8520600" cy="3675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it" sz="1800">
                <a:solidFill>
                  <a:schemeClr val="dk2"/>
                </a:solidFill>
                <a:latin typeface="Lato"/>
                <a:ea typeface="Lato"/>
                <a:cs typeface="Lato"/>
                <a:sym typeface="Lato"/>
              </a:rPr>
              <a:t>Research directions:</a:t>
            </a:r>
            <a:endParaRPr sz="1800">
              <a:solidFill>
                <a:schemeClr val="dk2"/>
              </a:solidFill>
              <a:latin typeface="Lato"/>
              <a:ea typeface="Lato"/>
              <a:cs typeface="Lato"/>
              <a:sym typeface="Lato"/>
            </a:endParaRPr>
          </a:p>
          <a:p>
            <a:pPr indent="-342900" lvl="0" marL="457200" rtl="0" algn="l">
              <a:lnSpc>
                <a:spcPct val="150000"/>
              </a:lnSpc>
              <a:spcBef>
                <a:spcPts val="1600"/>
              </a:spcBef>
              <a:spcAft>
                <a:spcPts val="0"/>
              </a:spcAft>
              <a:buClr>
                <a:schemeClr val="dk2"/>
              </a:buClr>
              <a:buSzPts val="1800"/>
              <a:buFont typeface="Lato"/>
              <a:buChar char="-"/>
            </a:pPr>
            <a:r>
              <a:rPr lang="it" sz="1800">
                <a:solidFill>
                  <a:schemeClr val="dk2"/>
                </a:solidFill>
                <a:latin typeface="Lato"/>
                <a:ea typeface="Lato"/>
                <a:cs typeface="Lato"/>
                <a:sym typeface="Lato"/>
              </a:rPr>
              <a:t>consider multiple protected attributes</a:t>
            </a:r>
            <a:endParaRPr sz="1800">
              <a:solidFill>
                <a:schemeClr val="dk2"/>
              </a:solidFill>
              <a:latin typeface="Lato"/>
              <a:ea typeface="Lato"/>
              <a:cs typeface="Lato"/>
              <a:sym typeface="Lato"/>
            </a:endParaRPr>
          </a:p>
          <a:p>
            <a:pPr indent="-342900" lvl="0" marL="457200" rtl="0" algn="l">
              <a:lnSpc>
                <a:spcPct val="150000"/>
              </a:lnSpc>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consider protected-attributes that are no-binary</a:t>
            </a:r>
            <a:endParaRPr sz="1800">
              <a:solidFill>
                <a:schemeClr val="dk2"/>
              </a:solidFill>
              <a:latin typeface="Lato"/>
              <a:ea typeface="Lato"/>
              <a:cs typeface="Lato"/>
              <a:sym typeface="Lato"/>
            </a:endParaRPr>
          </a:p>
          <a:p>
            <a:pPr indent="-342900" lvl="0" marL="457200" rtl="0" algn="l">
              <a:lnSpc>
                <a:spcPct val="150000"/>
              </a:lnSpc>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consider </a:t>
            </a:r>
            <a:r>
              <a:rPr lang="it" sz="1800">
                <a:solidFill>
                  <a:schemeClr val="dk2"/>
                </a:solidFill>
                <a:highlight>
                  <a:schemeClr val="dk1"/>
                </a:highlight>
                <a:latin typeface="Lato"/>
                <a:ea typeface="Lato"/>
                <a:cs typeface="Lato"/>
                <a:sym typeface="Lato"/>
              </a:rPr>
              <a:t>intersectional bias</a:t>
            </a:r>
            <a:endParaRPr sz="1800">
              <a:solidFill>
                <a:schemeClr val="dk2"/>
              </a:solidFill>
              <a:highlight>
                <a:schemeClr val="dk1"/>
              </a:highlight>
              <a:latin typeface="Lato"/>
              <a:ea typeface="Lato"/>
              <a:cs typeface="Lato"/>
              <a:sym typeface="Lato"/>
            </a:endParaRPr>
          </a:p>
          <a:p>
            <a:pPr indent="-342900" lvl="0" marL="457200" rtl="0" algn="l">
              <a:lnSpc>
                <a:spcPct val="150000"/>
              </a:lnSpc>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consider intersectional bias with no-binary protected attributes </a:t>
            </a:r>
            <a:endParaRPr sz="1800">
              <a:solidFill>
                <a:schemeClr val="dk2"/>
              </a:solidFill>
              <a:latin typeface="Lato"/>
              <a:ea typeface="Lato"/>
              <a:cs typeface="Lato"/>
              <a:sym typeface="Lato"/>
            </a:endParaRPr>
          </a:p>
          <a:p>
            <a:pPr indent="-342900" lvl="0" marL="457200" rtl="0" algn="l">
              <a:lnSpc>
                <a:spcPct val="150000"/>
              </a:lnSpc>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consider non-binary target class</a:t>
            </a:r>
            <a:endParaRPr sz="1800">
              <a:solidFill>
                <a:schemeClr val="dk2"/>
              </a:solidFill>
              <a:latin typeface="Lato"/>
              <a:ea typeface="Lato"/>
              <a:cs typeface="Lato"/>
              <a:sym typeface="Lato"/>
            </a:endParaRPr>
          </a:p>
          <a:p>
            <a:pPr indent="0" lvl="0" marL="0" rtl="0" algn="l">
              <a:spcBef>
                <a:spcPts val="160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7"/>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Intersectional vs Multiple Attribute</a:t>
            </a:r>
            <a:endParaRPr/>
          </a:p>
        </p:txBody>
      </p:sp>
      <p:sp>
        <p:nvSpPr>
          <p:cNvPr id="132" name="Google Shape;132;p27"/>
          <p:cNvSpPr txBox="1"/>
          <p:nvPr/>
        </p:nvSpPr>
        <p:spPr>
          <a:xfrm>
            <a:off x="311700" y="1051175"/>
            <a:ext cx="8520600" cy="36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800">
                <a:solidFill>
                  <a:schemeClr val="dk2"/>
                </a:solidFill>
                <a:latin typeface="Lato"/>
                <a:ea typeface="Lato"/>
                <a:cs typeface="Lato"/>
                <a:sym typeface="Lato"/>
              </a:rPr>
              <a:t>Multiple attribute problem: given Race= {A,B}, Age= {𝛼, β} and Sex={0,1} → We (should) compare:</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A vs B</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𝛼 vs β</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0 vs 1</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rPr lang="it" sz="1800">
                <a:solidFill>
                  <a:schemeClr val="dk2"/>
                </a:solidFill>
                <a:latin typeface="Lato"/>
                <a:ea typeface="Lato"/>
                <a:cs typeface="Lato"/>
                <a:sym typeface="Lato"/>
              </a:rPr>
              <a:t>Intersectional problem: given Race= {A,B} and Sex={0,1} → We (should) compare:</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(A,0) vs (A,1)</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(A,0) vs (B,0)</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(A,0) vs (B,1)</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(A,1) vs (B,0)</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(A,1) vs (B,1)</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(B,0) vs (B,1)</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8"/>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Intersectional vs Multiple Attributes</a:t>
            </a:r>
            <a:endParaRPr/>
          </a:p>
        </p:txBody>
      </p:sp>
      <p:sp>
        <p:nvSpPr>
          <p:cNvPr id="138" name="Google Shape;138;p28"/>
          <p:cNvSpPr txBox="1"/>
          <p:nvPr/>
        </p:nvSpPr>
        <p:spPr>
          <a:xfrm>
            <a:off x="311700" y="1051175"/>
            <a:ext cx="8520600" cy="36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800">
                <a:solidFill>
                  <a:schemeClr val="dk2"/>
                </a:solidFill>
                <a:latin typeface="Lato"/>
                <a:ea typeface="Lato"/>
                <a:cs typeface="Lato"/>
                <a:sym typeface="Lato"/>
              </a:rPr>
              <a:t>We can consider the m</a:t>
            </a:r>
            <a:r>
              <a:rPr lang="it" sz="1800">
                <a:solidFill>
                  <a:schemeClr val="dk2"/>
                </a:solidFill>
                <a:latin typeface="Lato"/>
                <a:ea typeface="Lato"/>
                <a:cs typeface="Lato"/>
                <a:sym typeface="Lato"/>
              </a:rPr>
              <a:t>ultiple attribute problem </a:t>
            </a:r>
            <a:r>
              <a:rPr lang="it" sz="1800">
                <a:solidFill>
                  <a:schemeClr val="dk2"/>
                </a:solidFill>
                <a:latin typeface="Lato"/>
                <a:ea typeface="Lato"/>
                <a:cs typeface="Lato"/>
                <a:sym typeface="Lato"/>
              </a:rPr>
              <a:t>as a specialization of the intersectionality problem.</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p:txBody>
      </p:sp>
      <p:sp>
        <p:nvSpPr>
          <p:cNvPr id="139" name="Google Shape;139;p28"/>
          <p:cNvSpPr/>
          <p:nvPr/>
        </p:nvSpPr>
        <p:spPr>
          <a:xfrm>
            <a:off x="2237700" y="1932875"/>
            <a:ext cx="4378200" cy="2367300"/>
          </a:xfrm>
          <a:prstGeom prst="ellipse">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Lato"/>
                <a:ea typeface="Lato"/>
                <a:cs typeface="Lato"/>
                <a:sym typeface="Lato"/>
              </a:rPr>
              <a:t>Intersectionality </a:t>
            </a:r>
            <a:endParaRPr>
              <a:latin typeface="Lato"/>
              <a:ea typeface="Lato"/>
              <a:cs typeface="Lato"/>
              <a:sym typeface="Lato"/>
            </a:endParaRPr>
          </a:p>
        </p:txBody>
      </p:sp>
      <p:sp>
        <p:nvSpPr>
          <p:cNvPr id="140" name="Google Shape;140;p28"/>
          <p:cNvSpPr/>
          <p:nvPr/>
        </p:nvSpPr>
        <p:spPr>
          <a:xfrm>
            <a:off x="3515475" y="3470075"/>
            <a:ext cx="2166300" cy="7590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Lato"/>
                <a:ea typeface="Lato"/>
                <a:cs typeface="Lato"/>
                <a:sym typeface="Lato"/>
              </a:rPr>
              <a:t>Multiple attributes</a:t>
            </a:r>
            <a:endParaRPr>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9"/>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Intersectionality metrics</a:t>
            </a:r>
            <a:endParaRPr/>
          </a:p>
        </p:txBody>
      </p:sp>
      <p:sp>
        <p:nvSpPr>
          <p:cNvPr id="146" name="Google Shape;146;p2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it">
                <a:solidFill>
                  <a:schemeClr val="lt1"/>
                </a:solidFill>
              </a:rPr>
              <a:t>‹#›</a:t>
            </a:fld>
            <a:endParaRPr>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30"/>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State-of-the-art metrics</a:t>
            </a:r>
            <a:endParaRPr/>
          </a:p>
        </p:txBody>
      </p:sp>
      <p:pic>
        <p:nvPicPr>
          <p:cNvPr id="152" name="Google Shape;152;p30"/>
          <p:cNvPicPr preferRelativeResize="0"/>
          <p:nvPr/>
        </p:nvPicPr>
        <p:blipFill>
          <a:blip r:embed="rId3">
            <a:alphaModFix/>
          </a:blip>
          <a:stretch>
            <a:fillRect/>
          </a:stretch>
        </p:blipFill>
        <p:spPr>
          <a:xfrm>
            <a:off x="152400" y="1203575"/>
            <a:ext cx="8839200" cy="333296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1"/>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State-of-the-art metrics</a:t>
            </a:r>
            <a:endParaRPr/>
          </a:p>
        </p:txBody>
      </p:sp>
      <p:pic>
        <p:nvPicPr>
          <p:cNvPr id="158" name="Google Shape;158;p31"/>
          <p:cNvPicPr preferRelativeResize="0"/>
          <p:nvPr/>
        </p:nvPicPr>
        <p:blipFill>
          <a:blip r:embed="rId3">
            <a:alphaModFix/>
          </a:blip>
          <a:stretch>
            <a:fillRect/>
          </a:stretch>
        </p:blipFill>
        <p:spPr>
          <a:xfrm>
            <a:off x="152400" y="1203575"/>
            <a:ext cx="8839200" cy="3332963"/>
          </a:xfrm>
          <a:prstGeom prst="rect">
            <a:avLst/>
          </a:prstGeom>
          <a:noFill/>
          <a:ln>
            <a:noFill/>
          </a:ln>
        </p:spPr>
      </p:pic>
      <p:cxnSp>
        <p:nvCxnSpPr>
          <p:cNvPr id="159" name="Google Shape;159;p31"/>
          <p:cNvCxnSpPr/>
          <p:nvPr/>
        </p:nvCxnSpPr>
        <p:spPr>
          <a:xfrm>
            <a:off x="325550" y="4160375"/>
            <a:ext cx="7956000" cy="6600"/>
          </a:xfrm>
          <a:prstGeom prst="straightConnector1">
            <a:avLst/>
          </a:prstGeom>
          <a:noFill/>
          <a:ln cap="flat" cmpd="sng" w="19050">
            <a:solidFill>
              <a:schemeClr val="dk1"/>
            </a:solidFill>
            <a:prstDash val="solid"/>
            <a:round/>
            <a:headEnd len="med" w="med" type="none"/>
            <a:tailEnd len="med" w="med" type="none"/>
          </a:ln>
        </p:spPr>
      </p:cxnSp>
      <p:cxnSp>
        <p:nvCxnSpPr>
          <p:cNvPr id="160" name="Google Shape;160;p31"/>
          <p:cNvCxnSpPr/>
          <p:nvPr/>
        </p:nvCxnSpPr>
        <p:spPr>
          <a:xfrm>
            <a:off x="367275" y="4377875"/>
            <a:ext cx="7956000" cy="6600"/>
          </a:xfrm>
          <a:prstGeom prst="straightConnector1">
            <a:avLst/>
          </a:prstGeom>
          <a:noFill/>
          <a:ln cap="flat" cmpd="sng" w="19050">
            <a:solidFill>
              <a:schemeClr val="dk1"/>
            </a:solidFill>
            <a:prstDash val="solid"/>
            <a:round/>
            <a:headEnd len="med" w="med" type="none"/>
            <a:tailEnd len="med" w="med" type="none"/>
          </a:ln>
        </p:spPr>
      </p:cxnSp>
      <p:sp>
        <p:nvSpPr>
          <p:cNvPr id="161" name="Google Shape;161;p31"/>
          <p:cNvSpPr txBox="1"/>
          <p:nvPr/>
        </p:nvSpPr>
        <p:spPr>
          <a:xfrm>
            <a:off x="201850" y="4595375"/>
            <a:ext cx="6276300" cy="3843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800">
                <a:solidFill>
                  <a:schemeClr val="dk1"/>
                </a:solidFill>
                <a:latin typeface="Lato"/>
                <a:ea typeface="Lato"/>
                <a:cs typeface="Lato"/>
                <a:sym typeface="Lato"/>
              </a:rPr>
              <a:t>not presented here because they are not statistical</a:t>
            </a:r>
            <a:endParaRPr sz="1800">
              <a:solidFill>
                <a:schemeClr val="dk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2"/>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General Approaches for Intersectionality</a:t>
            </a:r>
            <a:endParaRPr/>
          </a:p>
        </p:txBody>
      </p:sp>
      <p:sp>
        <p:nvSpPr>
          <p:cNvPr id="167" name="Google Shape;167;p32"/>
          <p:cNvSpPr txBox="1"/>
          <p:nvPr/>
        </p:nvSpPr>
        <p:spPr>
          <a:xfrm>
            <a:off x="303300" y="1509750"/>
            <a:ext cx="8520600" cy="1708500"/>
          </a:xfrm>
          <a:prstGeom prst="rect">
            <a:avLst/>
          </a:prstGeom>
          <a:noFill/>
          <a:ln>
            <a:noFill/>
          </a:ln>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Approach #1: </a:t>
            </a:r>
            <a:r>
              <a:rPr lang="it" sz="1800">
                <a:solidFill>
                  <a:schemeClr val="dk2"/>
                </a:solidFill>
                <a:latin typeface="Lato"/>
                <a:ea typeface="Lato"/>
                <a:cs typeface="Lato"/>
                <a:sym typeface="Lato"/>
              </a:rPr>
              <a:t> Compare a specific group X pair-wise with the other groups</a:t>
            </a:r>
            <a:endParaRPr>
              <a:solidFill>
                <a:schemeClr val="dk2"/>
              </a:solidFill>
            </a:endParaRPr>
          </a:p>
          <a:p>
            <a:pPr indent="-342900" lvl="0" marL="457200" rtl="0" algn="l">
              <a:lnSpc>
                <a:spcPct val="150000"/>
              </a:lnSpc>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Approach</a:t>
            </a:r>
            <a:r>
              <a:rPr lang="it" sz="1800">
                <a:solidFill>
                  <a:schemeClr val="dk2"/>
                </a:solidFill>
                <a:latin typeface="Lato"/>
                <a:ea typeface="Lato"/>
                <a:cs typeface="Lato"/>
                <a:sym typeface="Lato"/>
              </a:rPr>
              <a:t> #2: </a:t>
            </a:r>
            <a:r>
              <a:rPr lang="it" sz="1800">
                <a:solidFill>
                  <a:schemeClr val="dk2"/>
                </a:solidFill>
                <a:latin typeface="Lato"/>
                <a:ea typeface="Lato"/>
                <a:cs typeface="Lato"/>
                <a:sym typeface="Lato"/>
              </a:rPr>
              <a:t>Compare a specific group X with an aggregator (ALL - X)</a:t>
            </a:r>
            <a:endParaRPr sz="1800">
              <a:solidFill>
                <a:schemeClr val="dk2"/>
              </a:solidFill>
              <a:latin typeface="Lato"/>
              <a:ea typeface="Lato"/>
              <a:cs typeface="Lato"/>
              <a:sym typeface="Lato"/>
            </a:endParaRPr>
          </a:p>
          <a:p>
            <a:pPr indent="-342900" lvl="0" marL="457200" rtl="0" algn="l">
              <a:lnSpc>
                <a:spcPct val="150000"/>
              </a:lnSpc>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Approach #3: Compare a specific group X with a weighted aggregator (ALL - X)</a:t>
            </a:r>
            <a:endParaRPr sz="1800">
              <a:solidFill>
                <a:schemeClr val="dk2"/>
              </a:solidFill>
              <a:latin typeface="Lato"/>
              <a:ea typeface="Lato"/>
              <a:cs typeface="Lato"/>
              <a:sym typeface="Lato"/>
            </a:endParaRPr>
          </a:p>
          <a:p>
            <a:pPr indent="-342900" lvl="0" marL="457200" rtl="0" algn="l">
              <a:lnSpc>
                <a:spcPct val="150000"/>
              </a:lnSpc>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Approach #4: Compare a specific group X with the max-difference group</a:t>
            </a:r>
            <a:endParaRPr sz="1800">
              <a:solidFill>
                <a:schemeClr val="dk2"/>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1" name="Shape 171"/>
        <p:cNvGrpSpPr/>
        <p:nvPr/>
      </p:nvGrpSpPr>
      <p:grpSpPr>
        <a:xfrm>
          <a:off x="0" y="0"/>
          <a:ext cx="0" cy="0"/>
          <a:chOff x="0" y="0"/>
          <a:chExt cx="0" cy="0"/>
        </a:xfrm>
      </p:grpSpPr>
      <p:sp>
        <p:nvSpPr>
          <p:cNvPr id="172" name="Google Shape;172;p33"/>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Differential Fairness Measure</a:t>
            </a:r>
            <a:endParaRPr/>
          </a:p>
        </p:txBody>
      </p:sp>
      <p:pic>
        <p:nvPicPr>
          <p:cNvPr id="173" name="Google Shape;173;p33"/>
          <p:cNvPicPr preferRelativeResize="0"/>
          <p:nvPr/>
        </p:nvPicPr>
        <p:blipFill>
          <a:blip r:embed="rId3">
            <a:alphaModFix/>
          </a:blip>
          <a:stretch>
            <a:fillRect/>
          </a:stretch>
        </p:blipFill>
        <p:spPr>
          <a:xfrm>
            <a:off x="2972925" y="1150600"/>
            <a:ext cx="3181350" cy="628650"/>
          </a:xfrm>
          <a:prstGeom prst="rect">
            <a:avLst/>
          </a:prstGeom>
          <a:noFill/>
          <a:ln>
            <a:noFill/>
          </a:ln>
        </p:spPr>
      </p:pic>
      <p:sp>
        <p:nvSpPr>
          <p:cNvPr id="174" name="Google Shape;174;p33"/>
          <p:cNvSpPr txBox="1"/>
          <p:nvPr/>
        </p:nvSpPr>
        <p:spPr>
          <a:xfrm>
            <a:off x="311700" y="1837850"/>
            <a:ext cx="8520600" cy="288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800">
                <a:solidFill>
                  <a:schemeClr val="dk2"/>
                </a:solidFill>
                <a:latin typeface="Lato"/>
                <a:ea typeface="Lato"/>
                <a:cs typeface="Lato"/>
                <a:sym typeface="Lato"/>
              </a:rPr>
              <a:t>It measures if the probability of a positive prediction is similar across </a:t>
            </a:r>
            <a:r>
              <a:rPr b="1" lang="it" sz="1800">
                <a:solidFill>
                  <a:schemeClr val="dk2"/>
                </a:solidFill>
                <a:latin typeface="Lato"/>
                <a:ea typeface="Lato"/>
                <a:cs typeface="Lato"/>
                <a:sym typeface="Lato"/>
              </a:rPr>
              <a:t>all subgroups</a:t>
            </a:r>
            <a:r>
              <a:rPr lang="it" sz="1800">
                <a:solidFill>
                  <a:schemeClr val="dk2"/>
                </a:solidFill>
                <a:latin typeface="Lato"/>
                <a:ea typeface="Lato"/>
                <a:cs typeface="Lato"/>
                <a:sym typeface="Lato"/>
              </a:rPr>
              <a:t>, so this definition is a natural extension of demographic parity in the setting of multiple subgroups.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rPr lang="it" sz="1800">
                <a:solidFill>
                  <a:schemeClr val="dk2"/>
                </a:solidFill>
                <a:latin typeface="Lato"/>
                <a:ea typeface="Lato"/>
                <a:cs typeface="Lato"/>
                <a:sym typeface="Lato"/>
              </a:rPr>
              <a:t>Notice that this definition can also be used for other fairness notions, such as equal opportunity.</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rPr lang="it" sz="1800">
                <a:solidFill>
                  <a:schemeClr val="dk2"/>
                </a:solidFill>
                <a:latin typeface="Lato"/>
                <a:ea typeface="Lato"/>
                <a:cs typeface="Lato"/>
                <a:sym typeface="Lato"/>
              </a:rPr>
              <a:t>In fact, given 𝛼 possible subgroups compared pairwise (𝛽 = 2), the problem has combinatorial dimensionality, the total number of comparisons are computed as </a:t>
            </a:r>
            <a:endParaRPr sz="1800">
              <a:solidFill>
                <a:schemeClr val="dk2"/>
              </a:solidFill>
              <a:latin typeface="Lato"/>
              <a:ea typeface="Lato"/>
              <a:cs typeface="Lato"/>
              <a:sym typeface="Lato"/>
            </a:endParaRPr>
          </a:p>
          <a:p>
            <a:pPr indent="0" lvl="0" marL="0" rtl="0" algn="l">
              <a:spcBef>
                <a:spcPts val="0"/>
              </a:spcBef>
              <a:spcAft>
                <a:spcPts val="0"/>
              </a:spcAft>
              <a:buNone/>
            </a:pPr>
            <a:r>
              <a:rPr b="1" lang="it" sz="1800">
                <a:solidFill>
                  <a:schemeClr val="dk2"/>
                </a:solidFill>
                <a:latin typeface="Lato"/>
                <a:ea typeface="Lato"/>
                <a:cs typeface="Lato"/>
                <a:sym typeface="Lato"/>
              </a:rPr>
              <a:t>(𝛼)!/((𝛽 )!(𝛼 −𝛽 )!) = (𝛼 )!/(2!(𝛼 −2)!)</a:t>
            </a:r>
            <a:endParaRPr b="1"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8" name="Shape 178"/>
        <p:cNvGrpSpPr/>
        <p:nvPr/>
      </p:nvGrpSpPr>
      <p:grpSpPr>
        <a:xfrm>
          <a:off x="0" y="0"/>
          <a:ext cx="0" cy="0"/>
          <a:chOff x="0" y="0"/>
          <a:chExt cx="0" cy="0"/>
        </a:xfrm>
      </p:grpSpPr>
      <p:sp>
        <p:nvSpPr>
          <p:cNvPr id="179" name="Google Shape;179;p34"/>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it"/>
              <a:t>Subgroup Divergence</a:t>
            </a:r>
            <a:endParaRPr/>
          </a:p>
          <a:p>
            <a:pPr indent="0" lvl="0" marL="0" rtl="0" algn="l">
              <a:spcBef>
                <a:spcPts val="0"/>
              </a:spcBef>
              <a:spcAft>
                <a:spcPts val="0"/>
              </a:spcAft>
              <a:buNone/>
            </a:pPr>
            <a:r>
              <a:t/>
            </a:r>
            <a:endParaRPr/>
          </a:p>
        </p:txBody>
      </p:sp>
      <p:sp>
        <p:nvSpPr>
          <p:cNvPr id="180" name="Google Shape;180;p34"/>
          <p:cNvSpPr txBox="1"/>
          <p:nvPr/>
        </p:nvSpPr>
        <p:spPr>
          <a:xfrm>
            <a:off x="311700" y="1837850"/>
            <a:ext cx="8520600" cy="288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it" sz="1800">
                <a:solidFill>
                  <a:schemeClr val="dk2"/>
                </a:solidFill>
                <a:latin typeface="Lato"/>
                <a:ea typeface="Lato"/>
                <a:cs typeface="Lato"/>
                <a:sym typeface="Lato"/>
              </a:rPr>
              <a:t>It compares the performance difference between </a:t>
            </a:r>
            <a:r>
              <a:rPr b="1" lang="it" sz="1800">
                <a:solidFill>
                  <a:schemeClr val="dk2"/>
                </a:solidFill>
                <a:latin typeface="Lato"/>
                <a:ea typeface="Lato"/>
                <a:cs typeface="Lato"/>
                <a:sym typeface="Lato"/>
              </a:rPr>
              <a:t>one subgroup and the overall</a:t>
            </a:r>
            <a:endParaRPr b="1" sz="1800">
              <a:solidFill>
                <a:schemeClr val="dk2"/>
              </a:solidFill>
              <a:latin typeface="Lato"/>
              <a:ea typeface="Lato"/>
              <a:cs typeface="Lato"/>
              <a:sym typeface="Lato"/>
            </a:endParaRPr>
          </a:p>
          <a:p>
            <a:pPr indent="0" lvl="0" marL="0" rtl="0" algn="l">
              <a:spcBef>
                <a:spcPts val="0"/>
              </a:spcBef>
              <a:spcAft>
                <a:spcPts val="0"/>
              </a:spcAft>
              <a:buNone/>
            </a:pPr>
            <a:r>
              <a:rPr b="1" lang="it" sz="1800">
                <a:solidFill>
                  <a:schemeClr val="dk2"/>
                </a:solidFill>
                <a:latin typeface="Lato"/>
                <a:ea typeface="Lato"/>
                <a:cs typeface="Lato"/>
                <a:sym typeface="Lato"/>
              </a:rPr>
              <a:t>dataset</a:t>
            </a:r>
            <a:r>
              <a:rPr lang="it" sz="1800">
                <a:solidFill>
                  <a:schemeClr val="dk2"/>
                </a:solidFill>
                <a:latin typeface="Lato"/>
                <a:ea typeface="Lato"/>
                <a:cs typeface="Lato"/>
                <a:sym typeface="Lato"/>
              </a:rPr>
              <a:t>. Additionally, subgroup divergence does not downweight small subgroups.</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rPr lang="it" sz="1800">
                <a:solidFill>
                  <a:schemeClr val="dk2"/>
                </a:solidFill>
                <a:latin typeface="Lato"/>
                <a:ea typeface="Lato"/>
                <a:cs typeface="Lato"/>
                <a:sym typeface="Lato"/>
              </a:rPr>
              <a:t>Divergence saves complexity by not comparing each subgroup combination but only comparing the performance 𝑓 (𝑔) for one subgroup with the whole dataset 𝑓 (𝐷).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rPr lang="it" sz="1800">
                <a:solidFill>
                  <a:schemeClr val="dk2"/>
                </a:solidFill>
                <a:latin typeface="Lato"/>
                <a:ea typeface="Lato"/>
                <a:cs typeface="Lato"/>
                <a:sym typeface="Lato"/>
              </a:rPr>
              <a:t>The divergence values for every subgroup can then be combined using a cumulative operator ⊙ like sum or max.</a:t>
            </a:r>
            <a:endParaRPr sz="1800">
              <a:solidFill>
                <a:schemeClr val="dk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p:txBody>
      </p:sp>
      <p:pic>
        <p:nvPicPr>
          <p:cNvPr id="181" name="Google Shape;181;p34"/>
          <p:cNvPicPr preferRelativeResize="0"/>
          <p:nvPr/>
        </p:nvPicPr>
        <p:blipFill>
          <a:blip r:embed="rId3">
            <a:alphaModFix/>
          </a:blip>
          <a:stretch>
            <a:fillRect/>
          </a:stretch>
        </p:blipFill>
        <p:spPr>
          <a:xfrm>
            <a:off x="3130088" y="1177525"/>
            <a:ext cx="2867025" cy="4667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5" name="Shape 185"/>
        <p:cNvGrpSpPr/>
        <p:nvPr/>
      </p:nvGrpSpPr>
      <p:grpSpPr>
        <a:xfrm>
          <a:off x="0" y="0"/>
          <a:ext cx="0" cy="0"/>
          <a:chOff x="0" y="0"/>
          <a:chExt cx="0" cy="0"/>
        </a:xfrm>
      </p:grpSpPr>
      <p:sp>
        <p:nvSpPr>
          <p:cNvPr id="186" name="Google Shape;186;p35"/>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𝛾- Statistical Parity Fair</a:t>
            </a:r>
            <a:endParaRPr/>
          </a:p>
        </p:txBody>
      </p:sp>
      <p:pic>
        <p:nvPicPr>
          <p:cNvPr id="187" name="Google Shape;187;p35"/>
          <p:cNvPicPr preferRelativeResize="0"/>
          <p:nvPr/>
        </p:nvPicPr>
        <p:blipFill>
          <a:blip r:embed="rId3">
            <a:alphaModFix/>
          </a:blip>
          <a:stretch>
            <a:fillRect/>
          </a:stretch>
        </p:blipFill>
        <p:spPr>
          <a:xfrm>
            <a:off x="2647950" y="1294725"/>
            <a:ext cx="3848100" cy="304800"/>
          </a:xfrm>
          <a:prstGeom prst="rect">
            <a:avLst/>
          </a:prstGeom>
          <a:noFill/>
          <a:ln>
            <a:noFill/>
          </a:ln>
        </p:spPr>
      </p:pic>
      <p:sp>
        <p:nvSpPr>
          <p:cNvPr id="188" name="Google Shape;188;p35"/>
          <p:cNvSpPr txBox="1"/>
          <p:nvPr/>
        </p:nvSpPr>
        <p:spPr>
          <a:xfrm>
            <a:off x="449250" y="2174600"/>
            <a:ext cx="8333700" cy="77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Lato"/>
              <a:ea typeface="Lato"/>
              <a:cs typeface="Lato"/>
              <a:sym typeface="Lato"/>
            </a:endParaRPr>
          </a:p>
        </p:txBody>
      </p:sp>
      <p:sp>
        <p:nvSpPr>
          <p:cNvPr id="189" name="Google Shape;189;p35"/>
          <p:cNvSpPr txBox="1"/>
          <p:nvPr/>
        </p:nvSpPr>
        <p:spPr>
          <a:xfrm>
            <a:off x="311700" y="1837850"/>
            <a:ext cx="8520600" cy="288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800">
                <a:solidFill>
                  <a:schemeClr val="dk2"/>
                </a:solidFill>
                <a:latin typeface="Lato"/>
                <a:ea typeface="Lato"/>
                <a:cs typeface="Lato"/>
                <a:sym typeface="Lato"/>
              </a:rPr>
              <a:t>The notion of 𝛾- statistical parity fair is a specification of divergence.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rPr lang="it" sz="1800">
                <a:solidFill>
                  <a:schemeClr val="dk2"/>
                </a:solidFill>
                <a:latin typeface="Lato"/>
                <a:ea typeface="Lato"/>
                <a:cs typeface="Lato"/>
                <a:sym typeface="Lato"/>
              </a:rPr>
              <a:t>The difference is that this is a </a:t>
            </a:r>
            <a:r>
              <a:rPr b="1" lang="it" sz="1800">
                <a:solidFill>
                  <a:schemeClr val="dk2"/>
                </a:solidFill>
                <a:latin typeface="Lato"/>
                <a:ea typeface="Lato"/>
                <a:cs typeface="Lato"/>
                <a:sym typeface="Lato"/>
              </a:rPr>
              <a:t>threshold-based definition</a:t>
            </a:r>
            <a:r>
              <a:rPr lang="it" sz="1800">
                <a:solidFill>
                  <a:schemeClr val="dk2"/>
                </a:solidFill>
                <a:latin typeface="Lato"/>
                <a:ea typeface="Lato"/>
                <a:cs typeface="Lato"/>
                <a:sym typeface="Lato"/>
              </a:rPr>
              <a:t> and </a:t>
            </a:r>
            <a:r>
              <a:rPr b="1" lang="it" sz="1800">
                <a:solidFill>
                  <a:schemeClr val="dk2"/>
                </a:solidFill>
                <a:latin typeface="Lato"/>
                <a:ea typeface="Lato"/>
                <a:cs typeface="Lato"/>
                <a:sym typeface="Lato"/>
              </a:rPr>
              <a:t>small subgroups are weighted down</a:t>
            </a:r>
            <a:r>
              <a:rPr lang="it" sz="1800">
                <a:solidFill>
                  <a:schemeClr val="dk2"/>
                </a:solidFill>
                <a:latin typeface="Lato"/>
                <a:ea typeface="Lato"/>
                <a:cs typeface="Lato"/>
                <a:sym typeface="Lato"/>
              </a:rPr>
              <a:t>, so a low percentage of positive predictions for a small subgroup is not as crucial as for a big subgroup.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rPr lang="it" sz="1800">
                <a:solidFill>
                  <a:schemeClr val="dk2"/>
                </a:solidFill>
                <a:latin typeface="Lato"/>
                <a:ea typeface="Lato"/>
                <a:cs typeface="Lato"/>
                <a:sym typeface="Lato"/>
              </a:rPr>
              <a:t>𝛾 is a user-chosen hyper-parameter and to choose a reasonable 𝛾 is an important task.</a:t>
            </a:r>
            <a:endParaRPr sz="1800">
              <a:solidFill>
                <a:schemeClr val="dk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3" name="Shape 193"/>
        <p:cNvGrpSpPr/>
        <p:nvPr/>
      </p:nvGrpSpPr>
      <p:grpSpPr>
        <a:xfrm>
          <a:off x="0" y="0"/>
          <a:ext cx="0" cy="0"/>
          <a:chOff x="0" y="0"/>
          <a:chExt cx="0" cy="0"/>
        </a:xfrm>
      </p:grpSpPr>
      <p:sp>
        <p:nvSpPr>
          <p:cNvPr id="194" name="Google Shape;194;p3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Max-Gap Fairness</a:t>
            </a:r>
            <a:endParaRPr/>
          </a:p>
        </p:txBody>
      </p:sp>
      <p:sp>
        <p:nvSpPr>
          <p:cNvPr id="195" name="Google Shape;195;p36"/>
          <p:cNvSpPr txBox="1"/>
          <p:nvPr/>
        </p:nvSpPr>
        <p:spPr>
          <a:xfrm>
            <a:off x="311700" y="2044375"/>
            <a:ext cx="8520600" cy="268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800">
                <a:solidFill>
                  <a:schemeClr val="dk2"/>
                </a:solidFill>
                <a:latin typeface="Lato"/>
                <a:ea typeface="Lato"/>
                <a:cs typeface="Lato"/>
                <a:sym typeface="Lato"/>
              </a:rPr>
              <a:t>The Max-Gap fairness is also a specification of subgroup divergence where they choose ⊙ to be the maximum operator.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lang="it" sz="1800">
                <a:solidFill>
                  <a:schemeClr val="dk2"/>
                </a:solidFill>
                <a:latin typeface="Lato"/>
                <a:ea typeface="Lato"/>
                <a:cs typeface="Lato"/>
                <a:sym typeface="Lato"/>
              </a:rPr>
              <a:t>Additionally, instead of directly computing the model performance on the whole dataset, they calculate it as the </a:t>
            </a:r>
            <a:r>
              <a:rPr b="1" lang="it" sz="1800">
                <a:solidFill>
                  <a:schemeClr val="dk2"/>
                </a:solidFill>
                <a:latin typeface="Lato"/>
                <a:ea typeface="Lato"/>
                <a:cs typeface="Lato"/>
                <a:sym typeface="Lato"/>
              </a:rPr>
              <a:t>average weighted subgroup performance</a:t>
            </a:r>
            <a:r>
              <a:rPr lang="it" sz="1800">
                <a:solidFill>
                  <a:schemeClr val="dk2"/>
                </a:solidFill>
                <a:latin typeface="Lato"/>
                <a:ea typeface="Lato"/>
                <a:cs typeface="Lato"/>
                <a:sym typeface="Lato"/>
              </a:rPr>
              <a:t>.</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rPr lang="it" sz="1800">
                <a:solidFill>
                  <a:schemeClr val="dk2"/>
                </a:solidFill>
                <a:latin typeface="Lato"/>
                <a:ea typeface="Lato"/>
                <a:cs typeface="Lato"/>
                <a:sym typeface="Lato"/>
              </a:rPr>
              <a:t>The flexible weights 𝑤𝑔 allow the user to manually adjust the importance of subgroups.</a:t>
            </a:r>
            <a:endParaRPr sz="1800">
              <a:solidFill>
                <a:schemeClr val="dk2"/>
              </a:solidFill>
              <a:latin typeface="Lato"/>
              <a:ea typeface="Lato"/>
              <a:cs typeface="Lato"/>
              <a:sym typeface="Lato"/>
            </a:endParaRPr>
          </a:p>
        </p:txBody>
      </p:sp>
      <p:pic>
        <p:nvPicPr>
          <p:cNvPr id="196" name="Google Shape;196;p36"/>
          <p:cNvPicPr preferRelativeResize="0"/>
          <p:nvPr/>
        </p:nvPicPr>
        <p:blipFill>
          <a:blip r:embed="rId3">
            <a:alphaModFix/>
          </a:blip>
          <a:stretch>
            <a:fillRect/>
          </a:stretch>
        </p:blipFill>
        <p:spPr>
          <a:xfrm>
            <a:off x="3190875" y="1062000"/>
            <a:ext cx="2762250" cy="9715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0" name="Shape 200"/>
        <p:cNvGrpSpPr/>
        <p:nvPr/>
      </p:nvGrpSpPr>
      <p:grpSpPr>
        <a:xfrm>
          <a:off x="0" y="0"/>
          <a:ext cx="0" cy="0"/>
          <a:chOff x="0" y="0"/>
          <a:chExt cx="0" cy="0"/>
        </a:xfrm>
      </p:grpSpPr>
      <p:sp>
        <p:nvSpPr>
          <p:cNvPr id="201" name="Google Shape;201;p37"/>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Strong Demographic Parity </a:t>
            </a:r>
            <a:endParaRPr/>
          </a:p>
        </p:txBody>
      </p:sp>
      <p:sp>
        <p:nvSpPr>
          <p:cNvPr id="202" name="Google Shape;202;p37"/>
          <p:cNvSpPr txBox="1"/>
          <p:nvPr/>
        </p:nvSpPr>
        <p:spPr>
          <a:xfrm>
            <a:off x="311700" y="2044375"/>
            <a:ext cx="8520600" cy="133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800">
                <a:solidFill>
                  <a:schemeClr val="dk2"/>
                </a:solidFill>
                <a:latin typeface="Lato"/>
                <a:ea typeface="Lato"/>
                <a:cs typeface="Lato"/>
                <a:sym typeface="Lato"/>
              </a:rPr>
              <a:t>The Strong Demographic Parity evaluates if the probability that one sensitive group has a higher score than the others.</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rPr lang="it" sz="1800">
                <a:solidFill>
                  <a:schemeClr val="dk2"/>
                </a:solidFill>
                <a:latin typeface="Lato"/>
                <a:ea typeface="Lato"/>
                <a:cs typeface="Lato"/>
                <a:sym typeface="Lato"/>
              </a:rPr>
              <a:t>Given a group 𝑆+ it is compared with all the others </a:t>
            </a:r>
            <a:r>
              <a:rPr lang="it" sz="1800">
                <a:solidFill>
                  <a:schemeClr val="dk2"/>
                </a:solidFill>
                <a:latin typeface="Lato"/>
                <a:ea typeface="Lato"/>
                <a:cs typeface="Lato"/>
                <a:sym typeface="Lato"/>
              </a:rPr>
              <a:t>(𝑆−) </a:t>
            </a:r>
            <a:r>
              <a:rPr lang="it" sz="1800">
                <a:solidFill>
                  <a:schemeClr val="dk2"/>
                </a:solidFill>
                <a:latin typeface="Lato"/>
                <a:ea typeface="Lato"/>
                <a:cs typeface="Lato"/>
                <a:sym typeface="Lato"/>
              </a:rPr>
              <a:t>in an aggregated way. </a:t>
            </a:r>
            <a:endParaRPr sz="1800">
              <a:solidFill>
                <a:schemeClr val="dk2"/>
              </a:solidFill>
              <a:latin typeface="Lato"/>
              <a:ea typeface="Lato"/>
              <a:cs typeface="Lato"/>
              <a:sym typeface="Lato"/>
            </a:endParaRPr>
          </a:p>
        </p:txBody>
      </p:sp>
      <p:pic>
        <p:nvPicPr>
          <p:cNvPr id="203" name="Google Shape;203;p37"/>
          <p:cNvPicPr preferRelativeResize="0"/>
          <p:nvPr/>
        </p:nvPicPr>
        <p:blipFill>
          <a:blip r:embed="rId3">
            <a:alphaModFix/>
          </a:blip>
          <a:stretch>
            <a:fillRect/>
          </a:stretch>
        </p:blipFill>
        <p:spPr>
          <a:xfrm>
            <a:off x="1785925" y="1328700"/>
            <a:ext cx="5572125" cy="4381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7" name="Shape 207"/>
        <p:cNvGrpSpPr/>
        <p:nvPr/>
      </p:nvGrpSpPr>
      <p:grpSpPr>
        <a:xfrm>
          <a:off x="0" y="0"/>
          <a:ext cx="0" cy="0"/>
          <a:chOff x="0" y="0"/>
          <a:chExt cx="0" cy="0"/>
        </a:xfrm>
      </p:grpSpPr>
      <p:sp>
        <p:nvSpPr>
          <p:cNvPr id="208" name="Google Shape;208;p38"/>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CVaR Fairness</a:t>
            </a:r>
            <a:endParaRPr/>
          </a:p>
        </p:txBody>
      </p:sp>
      <p:sp>
        <p:nvSpPr>
          <p:cNvPr id="209" name="Google Shape;209;p38"/>
          <p:cNvSpPr txBox="1"/>
          <p:nvPr/>
        </p:nvSpPr>
        <p:spPr>
          <a:xfrm>
            <a:off x="449250" y="2174600"/>
            <a:ext cx="8333700" cy="77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Lato"/>
              <a:ea typeface="Lato"/>
              <a:cs typeface="Lato"/>
              <a:sym typeface="Lato"/>
            </a:endParaRPr>
          </a:p>
        </p:txBody>
      </p:sp>
      <p:sp>
        <p:nvSpPr>
          <p:cNvPr id="210" name="Google Shape;210;p38"/>
          <p:cNvSpPr txBox="1"/>
          <p:nvPr/>
        </p:nvSpPr>
        <p:spPr>
          <a:xfrm>
            <a:off x="311700" y="1837850"/>
            <a:ext cx="8520600" cy="288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800">
                <a:solidFill>
                  <a:schemeClr val="dk2"/>
                </a:solidFill>
                <a:latin typeface="Lato"/>
                <a:ea typeface="Lato"/>
                <a:cs typeface="Lato"/>
                <a:sym typeface="Lato"/>
              </a:rPr>
              <a:t>This notion of fairness is motivated by the problem that Max-Gap Fairness only focuses on the worst-performing subgroup. This metric focuses on the worst performing set of subgroups,  𝑄𝛼 ⊆ 𝐺 is a set representing the worst performing groups.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rPr lang="it" sz="1800">
                <a:solidFill>
                  <a:schemeClr val="dk2"/>
                </a:solidFill>
                <a:latin typeface="Lato"/>
                <a:ea typeface="Lato"/>
                <a:cs typeface="Lato"/>
                <a:sym typeface="Lato"/>
              </a:rPr>
              <a:t>The challenge of this approach is the (efficient) identification of this set. Simply testing all subgroups and then collecting the worst-performing subgroups will also lead to the problem of an exponentially increasing amount of subgroups. The paper addresses this challenge and proposes an effective ways (weighted sampling and attribute specific sampling) to approximate this set.</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p:txBody>
      </p:sp>
      <p:pic>
        <p:nvPicPr>
          <p:cNvPr id="211" name="Google Shape;211;p38"/>
          <p:cNvPicPr preferRelativeResize="0"/>
          <p:nvPr/>
        </p:nvPicPr>
        <p:blipFill>
          <a:blip r:embed="rId3">
            <a:alphaModFix/>
          </a:blip>
          <a:stretch>
            <a:fillRect/>
          </a:stretch>
        </p:blipFill>
        <p:spPr>
          <a:xfrm>
            <a:off x="3308000" y="1203575"/>
            <a:ext cx="2527991" cy="4818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5" name="Shape 215"/>
        <p:cNvGrpSpPr/>
        <p:nvPr/>
      </p:nvGrpSpPr>
      <p:grpSpPr>
        <a:xfrm>
          <a:off x="0" y="0"/>
          <a:ext cx="0" cy="0"/>
          <a:chOff x="0" y="0"/>
          <a:chExt cx="0" cy="0"/>
        </a:xfrm>
      </p:grpSpPr>
      <p:sp>
        <p:nvSpPr>
          <p:cNvPr id="216" name="Google Shape;216;p39"/>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Mutual Information</a:t>
            </a:r>
            <a:endParaRPr/>
          </a:p>
        </p:txBody>
      </p:sp>
      <p:sp>
        <p:nvSpPr>
          <p:cNvPr id="217" name="Google Shape;217;p39"/>
          <p:cNvSpPr txBox="1"/>
          <p:nvPr/>
        </p:nvSpPr>
        <p:spPr>
          <a:xfrm>
            <a:off x="449250" y="2174600"/>
            <a:ext cx="8333700" cy="77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Lato"/>
              <a:ea typeface="Lato"/>
              <a:cs typeface="Lato"/>
              <a:sym typeface="Lato"/>
            </a:endParaRPr>
          </a:p>
        </p:txBody>
      </p:sp>
      <p:sp>
        <p:nvSpPr>
          <p:cNvPr id="218" name="Google Shape;218;p39"/>
          <p:cNvSpPr txBox="1"/>
          <p:nvPr/>
        </p:nvSpPr>
        <p:spPr>
          <a:xfrm>
            <a:off x="311700" y="1837850"/>
            <a:ext cx="8520600" cy="288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800">
                <a:solidFill>
                  <a:schemeClr val="dk2"/>
                </a:solidFill>
                <a:latin typeface="Lato"/>
                <a:ea typeface="Lato"/>
                <a:cs typeface="Lato"/>
                <a:sym typeface="Lato"/>
              </a:rPr>
              <a:t>Mutual Information (MI) is a concept from information theory that measures how much information one random variable shares with another.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rPr lang="it" sz="1800">
                <a:solidFill>
                  <a:schemeClr val="dk2"/>
                </a:solidFill>
                <a:latin typeface="Lato"/>
                <a:ea typeface="Lato"/>
                <a:cs typeface="Lato"/>
                <a:sym typeface="Lato"/>
              </a:rPr>
              <a:t>This definition can be used to measure the dependence between the prediction outcomes and sensitive attributes.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rPr lang="it" sz="1800">
                <a:solidFill>
                  <a:schemeClr val="dk2"/>
                </a:solidFill>
                <a:latin typeface="Lato"/>
                <a:ea typeface="Lato"/>
                <a:cs typeface="Lato"/>
                <a:sym typeface="Lato"/>
              </a:rPr>
              <a:t>A classifier that satisfies fairness metrics such as statistical parity also minimizes the mutual information between the sensitive attributes and the model’s predictions. </a:t>
            </a:r>
            <a:endParaRPr sz="1800">
              <a:solidFill>
                <a:schemeClr val="dk2"/>
              </a:solidFill>
              <a:latin typeface="Lato"/>
              <a:ea typeface="Lato"/>
              <a:cs typeface="Lato"/>
              <a:sym typeface="Lato"/>
            </a:endParaRPr>
          </a:p>
          <a:p>
            <a:pPr indent="0" lvl="0" marL="0" rtl="0" algn="l">
              <a:spcBef>
                <a:spcPts val="0"/>
              </a:spcBef>
              <a:spcAft>
                <a:spcPts val="0"/>
              </a:spcAft>
              <a:buNone/>
            </a:pPr>
            <a:r>
              <a:rPr lang="it" sz="1800">
                <a:solidFill>
                  <a:schemeClr val="dk2"/>
                </a:solidFill>
                <a:latin typeface="Lato"/>
                <a:ea typeface="Lato"/>
                <a:cs typeface="Lato"/>
                <a:sym typeface="Lato"/>
              </a:rPr>
              <a:t>Therefore the goal is to build the vector s = [𝑠 (1) , ..., 𝑠 (𝑘 ) ] where each 𝑠 ( 𝑗 ) corresponds to a sensitive attribute and try to minimize 𝐼 ( ˆ𝑦, s), for statistical parity.</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p:txBody>
      </p:sp>
      <p:pic>
        <p:nvPicPr>
          <p:cNvPr id="219" name="Google Shape;219;p39"/>
          <p:cNvPicPr preferRelativeResize="0"/>
          <p:nvPr/>
        </p:nvPicPr>
        <p:blipFill>
          <a:blip r:embed="rId3">
            <a:alphaModFix/>
          </a:blip>
          <a:stretch>
            <a:fillRect/>
          </a:stretch>
        </p:blipFill>
        <p:spPr>
          <a:xfrm>
            <a:off x="3299600" y="1203575"/>
            <a:ext cx="2527991" cy="4818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3" name="Shape 223"/>
        <p:cNvGrpSpPr/>
        <p:nvPr/>
      </p:nvGrpSpPr>
      <p:grpSpPr>
        <a:xfrm>
          <a:off x="0" y="0"/>
          <a:ext cx="0" cy="0"/>
          <a:chOff x="0" y="0"/>
          <a:chExt cx="0" cy="0"/>
        </a:xfrm>
      </p:grpSpPr>
      <p:sp>
        <p:nvSpPr>
          <p:cNvPr id="224" name="Google Shape;224;p40"/>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Optimal Transport Cost</a:t>
            </a:r>
            <a:endParaRPr/>
          </a:p>
        </p:txBody>
      </p:sp>
      <p:sp>
        <p:nvSpPr>
          <p:cNvPr id="225" name="Google Shape;225;p40"/>
          <p:cNvSpPr txBox="1"/>
          <p:nvPr/>
        </p:nvSpPr>
        <p:spPr>
          <a:xfrm>
            <a:off x="449250" y="2174600"/>
            <a:ext cx="8333700" cy="77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Lato"/>
              <a:ea typeface="Lato"/>
              <a:cs typeface="Lato"/>
              <a:sym typeface="Lato"/>
            </a:endParaRPr>
          </a:p>
        </p:txBody>
      </p:sp>
      <p:sp>
        <p:nvSpPr>
          <p:cNvPr id="226" name="Google Shape;226;p40"/>
          <p:cNvSpPr txBox="1"/>
          <p:nvPr/>
        </p:nvSpPr>
        <p:spPr>
          <a:xfrm>
            <a:off x="311700" y="1837850"/>
            <a:ext cx="8520600" cy="288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800">
                <a:solidFill>
                  <a:schemeClr val="dk2"/>
                </a:solidFill>
                <a:latin typeface="Lato"/>
                <a:ea typeface="Lato"/>
                <a:cs typeface="Lato"/>
                <a:sym typeface="Lato"/>
              </a:rPr>
              <a:t>Distribution-based bias measure that tries to project the observed outcome distribution onto a group fair distribution. </a:t>
            </a:r>
            <a:endParaRPr sz="1800">
              <a:solidFill>
                <a:schemeClr val="dk2"/>
              </a:solidFill>
              <a:latin typeface="Lato"/>
              <a:ea typeface="Lato"/>
              <a:cs typeface="Lato"/>
              <a:sym typeface="Lato"/>
            </a:endParaRPr>
          </a:p>
          <a:p>
            <a:pPr indent="0" lvl="0" marL="0" rtl="0" algn="l">
              <a:spcBef>
                <a:spcPts val="0"/>
              </a:spcBef>
              <a:spcAft>
                <a:spcPts val="0"/>
              </a:spcAft>
              <a:buNone/>
            </a:pPr>
            <a:r>
              <a:rPr lang="it" sz="1800">
                <a:solidFill>
                  <a:schemeClr val="dk2"/>
                </a:solidFill>
                <a:latin typeface="Lato"/>
                <a:ea typeface="Lato"/>
                <a:cs typeface="Lato"/>
                <a:sym typeface="Lato"/>
              </a:rPr>
              <a:t>The goal is to minimize the Wasserstein Distance, such that the source and target distributions match.</a:t>
            </a:r>
            <a:endParaRPr sz="1800">
              <a:solidFill>
                <a:schemeClr val="dk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rPr lang="it" sz="1800">
                <a:solidFill>
                  <a:schemeClr val="dk2"/>
                </a:solidFill>
                <a:latin typeface="Lato"/>
                <a:ea typeface="Lato"/>
                <a:cs typeface="Lato"/>
                <a:sym typeface="Lato"/>
              </a:rPr>
              <a:t>The Wasserstein-1 distance 𝑊1 (𝑃, 𝑄) between two probability distributions 𝑃 and 𝑄 is hereby given by the formula where  Γ(𝑃, 𝑄) is the set of probability distributions with marginals 𝑃 and 𝑄; for a given value 𝑥, 𝑃 (𝑥) gives the probability of 𝑃 at position 𝑥.</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p:txBody>
      </p:sp>
      <p:pic>
        <p:nvPicPr>
          <p:cNvPr id="227" name="Google Shape;227;p40"/>
          <p:cNvPicPr preferRelativeResize="0"/>
          <p:nvPr/>
        </p:nvPicPr>
        <p:blipFill>
          <a:blip r:embed="rId3">
            <a:alphaModFix/>
          </a:blip>
          <a:stretch>
            <a:fillRect/>
          </a:stretch>
        </p:blipFill>
        <p:spPr>
          <a:xfrm>
            <a:off x="3352100" y="1255650"/>
            <a:ext cx="2527991" cy="4818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1" name="Shape 231"/>
        <p:cNvGrpSpPr/>
        <p:nvPr/>
      </p:nvGrpSpPr>
      <p:grpSpPr>
        <a:xfrm>
          <a:off x="0" y="0"/>
          <a:ext cx="0" cy="0"/>
          <a:chOff x="0" y="0"/>
          <a:chExt cx="0" cy="0"/>
        </a:xfrm>
      </p:grpSpPr>
      <p:sp>
        <p:nvSpPr>
          <p:cNvPr id="232" name="Google Shape;232;p41"/>
          <p:cNvSpPr txBox="1"/>
          <p:nvPr>
            <p:ph type="title"/>
          </p:nvPr>
        </p:nvSpPr>
        <p:spPr>
          <a:xfrm>
            <a:off x="311700" y="4701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QDD</a:t>
            </a:r>
            <a:endParaRPr/>
          </a:p>
        </p:txBody>
      </p:sp>
      <p:sp>
        <p:nvSpPr>
          <p:cNvPr id="233" name="Google Shape;233;p41"/>
          <p:cNvSpPr txBox="1"/>
          <p:nvPr/>
        </p:nvSpPr>
        <p:spPr>
          <a:xfrm>
            <a:off x="449250" y="2174600"/>
            <a:ext cx="8333700" cy="77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Lato"/>
              <a:ea typeface="Lato"/>
              <a:cs typeface="Lato"/>
              <a:sym typeface="Lato"/>
            </a:endParaRPr>
          </a:p>
        </p:txBody>
      </p:sp>
      <p:sp>
        <p:nvSpPr>
          <p:cNvPr id="234" name="Google Shape;234;p41"/>
          <p:cNvSpPr txBox="1"/>
          <p:nvPr/>
        </p:nvSpPr>
        <p:spPr>
          <a:xfrm>
            <a:off x="311700" y="1837850"/>
            <a:ext cx="8520600" cy="288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it" sz="1800">
                <a:solidFill>
                  <a:schemeClr val="dk2"/>
                </a:solidFill>
                <a:latin typeface="Lato"/>
                <a:ea typeface="Lato"/>
                <a:cs typeface="Lato"/>
                <a:sym typeface="Lato"/>
              </a:rPr>
              <a:t>It is a novel formulation of the Wasserstein-1 distance metric. It is originally designed for continuous fairness monitoring but can also be used as a</a:t>
            </a:r>
            <a:endParaRPr sz="1800">
              <a:solidFill>
                <a:schemeClr val="dk2"/>
              </a:solidFill>
              <a:latin typeface="Lato"/>
              <a:ea typeface="Lato"/>
              <a:cs typeface="Lato"/>
              <a:sym typeface="Lato"/>
            </a:endParaRPr>
          </a:p>
          <a:p>
            <a:pPr indent="0" lvl="0" marL="0" rtl="0" algn="l">
              <a:spcBef>
                <a:spcPts val="0"/>
              </a:spcBef>
              <a:spcAft>
                <a:spcPts val="0"/>
              </a:spcAft>
              <a:buNone/>
            </a:pPr>
            <a:r>
              <a:rPr lang="it" sz="1800">
                <a:solidFill>
                  <a:schemeClr val="dk2"/>
                </a:solidFill>
                <a:latin typeface="Lato"/>
                <a:ea typeface="Lato"/>
                <a:cs typeface="Lato"/>
                <a:sym typeface="Lato"/>
              </a:rPr>
              <a:t>standard subgroup or individual fairness metric.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rPr lang="it" sz="1800">
                <a:solidFill>
                  <a:schemeClr val="dk2"/>
                </a:solidFill>
                <a:latin typeface="Lato"/>
                <a:ea typeface="Lato"/>
                <a:cs typeface="Lato"/>
                <a:sym typeface="Lato"/>
              </a:rPr>
              <a:t>The first step is to segment the prediction scores of the subgroups into 𝐵 quantile bins. For example, if we have 𝐵 = 4, we segment the scores into four bins 𝑏1, 𝑏2, 𝑏3, 𝑏4, where 𝑏1 contains the tuples with the lowest 25% scores, 𝑏2 contains the tuples where the scores fall in the 25% − 50% range, and so on.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lang="it" sz="1800">
                <a:solidFill>
                  <a:schemeClr val="dk2"/>
                </a:solidFill>
                <a:latin typeface="Lato"/>
                <a:ea typeface="Lato"/>
                <a:cs typeface="Lato"/>
                <a:sym typeface="Lato"/>
              </a:rPr>
              <a:t>The QDD metric is defined for a bin 𝑏 and two subgroups 𝐺1, 𝐺2 as in the formula.</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p:txBody>
      </p:sp>
      <p:pic>
        <p:nvPicPr>
          <p:cNvPr id="235" name="Google Shape;235;p41"/>
          <p:cNvPicPr preferRelativeResize="0"/>
          <p:nvPr/>
        </p:nvPicPr>
        <p:blipFill>
          <a:blip r:embed="rId3">
            <a:alphaModFix/>
          </a:blip>
          <a:stretch>
            <a:fillRect/>
          </a:stretch>
        </p:blipFill>
        <p:spPr>
          <a:xfrm>
            <a:off x="3121738" y="1262175"/>
            <a:ext cx="2900517" cy="4818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2"/>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General Approaches for Intersectionality</a:t>
            </a:r>
            <a:endParaRPr/>
          </a:p>
        </p:txBody>
      </p:sp>
      <p:sp>
        <p:nvSpPr>
          <p:cNvPr id="241" name="Google Shape;241;p42"/>
          <p:cNvSpPr txBox="1"/>
          <p:nvPr/>
        </p:nvSpPr>
        <p:spPr>
          <a:xfrm>
            <a:off x="303300" y="1509750"/>
            <a:ext cx="8362200" cy="877200"/>
          </a:xfrm>
          <a:prstGeom prst="rect">
            <a:avLst/>
          </a:prstGeom>
          <a:noFill/>
          <a:ln>
            <a:noFill/>
          </a:ln>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chemeClr val="dk2"/>
              </a:buClr>
              <a:buSzPts val="1800"/>
              <a:buFont typeface="Lato"/>
              <a:buChar char="-"/>
            </a:pPr>
            <a:r>
              <a:rPr b="1" lang="it" sz="1800">
                <a:solidFill>
                  <a:schemeClr val="dk2"/>
                </a:solidFill>
                <a:latin typeface="Lato"/>
                <a:ea typeface="Lato"/>
                <a:cs typeface="Lato"/>
                <a:sym typeface="Lato"/>
              </a:rPr>
              <a:t>Approach #1</a:t>
            </a:r>
            <a:r>
              <a:rPr lang="it" sz="1800">
                <a:solidFill>
                  <a:schemeClr val="dk2"/>
                </a:solidFill>
                <a:latin typeface="Lato"/>
                <a:ea typeface="Lato"/>
                <a:cs typeface="Lato"/>
                <a:sym typeface="Lato"/>
              </a:rPr>
              <a:t>:  Compare a specific group X pair-wise with the other groups→ </a:t>
            </a:r>
            <a:r>
              <a:rPr b="1" lang="it" sz="1800">
                <a:solidFill>
                  <a:schemeClr val="dk2"/>
                </a:solidFill>
                <a:latin typeface="Lato"/>
                <a:ea typeface="Lato"/>
                <a:cs typeface="Lato"/>
                <a:sym typeface="Lato"/>
              </a:rPr>
              <a:t>complexity issue</a:t>
            </a:r>
            <a:endParaRPr b="1" sz="1800">
              <a:solidFill>
                <a:schemeClr val="dk2"/>
              </a:solidFill>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3"/>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Overall Complexity </a:t>
            </a:r>
            <a:endParaRPr/>
          </a:p>
        </p:txBody>
      </p:sp>
      <p:sp>
        <p:nvSpPr>
          <p:cNvPr id="247" name="Google Shape;247;p43"/>
          <p:cNvSpPr txBox="1"/>
          <p:nvPr>
            <p:ph type="title"/>
          </p:nvPr>
        </p:nvSpPr>
        <p:spPr>
          <a:xfrm>
            <a:off x="535775" y="1114600"/>
            <a:ext cx="8136600" cy="30675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0" lang="it" sz="1800">
                <a:latin typeface="Lato"/>
                <a:ea typeface="Lato"/>
                <a:cs typeface="Lato"/>
                <a:sym typeface="Lato"/>
              </a:rPr>
              <a:t>How many combinations:</a:t>
            </a:r>
            <a:endParaRPr b="0" sz="1800">
              <a:latin typeface="Lato"/>
              <a:ea typeface="Lato"/>
              <a:cs typeface="Lato"/>
              <a:sym typeface="Lato"/>
            </a:endParaRPr>
          </a:p>
          <a:p>
            <a:pPr indent="-342900" lvl="0" marL="457200" rtl="0" algn="l">
              <a:lnSpc>
                <a:spcPct val="150000"/>
              </a:lnSpc>
              <a:spcBef>
                <a:spcPts val="1600"/>
              </a:spcBef>
              <a:spcAft>
                <a:spcPts val="0"/>
              </a:spcAft>
              <a:buSzPts val="1800"/>
              <a:buFont typeface="Lato"/>
              <a:buChar char="-"/>
            </a:pPr>
            <a:r>
              <a:rPr b="0" lang="it" sz="1800">
                <a:latin typeface="Lato"/>
                <a:ea typeface="Lato"/>
                <a:cs typeface="Lato"/>
                <a:sym typeface="Lato"/>
              </a:rPr>
              <a:t>n: number of groups</a:t>
            </a:r>
            <a:endParaRPr b="0" sz="1800">
              <a:latin typeface="Lato"/>
              <a:ea typeface="Lato"/>
              <a:cs typeface="Lato"/>
              <a:sym typeface="Lato"/>
            </a:endParaRPr>
          </a:p>
          <a:p>
            <a:pPr indent="-342900" lvl="0" marL="457200" rtl="0" algn="l">
              <a:lnSpc>
                <a:spcPct val="150000"/>
              </a:lnSpc>
              <a:spcBef>
                <a:spcPts val="0"/>
              </a:spcBef>
              <a:spcAft>
                <a:spcPts val="0"/>
              </a:spcAft>
              <a:buSzPts val="1800"/>
              <a:buFont typeface="Lato"/>
              <a:buChar char="-"/>
            </a:pPr>
            <a:r>
              <a:rPr b="0" lang="it" sz="1800">
                <a:latin typeface="Lato"/>
                <a:ea typeface="Lato"/>
                <a:cs typeface="Lato"/>
                <a:sym typeface="Lato"/>
              </a:rPr>
              <a:t>m: cardinality of the comparison (in this case is 2 for pair-wise comparison)</a:t>
            </a:r>
            <a:endParaRPr b="0" sz="1800">
              <a:latin typeface="Lato"/>
              <a:ea typeface="Lato"/>
              <a:cs typeface="Lato"/>
              <a:sym typeface="Lato"/>
            </a:endParaRPr>
          </a:p>
          <a:p>
            <a:pPr indent="0" lvl="0" marL="457200" rtl="0" algn="l">
              <a:lnSpc>
                <a:spcPct val="150000"/>
              </a:lnSpc>
              <a:spcBef>
                <a:spcPts val="1600"/>
              </a:spcBef>
              <a:spcAft>
                <a:spcPts val="0"/>
              </a:spcAft>
              <a:buNone/>
            </a:pPr>
            <a:r>
              <a:rPr b="0" lang="it" sz="1800">
                <a:latin typeface="Lato"/>
                <a:ea typeface="Lato"/>
                <a:cs typeface="Lato"/>
                <a:sym typeface="Lato"/>
              </a:rPr>
              <a:t>Formula: n!/(m!*(n-m)!)</a:t>
            </a:r>
            <a:endParaRPr b="0" sz="1800">
              <a:latin typeface="Lato"/>
              <a:ea typeface="Lato"/>
              <a:cs typeface="Lato"/>
              <a:sym typeface="Lato"/>
            </a:endParaRPr>
          </a:p>
          <a:p>
            <a:pPr indent="0" lvl="0" marL="457200" rtl="0" algn="l">
              <a:lnSpc>
                <a:spcPct val="150000"/>
              </a:lnSpc>
              <a:spcBef>
                <a:spcPts val="1600"/>
              </a:spcBef>
              <a:spcAft>
                <a:spcPts val="0"/>
              </a:spcAft>
              <a:buNone/>
            </a:pPr>
            <a:r>
              <a:rPr b="0" lang="it" sz="1800">
                <a:latin typeface="Lato"/>
                <a:ea typeface="Lato"/>
                <a:cs typeface="Lato"/>
                <a:sym typeface="Lato"/>
              </a:rPr>
              <a:t>For example, if n=3, m=2 → (3!) / ( 2! * (3-2)! ) = 3</a:t>
            </a:r>
            <a:endParaRPr b="0" sz="1800">
              <a:latin typeface="Lato"/>
              <a:ea typeface="Lato"/>
              <a:cs typeface="Lato"/>
              <a:sym typeface="Lato"/>
            </a:endParaRPr>
          </a:p>
          <a:p>
            <a:pPr indent="0" lvl="0" marL="457200" rtl="0" algn="l">
              <a:lnSpc>
                <a:spcPct val="150000"/>
              </a:lnSpc>
              <a:spcBef>
                <a:spcPts val="1600"/>
              </a:spcBef>
              <a:spcAft>
                <a:spcPts val="1600"/>
              </a:spcAft>
              <a:buNone/>
            </a:pPr>
            <a:r>
              <a:rPr b="0" lang="it" sz="1800">
                <a:latin typeface="Lato"/>
                <a:ea typeface="Lato"/>
                <a:cs typeface="Lato"/>
                <a:sym typeface="Lato"/>
              </a:rPr>
              <a:t>if n=5, m=2 → (5!)/(2!*(5-2)!) = 5*4 = 20</a:t>
            </a:r>
            <a:endParaRPr b="0" sz="1800">
              <a:latin typeface="Lato"/>
              <a:ea typeface="Lato"/>
              <a:cs typeface="Lato"/>
              <a:sym typeface="Lato"/>
            </a:endParaRPr>
          </a:p>
        </p:txBody>
      </p:sp>
      <p:sp>
        <p:nvSpPr>
          <p:cNvPr id="248" name="Google Shape;248;p4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4"/>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General Approaches for Intersectionality</a:t>
            </a:r>
            <a:endParaRPr/>
          </a:p>
        </p:txBody>
      </p:sp>
      <p:sp>
        <p:nvSpPr>
          <p:cNvPr id="254" name="Google Shape;254;p44"/>
          <p:cNvSpPr txBox="1"/>
          <p:nvPr/>
        </p:nvSpPr>
        <p:spPr>
          <a:xfrm>
            <a:off x="303300" y="1509750"/>
            <a:ext cx="8362200" cy="1293000"/>
          </a:xfrm>
          <a:prstGeom prst="rect">
            <a:avLst/>
          </a:prstGeom>
          <a:noFill/>
          <a:ln>
            <a:noFill/>
          </a:ln>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Approach #1:  Compare a specific group X pair-wise with the other groups</a:t>
            </a:r>
            <a:endParaRPr>
              <a:solidFill>
                <a:schemeClr val="dk2"/>
              </a:solidFill>
            </a:endParaRPr>
          </a:p>
          <a:p>
            <a:pPr indent="-342900" lvl="0" marL="457200" rtl="0" algn="l">
              <a:lnSpc>
                <a:spcPct val="150000"/>
              </a:lnSpc>
              <a:spcBef>
                <a:spcPts val="0"/>
              </a:spcBef>
              <a:spcAft>
                <a:spcPts val="0"/>
              </a:spcAft>
              <a:buClr>
                <a:schemeClr val="dk2"/>
              </a:buClr>
              <a:buSzPts val="1800"/>
              <a:buFont typeface="Lato"/>
              <a:buChar char="-"/>
            </a:pPr>
            <a:r>
              <a:rPr b="1" lang="it" sz="1800">
                <a:solidFill>
                  <a:schemeClr val="dk2"/>
                </a:solidFill>
                <a:latin typeface="Lato"/>
                <a:ea typeface="Lato"/>
                <a:cs typeface="Lato"/>
                <a:sym typeface="Lato"/>
              </a:rPr>
              <a:t>Approach #2</a:t>
            </a:r>
            <a:r>
              <a:rPr lang="it" sz="1800">
                <a:solidFill>
                  <a:schemeClr val="dk2"/>
                </a:solidFill>
                <a:latin typeface="Lato"/>
                <a:ea typeface="Lato"/>
                <a:cs typeface="Lato"/>
                <a:sym typeface="Lato"/>
              </a:rPr>
              <a:t>: Compare a specific group X with an aggregator (ALL - X) → an aggregator as </a:t>
            </a:r>
            <a:r>
              <a:rPr b="1" lang="it" sz="1800">
                <a:solidFill>
                  <a:schemeClr val="dk2"/>
                </a:solidFill>
                <a:latin typeface="Lato"/>
                <a:ea typeface="Lato"/>
                <a:cs typeface="Lato"/>
                <a:sym typeface="Lato"/>
              </a:rPr>
              <a:t>avg does not catch the inequalities correctly</a:t>
            </a:r>
            <a:endParaRPr b="1" sz="1800">
              <a:solidFill>
                <a:schemeClr val="dk2"/>
              </a:solidFill>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5"/>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Fair Example</a:t>
            </a:r>
            <a:endParaRPr/>
          </a:p>
        </p:txBody>
      </p:sp>
      <p:sp>
        <p:nvSpPr>
          <p:cNvPr id="260" name="Google Shape;260;p45"/>
          <p:cNvSpPr txBox="1"/>
          <p:nvPr>
            <p:ph type="title"/>
          </p:nvPr>
        </p:nvSpPr>
        <p:spPr>
          <a:xfrm>
            <a:off x="535775" y="1114600"/>
            <a:ext cx="8288100" cy="30675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0" lang="it" sz="1800">
                <a:latin typeface="Lato"/>
                <a:ea typeface="Lato"/>
                <a:cs typeface="Lato"/>
                <a:sym typeface="Lato"/>
              </a:rPr>
              <a:t>Ŷ=1: predicted to have the credit</a:t>
            </a:r>
            <a:endParaRPr b="0" sz="1800">
              <a:latin typeface="Lato"/>
              <a:ea typeface="Lato"/>
              <a:cs typeface="Lato"/>
              <a:sym typeface="Lato"/>
            </a:endParaRPr>
          </a:p>
          <a:p>
            <a:pPr indent="0" lvl="0" marL="0" rtl="0" algn="l">
              <a:lnSpc>
                <a:spcPct val="150000"/>
              </a:lnSpc>
              <a:spcBef>
                <a:spcPts val="1600"/>
              </a:spcBef>
              <a:spcAft>
                <a:spcPts val="0"/>
              </a:spcAft>
              <a:buNone/>
            </a:pPr>
            <a:r>
              <a:rPr b="0" lang="it" sz="1800">
                <a:latin typeface="Lato"/>
                <a:ea typeface="Lato"/>
                <a:cs typeface="Lato"/>
                <a:sym typeface="Lato"/>
              </a:rPr>
              <a:t>(Ŷ=1 |G’=black) = </a:t>
            </a:r>
            <a:r>
              <a:rPr b="0" lang="it" sz="1800">
                <a:highlight>
                  <a:schemeClr val="dk1"/>
                </a:highlight>
                <a:latin typeface="Lato"/>
                <a:ea typeface="Lato"/>
                <a:cs typeface="Lato"/>
                <a:sym typeface="Lato"/>
              </a:rPr>
              <a:t>0.6</a:t>
            </a:r>
            <a:endParaRPr b="0" sz="1800">
              <a:highlight>
                <a:schemeClr val="dk1"/>
              </a:highlight>
              <a:latin typeface="Lato"/>
              <a:ea typeface="Lato"/>
              <a:cs typeface="Lato"/>
              <a:sym typeface="Lato"/>
            </a:endParaRPr>
          </a:p>
          <a:p>
            <a:pPr indent="0" lvl="0" marL="0" rtl="0" algn="l">
              <a:lnSpc>
                <a:spcPct val="150000"/>
              </a:lnSpc>
              <a:spcBef>
                <a:spcPts val="1600"/>
              </a:spcBef>
              <a:spcAft>
                <a:spcPts val="0"/>
              </a:spcAft>
              <a:buNone/>
            </a:pPr>
            <a:r>
              <a:rPr b="0" lang="it" sz="1800">
                <a:latin typeface="Lato"/>
                <a:ea typeface="Lato"/>
                <a:cs typeface="Lato"/>
                <a:sym typeface="Lato"/>
              </a:rPr>
              <a:t>(Ŷ=1 |G’=white) = 0.8</a:t>
            </a:r>
            <a:endParaRPr b="0" sz="1800">
              <a:latin typeface="Lato"/>
              <a:ea typeface="Lato"/>
              <a:cs typeface="Lato"/>
              <a:sym typeface="Lato"/>
            </a:endParaRPr>
          </a:p>
          <a:p>
            <a:pPr indent="0" lvl="0" marL="0" rtl="0" algn="l">
              <a:lnSpc>
                <a:spcPct val="150000"/>
              </a:lnSpc>
              <a:spcBef>
                <a:spcPts val="1600"/>
              </a:spcBef>
              <a:spcAft>
                <a:spcPts val="0"/>
              </a:spcAft>
              <a:buNone/>
            </a:pPr>
            <a:r>
              <a:rPr b="0" lang="it" sz="1800">
                <a:latin typeface="Lato"/>
                <a:ea typeface="Lato"/>
                <a:cs typeface="Lato"/>
                <a:sym typeface="Lato"/>
              </a:rPr>
              <a:t>(Ŷ=1 |G’=asian) = 0.7</a:t>
            </a:r>
            <a:endParaRPr b="0" sz="1800">
              <a:latin typeface="Lato"/>
              <a:ea typeface="Lato"/>
              <a:cs typeface="Lato"/>
              <a:sym typeface="Lato"/>
            </a:endParaRPr>
          </a:p>
          <a:p>
            <a:pPr indent="0" lvl="0" marL="0" rtl="0" algn="l">
              <a:lnSpc>
                <a:spcPct val="115000"/>
              </a:lnSpc>
              <a:spcBef>
                <a:spcPts val="1600"/>
              </a:spcBef>
              <a:spcAft>
                <a:spcPts val="0"/>
              </a:spcAft>
              <a:buNone/>
            </a:pPr>
            <a:r>
              <a:rPr b="0" lang="it" sz="1800">
                <a:latin typeface="Lato"/>
                <a:ea typeface="Lato"/>
                <a:cs typeface="Lato"/>
                <a:sym typeface="Lato"/>
              </a:rPr>
              <a:t>Group Fairness = 𝜠((0.6/0.8) + (0.6/0.7) + (0.7/0.8)) = 𝜠(0.75 + 0.85 +0.875) = 0.83</a:t>
            </a:r>
            <a:endParaRPr b="0" sz="1800">
              <a:latin typeface="Lato"/>
              <a:ea typeface="Lato"/>
              <a:cs typeface="Lato"/>
              <a:sym typeface="Lato"/>
            </a:endParaRPr>
          </a:p>
          <a:p>
            <a:pPr indent="0" lvl="0" marL="0" rtl="0" algn="l">
              <a:lnSpc>
                <a:spcPct val="115000"/>
              </a:lnSpc>
              <a:spcBef>
                <a:spcPts val="1600"/>
              </a:spcBef>
              <a:spcAft>
                <a:spcPts val="1600"/>
              </a:spcAft>
              <a:buNone/>
            </a:pPr>
            <a:r>
              <a:rPr b="0" lang="it" sz="1800">
                <a:latin typeface="Lato"/>
                <a:ea typeface="Lato"/>
                <a:cs typeface="Lato"/>
                <a:sym typeface="Lato"/>
              </a:rPr>
              <a:t>ALGORITHM FAIR!</a:t>
            </a:r>
            <a:endParaRPr b="0" sz="1800">
              <a:latin typeface="Lato"/>
              <a:ea typeface="Lato"/>
              <a:cs typeface="Lato"/>
              <a:sym typeface="Lato"/>
            </a:endParaRPr>
          </a:p>
        </p:txBody>
      </p:sp>
      <p:sp>
        <p:nvSpPr>
          <p:cNvPr id="261" name="Google Shape;261;p4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General Approaches for Intersectionality</a:t>
            </a:r>
            <a:endParaRPr/>
          </a:p>
        </p:txBody>
      </p:sp>
      <p:sp>
        <p:nvSpPr>
          <p:cNvPr id="267" name="Google Shape;267;p46"/>
          <p:cNvSpPr txBox="1"/>
          <p:nvPr/>
        </p:nvSpPr>
        <p:spPr>
          <a:xfrm>
            <a:off x="303300" y="1509750"/>
            <a:ext cx="8362200" cy="2124000"/>
          </a:xfrm>
          <a:prstGeom prst="rect">
            <a:avLst/>
          </a:prstGeom>
          <a:noFill/>
          <a:ln>
            <a:noFill/>
          </a:ln>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Approach #1:  Compare a specific group X pair-wise with the other groups</a:t>
            </a:r>
            <a:endParaRPr>
              <a:solidFill>
                <a:schemeClr val="dk2"/>
              </a:solidFill>
            </a:endParaRPr>
          </a:p>
          <a:p>
            <a:pPr indent="-342900" lvl="0" marL="457200" rtl="0" algn="l">
              <a:lnSpc>
                <a:spcPct val="150000"/>
              </a:lnSpc>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Approach #2: Compare a specific group X with an aggregator (ALL - X)</a:t>
            </a:r>
            <a:endParaRPr sz="1800">
              <a:solidFill>
                <a:schemeClr val="dk2"/>
              </a:solidFill>
              <a:latin typeface="Lato"/>
              <a:ea typeface="Lato"/>
              <a:cs typeface="Lato"/>
              <a:sym typeface="Lato"/>
            </a:endParaRPr>
          </a:p>
          <a:p>
            <a:pPr indent="-342900" lvl="0" marL="457200" rtl="0" algn="l">
              <a:lnSpc>
                <a:spcPct val="150000"/>
              </a:lnSpc>
              <a:spcBef>
                <a:spcPts val="0"/>
              </a:spcBef>
              <a:spcAft>
                <a:spcPts val="0"/>
              </a:spcAft>
              <a:buClr>
                <a:schemeClr val="dk2"/>
              </a:buClr>
              <a:buSzPts val="1800"/>
              <a:buFont typeface="Lato"/>
              <a:buChar char="-"/>
            </a:pPr>
            <a:r>
              <a:rPr b="1" lang="it" sz="1800">
                <a:solidFill>
                  <a:schemeClr val="dk2"/>
                </a:solidFill>
                <a:latin typeface="Lato"/>
                <a:ea typeface="Lato"/>
                <a:cs typeface="Lato"/>
                <a:sym typeface="Lato"/>
              </a:rPr>
              <a:t>Approach #3</a:t>
            </a:r>
            <a:r>
              <a:rPr lang="it" sz="1800">
                <a:solidFill>
                  <a:schemeClr val="dk2"/>
                </a:solidFill>
                <a:latin typeface="Lato"/>
                <a:ea typeface="Lato"/>
                <a:cs typeface="Lato"/>
                <a:sym typeface="Lato"/>
              </a:rPr>
              <a:t>: Compare a specific group X with a weighted aggregator (ALL - X) →</a:t>
            </a:r>
            <a:r>
              <a:rPr b="1" lang="it" sz="1800">
                <a:solidFill>
                  <a:schemeClr val="dk2"/>
                </a:solidFill>
                <a:latin typeface="Lato"/>
                <a:ea typeface="Lato"/>
                <a:cs typeface="Lato"/>
                <a:sym typeface="Lato"/>
              </a:rPr>
              <a:t> s</a:t>
            </a:r>
            <a:r>
              <a:rPr b="1" lang="it" sz="1800">
                <a:solidFill>
                  <a:schemeClr val="dk2"/>
                </a:solidFill>
                <a:latin typeface="Lato"/>
                <a:ea typeface="Lato"/>
                <a:cs typeface="Lato"/>
                <a:sym typeface="Lato"/>
              </a:rPr>
              <a:t>mall subgroups are weighted down</a:t>
            </a:r>
            <a:r>
              <a:rPr lang="it" sz="1800">
                <a:solidFill>
                  <a:schemeClr val="dk2"/>
                </a:solidFill>
                <a:latin typeface="Lato"/>
                <a:ea typeface="Lato"/>
                <a:cs typeface="Lato"/>
                <a:sym typeface="Lato"/>
              </a:rPr>
              <a:t>, so a low percentage of positive predictions for a small subgroup is not as crucial as for a big subgroup</a:t>
            </a:r>
            <a:endParaRPr sz="1800">
              <a:solidFill>
                <a:schemeClr val="dk2"/>
              </a:solidFill>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7"/>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General Approaches for Intersectionality</a:t>
            </a:r>
            <a:endParaRPr/>
          </a:p>
        </p:txBody>
      </p:sp>
      <p:sp>
        <p:nvSpPr>
          <p:cNvPr id="273" name="Google Shape;273;p47"/>
          <p:cNvSpPr txBox="1"/>
          <p:nvPr/>
        </p:nvSpPr>
        <p:spPr>
          <a:xfrm>
            <a:off x="303300" y="1509750"/>
            <a:ext cx="8362200" cy="2124000"/>
          </a:xfrm>
          <a:prstGeom prst="rect">
            <a:avLst/>
          </a:prstGeom>
          <a:noFill/>
          <a:ln>
            <a:noFill/>
          </a:ln>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Approach #1:  Compare a specific group X pair-wise with the other groups</a:t>
            </a:r>
            <a:endParaRPr>
              <a:solidFill>
                <a:schemeClr val="dk2"/>
              </a:solidFill>
            </a:endParaRPr>
          </a:p>
          <a:p>
            <a:pPr indent="-342900" lvl="0" marL="457200" rtl="0" algn="l">
              <a:lnSpc>
                <a:spcPct val="150000"/>
              </a:lnSpc>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Approach #2: Compare a specific group X with an aggregator (ALL - X)</a:t>
            </a:r>
            <a:endParaRPr sz="1800">
              <a:solidFill>
                <a:schemeClr val="dk2"/>
              </a:solidFill>
              <a:latin typeface="Lato"/>
              <a:ea typeface="Lato"/>
              <a:cs typeface="Lato"/>
              <a:sym typeface="Lato"/>
            </a:endParaRPr>
          </a:p>
          <a:p>
            <a:pPr indent="-342900" lvl="0" marL="457200" rtl="0" algn="l">
              <a:lnSpc>
                <a:spcPct val="150000"/>
              </a:lnSpc>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Approach #3: Compare a specific group X with a weighted aggregator (ALL - X)</a:t>
            </a:r>
            <a:endParaRPr sz="1800">
              <a:solidFill>
                <a:schemeClr val="dk2"/>
              </a:solidFill>
              <a:latin typeface="Lato"/>
              <a:ea typeface="Lato"/>
              <a:cs typeface="Lato"/>
              <a:sym typeface="Lato"/>
            </a:endParaRPr>
          </a:p>
          <a:p>
            <a:pPr indent="-342900" lvl="0" marL="457200" rtl="0" algn="l">
              <a:lnSpc>
                <a:spcPct val="150000"/>
              </a:lnSpc>
              <a:spcBef>
                <a:spcPts val="0"/>
              </a:spcBef>
              <a:spcAft>
                <a:spcPts val="0"/>
              </a:spcAft>
              <a:buClr>
                <a:schemeClr val="dk2"/>
              </a:buClr>
              <a:buSzPts val="1800"/>
              <a:buFont typeface="Lato"/>
              <a:buChar char="-"/>
            </a:pPr>
            <a:r>
              <a:rPr b="1" lang="it" sz="1800">
                <a:solidFill>
                  <a:schemeClr val="dk2"/>
                </a:solidFill>
                <a:latin typeface="Lato"/>
                <a:ea typeface="Lato"/>
                <a:cs typeface="Lato"/>
                <a:sym typeface="Lato"/>
              </a:rPr>
              <a:t>Approach #4</a:t>
            </a:r>
            <a:r>
              <a:rPr lang="it" sz="1800">
                <a:solidFill>
                  <a:schemeClr val="dk2"/>
                </a:solidFill>
                <a:latin typeface="Lato"/>
                <a:ea typeface="Lato"/>
                <a:cs typeface="Lato"/>
                <a:sym typeface="Lato"/>
              </a:rPr>
              <a:t>: Compare a specific group X with the max-difference group</a:t>
            </a:r>
            <a:endParaRPr sz="1800">
              <a:solidFill>
                <a:schemeClr val="dk2"/>
              </a:solidFill>
              <a:latin typeface="Lato"/>
              <a:ea typeface="Lato"/>
              <a:cs typeface="Lato"/>
              <a:sym typeface="La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8"/>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Basic idea</a:t>
            </a:r>
            <a:endParaRPr/>
          </a:p>
        </p:txBody>
      </p:sp>
      <p:sp>
        <p:nvSpPr>
          <p:cNvPr id="279" name="Google Shape;279;p48"/>
          <p:cNvSpPr txBox="1"/>
          <p:nvPr>
            <p:ph type="title"/>
          </p:nvPr>
        </p:nvSpPr>
        <p:spPr>
          <a:xfrm>
            <a:off x="535775" y="1114600"/>
            <a:ext cx="7962300" cy="30675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2"/>
              </a:buClr>
              <a:buSzPts val="1100"/>
              <a:buFont typeface="Arial"/>
              <a:buNone/>
            </a:pPr>
            <a:r>
              <a:rPr b="0" lang="it" sz="1800">
                <a:latin typeface="Lato"/>
                <a:ea typeface="Lato"/>
                <a:cs typeface="Lato"/>
                <a:sym typeface="Lato"/>
              </a:rPr>
              <a:t>G: ethnicity = {white, black, asian, hispanic}</a:t>
            </a:r>
            <a:endParaRPr b="0" sz="1800">
              <a:latin typeface="Lato"/>
              <a:ea typeface="Lato"/>
              <a:cs typeface="Lato"/>
              <a:sym typeface="Lato"/>
            </a:endParaRPr>
          </a:p>
          <a:p>
            <a:pPr indent="0" lvl="0" marL="0" rtl="0" algn="l">
              <a:lnSpc>
                <a:spcPct val="150000"/>
              </a:lnSpc>
              <a:spcBef>
                <a:spcPts val="1600"/>
              </a:spcBef>
              <a:spcAft>
                <a:spcPts val="0"/>
              </a:spcAft>
              <a:buNone/>
            </a:pPr>
            <a:r>
              <a:rPr b="0" lang="it" sz="1800">
                <a:latin typeface="Lato"/>
                <a:ea typeface="Lato"/>
                <a:cs typeface="Lato"/>
                <a:sym typeface="Lato"/>
              </a:rPr>
              <a:t>Group Fairness_g = GF_g = (Ŷ=1 |G=g) computed for each value g in G</a:t>
            </a:r>
            <a:endParaRPr b="0" sz="1800">
              <a:latin typeface="Lato"/>
              <a:ea typeface="Lato"/>
              <a:cs typeface="Lato"/>
              <a:sym typeface="Lato"/>
            </a:endParaRPr>
          </a:p>
          <a:p>
            <a:pPr indent="0" lvl="0" marL="0" rtl="0" algn="l">
              <a:lnSpc>
                <a:spcPct val="150000"/>
              </a:lnSpc>
              <a:spcBef>
                <a:spcPts val="1600"/>
              </a:spcBef>
              <a:spcAft>
                <a:spcPts val="0"/>
              </a:spcAft>
              <a:buNone/>
            </a:pPr>
            <a:r>
              <a:rPr b="0" lang="it" sz="1800">
                <a:latin typeface="Lato"/>
                <a:ea typeface="Lato"/>
                <a:cs typeface="Lato"/>
                <a:sym typeface="Lato"/>
              </a:rPr>
              <a:t> Each value can be the score of the group in a ranking R (given one ML model)</a:t>
            </a:r>
            <a:endParaRPr b="0" sz="1800">
              <a:latin typeface="Lato"/>
              <a:ea typeface="Lato"/>
              <a:cs typeface="Lato"/>
              <a:sym typeface="Lato"/>
            </a:endParaRPr>
          </a:p>
          <a:p>
            <a:pPr indent="0" lvl="0" marL="0" rtl="0" algn="l">
              <a:lnSpc>
                <a:spcPct val="150000"/>
              </a:lnSpc>
              <a:spcBef>
                <a:spcPts val="1600"/>
              </a:spcBef>
              <a:spcAft>
                <a:spcPts val="0"/>
              </a:spcAft>
              <a:buNone/>
            </a:pPr>
            <a:r>
              <a:rPr b="0" lang="it" sz="1800">
                <a:latin typeface="Lato"/>
                <a:ea typeface="Lato"/>
                <a:cs typeface="Lato"/>
                <a:sym typeface="Lato"/>
              </a:rPr>
              <a:t>R = [ GF_w, GF_a, GF_b, GF_h] in </a:t>
            </a:r>
            <a:r>
              <a:rPr b="0" lang="it" sz="1800">
                <a:latin typeface="Lato"/>
                <a:ea typeface="Lato"/>
                <a:cs typeface="Lato"/>
                <a:sym typeface="Lato"/>
              </a:rPr>
              <a:t>descending</a:t>
            </a:r>
            <a:r>
              <a:rPr b="0" lang="it" sz="1800">
                <a:latin typeface="Lato"/>
                <a:ea typeface="Lato"/>
                <a:cs typeface="Lato"/>
                <a:sym typeface="Lato"/>
              </a:rPr>
              <a:t> order </a:t>
            </a:r>
            <a:endParaRPr b="0" sz="1800">
              <a:latin typeface="Lato"/>
              <a:ea typeface="Lato"/>
              <a:cs typeface="Lato"/>
              <a:sym typeface="Lato"/>
            </a:endParaRPr>
          </a:p>
          <a:p>
            <a:pPr indent="0" lvl="0" marL="0" rtl="0" algn="l">
              <a:lnSpc>
                <a:spcPct val="150000"/>
              </a:lnSpc>
              <a:spcBef>
                <a:spcPts val="1600"/>
              </a:spcBef>
              <a:spcAft>
                <a:spcPts val="0"/>
              </a:spcAft>
              <a:buNone/>
            </a:pPr>
            <a:r>
              <a:rPr b="0" lang="it" sz="1800">
                <a:latin typeface="Lato"/>
                <a:ea typeface="Lato"/>
                <a:cs typeface="Lato"/>
                <a:sym typeface="Lato"/>
              </a:rPr>
              <a:t>Group Fairness_overall = max(R)-min(R) (subtraction approach)</a:t>
            </a:r>
            <a:endParaRPr b="0" sz="1800">
              <a:latin typeface="Lato"/>
              <a:ea typeface="Lato"/>
              <a:cs typeface="Lato"/>
              <a:sym typeface="Lato"/>
            </a:endParaRPr>
          </a:p>
          <a:p>
            <a:pPr indent="0" lvl="0" marL="0" rtl="0" algn="l">
              <a:lnSpc>
                <a:spcPct val="150000"/>
              </a:lnSpc>
              <a:spcBef>
                <a:spcPts val="1600"/>
              </a:spcBef>
              <a:spcAft>
                <a:spcPts val="0"/>
              </a:spcAft>
              <a:buClr>
                <a:schemeClr val="dk2"/>
              </a:buClr>
              <a:buSzPts val="1100"/>
              <a:buFont typeface="Arial"/>
              <a:buNone/>
            </a:pPr>
            <a:r>
              <a:rPr b="0" lang="it" sz="1800">
                <a:latin typeface="Lato"/>
                <a:ea typeface="Lato"/>
                <a:cs typeface="Lato"/>
                <a:sym typeface="Lato"/>
              </a:rPr>
              <a:t>Group Fairness_overall = min(R)/min(R) (division approach)</a:t>
            </a:r>
            <a:endParaRPr b="0" sz="1800">
              <a:latin typeface="Lato"/>
              <a:ea typeface="Lato"/>
              <a:cs typeface="Lato"/>
              <a:sym typeface="Lato"/>
            </a:endParaRPr>
          </a:p>
          <a:p>
            <a:pPr indent="0" lvl="0" marL="0" rtl="0" algn="l">
              <a:lnSpc>
                <a:spcPct val="115000"/>
              </a:lnSpc>
              <a:spcBef>
                <a:spcPts val="1600"/>
              </a:spcBef>
              <a:spcAft>
                <a:spcPts val="1600"/>
              </a:spcAft>
              <a:buNone/>
            </a:pPr>
            <a:r>
              <a:t/>
            </a:r>
            <a:endParaRPr b="0" sz="1800">
              <a:latin typeface="Lato"/>
              <a:ea typeface="Lato"/>
              <a:cs typeface="Lato"/>
              <a:sym typeface="Lato"/>
            </a:endParaRPr>
          </a:p>
        </p:txBody>
      </p:sp>
      <p:sp>
        <p:nvSpPr>
          <p:cNvPr id="280" name="Google Shape;280;p4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9"/>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Toy Example</a:t>
            </a:r>
            <a:endParaRPr/>
          </a:p>
        </p:txBody>
      </p:sp>
      <p:sp>
        <p:nvSpPr>
          <p:cNvPr id="286" name="Google Shape;286;p49"/>
          <p:cNvSpPr txBox="1"/>
          <p:nvPr>
            <p:ph type="title"/>
          </p:nvPr>
        </p:nvSpPr>
        <p:spPr>
          <a:xfrm>
            <a:off x="535775" y="1114600"/>
            <a:ext cx="7962300" cy="30675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2"/>
              </a:buClr>
              <a:buSzPts val="1100"/>
              <a:buFont typeface="Arial"/>
              <a:buNone/>
            </a:pPr>
            <a:r>
              <a:rPr b="0" lang="it" sz="1800">
                <a:latin typeface="Lato"/>
                <a:ea typeface="Lato"/>
                <a:cs typeface="Lato"/>
                <a:sym typeface="Lato"/>
              </a:rPr>
              <a:t>G: ethnicity = {white, black, asian, hispanic}</a:t>
            </a:r>
            <a:endParaRPr b="0" sz="1800">
              <a:latin typeface="Lato"/>
              <a:ea typeface="Lato"/>
              <a:cs typeface="Lato"/>
              <a:sym typeface="Lato"/>
            </a:endParaRPr>
          </a:p>
          <a:p>
            <a:pPr indent="0" lvl="0" marL="0" rtl="0" algn="l">
              <a:lnSpc>
                <a:spcPct val="150000"/>
              </a:lnSpc>
              <a:spcBef>
                <a:spcPts val="1600"/>
              </a:spcBef>
              <a:spcAft>
                <a:spcPts val="0"/>
              </a:spcAft>
              <a:buNone/>
            </a:pPr>
            <a:r>
              <a:rPr b="0" lang="it" sz="1800">
                <a:latin typeface="Lato"/>
                <a:ea typeface="Lato"/>
                <a:cs typeface="Lato"/>
                <a:sym typeface="Lato"/>
              </a:rPr>
              <a:t>Group Fairness_w =GF_w = 0.9, GF_b = 0.5, GF_a = 0.7, GF_h=0.2</a:t>
            </a:r>
            <a:endParaRPr b="0" sz="1800">
              <a:latin typeface="Lato"/>
              <a:ea typeface="Lato"/>
              <a:cs typeface="Lato"/>
              <a:sym typeface="Lato"/>
            </a:endParaRPr>
          </a:p>
          <a:p>
            <a:pPr indent="0" lvl="0" marL="0" rtl="0" algn="l">
              <a:lnSpc>
                <a:spcPct val="150000"/>
              </a:lnSpc>
              <a:spcBef>
                <a:spcPts val="1600"/>
              </a:spcBef>
              <a:spcAft>
                <a:spcPts val="0"/>
              </a:spcAft>
              <a:buNone/>
            </a:pPr>
            <a:r>
              <a:rPr b="0" lang="it" sz="1800">
                <a:latin typeface="Lato"/>
                <a:ea typeface="Lato"/>
                <a:cs typeface="Lato"/>
                <a:sym typeface="Lato"/>
              </a:rPr>
              <a:t>R =[0.9, 0.7, 0.5, 0.2] in descending order </a:t>
            </a:r>
            <a:endParaRPr b="0" sz="1800">
              <a:latin typeface="Lato"/>
              <a:ea typeface="Lato"/>
              <a:cs typeface="Lato"/>
              <a:sym typeface="Lato"/>
            </a:endParaRPr>
          </a:p>
          <a:p>
            <a:pPr indent="0" lvl="0" marL="0" rtl="0" algn="l">
              <a:lnSpc>
                <a:spcPct val="150000"/>
              </a:lnSpc>
              <a:spcBef>
                <a:spcPts val="1600"/>
              </a:spcBef>
              <a:spcAft>
                <a:spcPts val="0"/>
              </a:spcAft>
              <a:buNone/>
            </a:pPr>
            <a:r>
              <a:rPr b="0" lang="it" sz="1800">
                <a:latin typeface="Lato"/>
                <a:ea typeface="Lato"/>
                <a:cs typeface="Lato"/>
                <a:sym typeface="Lato"/>
              </a:rPr>
              <a:t>Group Fairness_overall = max(R)-min(R) = 0.9-0.2 = 0.7 (UNFAIR)</a:t>
            </a:r>
            <a:endParaRPr b="0" sz="1800">
              <a:latin typeface="Lato"/>
              <a:ea typeface="Lato"/>
              <a:cs typeface="Lato"/>
              <a:sym typeface="Lato"/>
            </a:endParaRPr>
          </a:p>
          <a:p>
            <a:pPr indent="0" lvl="0" marL="0" rtl="0" algn="l">
              <a:lnSpc>
                <a:spcPct val="150000"/>
              </a:lnSpc>
              <a:spcBef>
                <a:spcPts val="1600"/>
              </a:spcBef>
              <a:spcAft>
                <a:spcPts val="0"/>
              </a:spcAft>
              <a:buClr>
                <a:schemeClr val="dk2"/>
              </a:buClr>
              <a:buSzPts val="1100"/>
              <a:buFont typeface="Arial"/>
              <a:buNone/>
            </a:pPr>
            <a:r>
              <a:rPr b="0" lang="it" sz="1800">
                <a:latin typeface="Lato"/>
                <a:ea typeface="Lato"/>
                <a:cs typeface="Lato"/>
                <a:sym typeface="Lato"/>
              </a:rPr>
              <a:t>Group Fairness_overall = min(R)/max(R) = 0.2/0.9 = 0.22 (UNFAIR)</a:t>
            </a:r>
            <a:endParaRPr b="0" sz="1800">
              <a:latin typeface="Lato"/>
              <a:ea typeface="Lato"/>
              <a:cs typeface="Lato"/>
              <a:sym typeface="Lato"/>
            </a:endParaRPr>
          </a:p>
          <a:p>
            <a:pPr indent="0" lvl="0" marL="0" rtl="0" algn="l">
              <a:lnSpc>
                <a:spcPct val="150000"/>
              </a:lnSpc>
              <a:spcBef>
                <a:spcPts val="1600"/>
              </a:spcBef>
              <a:spcAft>
                <a:spcPts val="1600"/>
              </a:spcAft>
              <a:buClr>
                <a:schemeClr val="dk2"/>
              </a:buClr>
              <a:buSzPts val="1100"/>
              <a:buFont typeface="Arial"/>
              <a:buNone/>
            </a:pPr>
            <a:r>
              <a:rPr b="0" lang="it" sz="1800">
                <a:latin typeface="Lato"/>
                <a:ea typeface="Lato"/>
                <a:cs typeface="Lato"/>
                <a:sym typeface="Lato"/>
              </a:rPr>
              <a:t>This can be done with the majority of statistical fairness metrics!</a:t>
            </a:r>
            <a:endParaRPr b="0" sz="1800">
              <a:latin typeface="Lato"/>
              <a:ea typeface="Lato"/>
              <a:cs typeface="Lato"/>
              <a:sym typeface="Lato"/>
            </a:endParaRPr>
          </a:p>
        </p:txBody>
      </p:sp>
      <p:sp>
        <p:nvSpPr>
          <p:cNvPr id="287" name="Google Shape;287;p4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50"/>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Hands-on using US Census Dataset</a:t>
            </a:r>
            <a:endParaRPr/>
          </a:p>
        </p:txBody>
      </p:sp>
      <p:pic>
        <p:nvPicPr>
          <p:cNvPr id="293" name="Google Shape;293;p50"/>
          <p:cNvPicPr preferRelativeResize="0"/>
          <p:nvPr/>
        </p:nvPicPr>
        <p:blipFill>
          <a:blip r:embed="rId3">
            <a:alphaModFix/>
          </a:blip>
          <a:stretch>
            <a:fillRect/>
          </a:stretch>
        </p:blipFill>
        <p:spPr>
          <a:xfrm>
            <a:off x="152400" y="1203575"/>
            <a:ext cx="8143875" cy="2076450"/>
          </a:xfrm>
          <a:prstGeom prst="rect">
            <a:avLst/>
          </a:prstGeom>
          <a:noFill/>
          <a:ln>
            <a:noFill/>
          </a:ln>
        </p:spPr>
      </p:pic>
      <p:sp>
        <p:nvSpPr>
          <p:cNvPr id="294" name="Google Shape;294;p50"/>
          <p:cNvSpPr txBox="1"/>
          <p:nvPr/>
        </p:nvSpPr>
        <p:spPr>
          <a:xfrm>
            <a:off x="668075" y="3787900"/>
            <a:ext cx="7219200" cy="7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800">
                <a:solidFill>
                  <a:schemeClr val="dk2"/>
                </a:solidFill>
                <a:latin typeface="Lato"/>
                <a:ea typeface="Lato"/>
                <a:cs typeface="Lato"/>
                <a:sym typeface="Lato"/>
              </a:rPr>
              <a:t>Regarding Group Fairness, the best group is the Asian one, and the worst one is the ‘Other race’</a:t>
            </a:r>
            <a:endParaRPr sz="1800">
              <a:solidFill>
                <a:schemeClr val="dk2"/>
              </a:solidFill>
              <a:latin typeface="Lato"/>
              <a:ea typeface="Lato"/>
              <a:cs typeface="Lato"/>
              <a:sym typeface="Lato"/>
            </a:endParaRPr>
          </a:p>
          <a:p>
            <a:pPr indent="0" lvl="0" marL="0" rtl="0" algn="l">
              <a:spcBef>
                <a:spcPts val="0"/>
              </a:spcBef>
              <a:spcAft>
                <a:spcPts val="0"/>
              </a:spcAft>
              <a:buNone/>
            </a:pPr>
            <a:r>
              <a:rPr lang="it" sz="1800">
                <a:solidFill>
                  <a:schemeClr val="dk2"/>
                </a:solidFill>
                <a:latin typeface="Lato"/>
                <a:ea typeface="Lato"/>
                <a:cs typeface="Lato"/>
                <a:sym typeface="Lato"/>
              </a:rPr>
              <a:t>Group Fairness overall is </a:t>
            </a:r>
            <a:r>
              <a:rPr lang="it" sz="1800">
                <a:solidFill>
                  <a:schemeClr val="dk2"/>
                </a:solidFill>
                <a:latin typeface="Lato"/>
                <a:ea typeface="Lato"/>
                <a:cs typeface="Lato"/>
                <a:sym typeface="Lato"/>
              </a:rPr>
              <a:t>around 0.22</a:t>
            </a:r>
            <a:endParaRPr sz="1800">
              <a:solidFill>
                <a:schemeClr val="dk2"/>
              </a:solidFill>
              <a:latin typeface="Lato"/>
              <a:ea typeface="Lato"/>
              <a:cs typeface="Lato"/>
              <a:sym typeface="La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8" name="Shape 298"/>
        <p:cNvGrpSpPr/>
        <p:nvPr/>
      </p:nvGrpSpPr>
      <p:grpSpPr>
        <a:xfrm>
          <a:off x="0" y="0"/>
          <a:ext cx="0" cy="0"/>
          <a:chOff x="0" y="0"/>
          <a:chExt cx="0" cy="0"/>
        </a:xfrm>
      </p:grpSpPr>
      <p:sp>
        <p:nvSpPr>
          <p:cNvPr id="299" name="Google Shape;299;p51"/>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Basic idea</a:t>
            </a:r>
            <a:endParaRPr/>
          </a:p>
        </p:txBody>
      </p:sp>
      <p:sp>
        <p:nvSpPr>
          <p:cNvPr id="300" name="Google Shape;300;p51"/>
          <p:cNvSpPr txBox="1"/>
          <p:nvPr>
            <p:ph type="title"/>
          </p:nvPr>
        </p:nvSpPr>
        <p:spPr>
          <a:xfrm>
            <a:off x="535775" y="1114600"/>
            <a:ext cx="7962300" cy="30675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0" lang="it" sz="1800">
                <a:latin typeface="Lato"/>
                <a:ea typeface="Lato"/>
                <a:cs typeface="Lato"/>
                <a:sym typeface="Lato"/>
              </a:rPr>
              <a:t>G: ethnicity= {white, black}</a:t>
            </a:r>
            <a:endParaRPr b="0" sz="1800">
              <a:latin typeface="Lato"/>
              <a:ea typeface="Lato"/>
              <a:cs typeface="Lato"/>
              <a:sym typeface="Lato"/>
            </a:endParaRPr>
          </a:p>
          <a:p>
            <a:pPr indent="0" lvl="0" marL="0" rtl="0" algn="l">
              <a:lnSpc>
                <a:spcPct val="150000"/>
              </a:lnSpc>
              <a:spcBef>
                <a:spcPts val="1600"/>
              </a:spcBef>
              <a:spcAft>
                <a:spcPts val="0"/>
              </a:spcAft>
              <a:buNone/>
            </a:pPr>
            <a:r>
              <a:rPr b="0" lang="it" sz="1800">
                <a:latin typeface="Lato"/>
                <a:ea typeface="Lato"/>
                <a:cs typeface="Lato"/>
                <a:sym typeface="Lato"/>
              </a:rPr>
              <a:t>Group Fairness = (Ŷ=1 |G=black)/(Ŷ=1 |G=white) ≅ black/white</a:t>
            </a:r>
            <a:endParaRPr b="0" sz="1800">
              <a:latin typeface="Lato"/>
              <a:ea typeface="Lato"/>
              <a:cs typeface="Lato"/>
              <a:sym typeface="Lato"/>
            </a:endParaRPr>
          </a:p>
          <a:p>
            <a:pPr indent="0" lvl="0" marL="0" rtl="0" algn="l">
              <a:lnSpc>
                <a:spcPct val="150000"/>
              </a:lnSpc>
              <a:spcBef>
                <a:spcPts val="1600"/>
              </a:spcBef>
              <a:spcAft>
                <a:spcPts val="0"/>
              </a:spcAft>
              <a:buNone/>
            </a:pPr>
            <a:r>
              <a:rPr b="0" lang="it" sz="1800">
                <a:latin typeface="Lato"/>
                <a:ea typeface="Lato"/>
                <a:cs typeface="Lato"/>
                <a:sym typeface="Lato"/>
              </a:rPr>
              <a:t>G’: ethnicity = {white, black, asian}</a:t>
            </a:r>
            <a:endParaRPr b="0" sz="1800">
              <a:latin typeface="Lato"/>
              <a:ea typeface="Lato"/>
              <a:cs typeface="Lato"/>
              <a:sym typeface="Lato"/>
            </a:endParaRPr>
          </a:p>
          <a:p>
            <a:pPr indent="0" lvl="0" marL="0" rtl="0" algn="l">
              <a:lnSpc>
                <a:spcPct val="150000"/>
              </a:lnSpc>
              <a:spcBef>
                <a:spcPts val="1600"/>
              </a:spcBef>
              <a:spcAft>
                <a:spcPts val="0"/>
              </a:spcAft>
              <a:buNone/>
            </a:pPr>
            <a:r>
              <a:rPr b="0" lang="it" sz="1800">
                <a:latin typeface="Lato"/>
                <a:ea typeface="Lato"/>
                <a:cs typeface="Lato"/>
                <a:sym typeface="Lato"/>
              </a:rPr>
              <a:t>Group Fairness = 𝜠( (Ŷ=1 |G’=black)/(Ŷ=1 |G’=white)  + (Ŷ=1 |G’=black)/(Ŷ=1 |G’=asian)  + (Ŷ=1 |G’=asian)/(Ŷ=1 |G’=white) )</a:t>
            </a:r>
            <a:endParaRPr b="0" sz="1800">
              <a:latin typeface="Lato"/>
              <a:ea typeface="Lato"/>
              <a:cs typeface="Lato"/>
              <a:sym typeface="Lato"/>
            </a:endParaRPr>
          </a:p>
          <a:p>
            <a:pPr indent="0" lvl="0" marL="0" rtl="0" algn="l">
              <a:lnSpc>
                <a:spcPct val="150000"/>
              </a:lnSpc>
              <a:spcBef>
                <a:spcPts val="1600"/>
              </a:spcBef>
              <a:spcAft>
                <a:spcPts val="0"/>
              </a:spcAft>
              <a:buNone/>
            </a:pPr>
            <a:r>
              <a:rPr b="0" lang="it" sz="1800">
                <a:latin typeface="Lato"/>
                <a:ea typeface="Lato"/>
                <a:cs typeface="Lato"/>
                <a:sym typeface="Lato"/>
              </a:rPr>
              <a:t>≅  (black/white + black/asian + asian/white)/3</a:t>
            </a:r>
            <a:endParaRPr b="0" sz="1800">
              <a:latin typeface="Lato"/>
              <a:ea typeface="Lato"/>
              <a:cs typeface="Lato"/>
              <a:sym typeface="Lato"/>
            </a:endParaRPr>
          </a:p>
          <a:p>
            <a:pPr indent="0" lvl="0" marL="0" rtl="0" algn="l">
              <a:lnSpc>
                <a:spcPct val="150000"/>
              </a:lnSpc>
              <a:spcBef>
                <a:spcPts val="1600"/>
              </a:spcBef>
              <a:spcAft>
                <a:spcPts val="0"/>
              </a:spcAft>
              <a:buNone/>
            </a:pPr>
            <a:r>
              <a:t/>
            </a:r>
            <a:endParaRPr b="0" sz="1800">
              <a:latin typeface="Lato"/>
              <a:ea typeface="Lato"/>
              <a:cs typeface="Lato"/>
              <a:sym typeface="Lato"/>
            </a:endParaRPr>
          </a:p>
          <a:p>
            <a:pPr indent="0" lvl="0" marL="0" rtl="0" algn="l">
              <a:lnSpc>
                <a:spcPct val="115000"/>
              </a:lnSpc>
              <a:spcBef>
                <a:spcPts val="1600"/>
              </a:spcBef>
              <a:spcAft>
                <a:spcPts val="1600"/>
              </a:spcAft>
              <a:buNone/>
            </a:pPr>
            <a:r>
              <a:t/>
            </a:r>
            <a:endParaRPr b="0" sz="1800">
              <a:latin typeface="Lato"/>
              <a:ea typeface="Lato"/>
              <a:cs typeface="Lato"/>
              <a:sym typeface="Lato"/>
            </a:endParaRPr>
          </a:p>
        </p:txBody>
      </p:sp>
      <p:sp>
        <p:nvSpPr>
          <p:cNvPr id="301" name="Google Shape;301;p5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5" name="Shape 305"/>
        <p:cNvGrpSpPr/>
        <p:nvPr/>
      </p:nvGrpSpPr>
      <p:grpSpPr>
        <a:xfrm>
          <a:off x="0" y="0"/>
          <a:ext cx="0" cy="0"/>
          <a:chOff x="0" y="0"/>
          <a:chExt cx="0" cy="0"/>
        </a:xfrm>
      </p:grpSpPr>
      <p:sp>
        <p:nvSpPr>
          <p:cNvPr id="306" name="Google Shape;306;p52"/>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Unfair Example (only one group) </a:t>
            </a:r>
            <a:endParaRPr/>
          </a:p>
        </p:txBody>
      </p:sp>
      <p:sp>
        <p:nvSpPr>
          <p:cNvPr id="307" name="Google Shape;307;p52"/>
          <p:cNvSpPr txBox="1"/>
          <p:nvPr>
            <p:ph type="title"/>
          </p:nvPr>
        </p:nvSpPr>
        <p:spPr>
          <a:xfrm>
            <a:off x="535775" y="1114600"/>
            <a:ext cx="8136600" cy="30675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2"/>
              </a:buClr>
              <a:buSzPts val="1100"/>
              <a:buFont typeface="Arial"/>
              <a:buNone/>
            </a:pPr>
            <a:r>
              <a:rPr b="0" lang="it" sz="1800">
                <a:latin typeface="Lato"/>
                <a:ea typeface="Lato"/>
                <a:cs typeface="Lato"/>
                <a:sym typeface="Lato"/>
              </a:rPr>
              <a:t>Ŷ=1: predicted to have the credit</a:t>
            </a:r>
            <a:endParaRPr b="0" sz="1800">
              <a:latin typeface="Lato"/>
              <a:ea typeface="Lato"/>
              <a:cs typeface="Lato"/>
              <a:sym typeface="Lato"/>
            </a:endParaRPr>
          </a:p>
          <a:p>
            <a:pPr indent="0" lvl="0" marL="0" rtl="0" algn="l">
              <a:lnSpc>
                <a:spcPct val="150000"/>
              </a:lnSpc>
              <a:spcBef>
                <a:spcPts val="1600"/>
              </a:spcBef>
              <a:spcAft>
                <a:spcPts val="0"/>
              </a:spcAft>
              <a:buNone/>
            </a:pPr>
            <a:r>
              <a:rPr b="0" lang="it" sz="1800">
                <a:latin typeface="Lato"/>
                <a:ea typeface="Lato"/>
                <a:cs typeface="Lato"/>
                <a:sym typeface="Lato"/>
              </a:rPr>
              <a:t>(Ŷ=1 |G’=black) = 0.4</a:t>
            </a:r>
            <a:endParaRPr b="0" sz="1800">
              <a:latin typeface="Lato"/>
              <a:ea typeface="Lato"/>
              <a:cs typeface="Lato"/>
              <a:sym typeface="Lato"/>
            </a:endParaRPr>
          </a:p>
          <a:p>
            <a:pPr indent="0" lvl="0" marL="0" rtl="0" algn="l">
              <a:lnSpc>
                <a:spcPct val="150000"/>
              </a:lnSpc>
              <a:spcBef>
                <a:spcPts val="1600"/>
              </a:spcBef>
              <a:spcAft>
                <a:spcPts val="0"/>
              </a:spcAft>
              <a:buNone/>
            </a:pPr>
            <a:r>
              <a:rPr b="0" lang="it" sz="1800">
                <a:latin typeface="Lato"/>
                <a:ea typeface="Lato"/>
                <a:cs typeface="Lato"/>
                <a:sym typeface="Lato"/>
              </a:rPr>
              <a:t>(Ŷ=1 |G’=white) = 0.8</a:t>
            </a:r>
            <a:endParaRPr b="0" sz="1800">
              <a:latin typeface="Lato"/>
              <a:ea typeface="Lato"/>
              <a:cs typeface="Lato"/>
              <a:sym typeface="Lato"/>
            </a:endParaRPr>
          </a:p>
          <a:p>
            <a:pPr indent="0" lvl="0" marL="0" rtl="0" algn="l">
              <a:lnSpc>
                <a:spcPct val="150000"/>
              </a:lnSpc>
              <a:spcBef>
                <a:spcPts val="1600"/>
              </a:spcBef>
              <a:spcAft>
                <a:spcPts val="0"/>
              </a:spcAft>
              <a:buNone/>
            </a:pPr>
            <a:r>
              <a:rPr b="0" lang="it" sz="1800">
                <a:latin typeface="Lato"/>
                <a:ea typeface="Lato"/>
                <a:cs typeface="Lato"/>
                <a:sym typeface="Lato"/>
              </a:rPr>
              <a:t>(Ŷ=1 |G’=asian) = 0.7</a:t>
            </a:r>
            <a:endParaRPr b="0" sz="1800">
              <a:latin typeface="Lato"/>
              <a:ea typeface="Lato"/>
              <a:cs typeface="Lato"/>
              <a:sym typeface="Lato"/>
            </a:endParaRPr>
          </a:p>
          <a:p>
            <a:pPr indent="0" lvl="0" marL="0" rtl="0" algn="l">
              <a:lnSpc>
                <a:spcPct val="115000"/>
              </a:lnSpc>
              <a:spcBef>
                <a:spcPts val="1600"/>
              </a:spcBef>
              <a:spcAft>
                <a:spcPts val="0"/>
              </a:spcAft>
              <a:buNone/>
            </a:pPr>
            <a:r>
              <a:rPr b="0" lang="it" sz="1800">
                <a:latin typeface="Lato"/>
                <a:ea typeface="Lato"/>
                <a:cs typeface="Lato"/>
                <a:sym typeface="Lato"/>
              </a:rPr>
              <a:t>Group Fairness = 𝜠((0.4/0.8) + (0.4/0.7) + (0.7/0.8)) = 𝜠(0.5 + 0.57 +0.875) = 0.65</a:t>
            </a:r>
            <a:endParaRPr b="0" sz="1800">
              <a:latin typeface="Lato"/>
              <a:ea typeface="Lato"/>
              <a:cs typeface="Lato"/>
              <a:sym typeface="Lato"/>
            </a:endParaRPr>
          </a:p>
          <a:p>
            <a:pPr indent="0" lvl="0" marL="0" rtl="0" algn="l">
              <a:lnSpc>
                <a:spcPct val="115000"/>
              </a:lnSpc>
              <a:spcBef>
                <a:spcPts val="1600"/>
              </a:spcBef>
              <a:spcAft>
                <a:spcPts val="1600"/>
              </a:spcAft>
              <a:buNone/>
            </a:pPr>
            <a:r>
              <a:rPr b="0" lang="it" sz="1800">
                <a:latin typeface="Lato"/>
                <a:ea typeface="Lato"/>
                <a:cs typeface="Lato"/>
                <a:sym typeface="Lato"/>
              </a:rPr>
              <a:t>ALGORITHM NOT FAIR!</a:t>
            </a:r>
            <a:endParaRPr b="0" sz="1800">
              <a:latin typeface="Lato"/>
              <a:ea typeface="Lato"/>
              <a:cs typeface="Lato"/>
              <a:sym typeface="Lato"/>
            </a:endParaRPr>
          </a:p>
        </p:txBody>
      </p:sp>
      <p:sp>
        <p:nvSpPr>
          <p:cNvPr id="308" name="Google Shape;308;p5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2" name="Shape 312"/>
        <p:cNvGrpSpPr/>
        <p:nvPr/>
      </p:nvGrpSpPr>
      <p:grpSpPr>
        <a:xfrm>
          <a:off x="0" y="0"/>
          <a:ext cx="0" cy="0"/>
          <a:chOff x="0" y="0"/>
          <a:chExt cx="0" cy="0"/>
        </a:xfrm>
      </p:grpSpPr>
      <p:sp>
        <p:nvSpPr>
          <p:cNvPr id="313" name="Google Shape;313;p53"/>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Unfair Example (more than one group) </a:t>
            </a:r>
            <a:endParaRPr/>
          </a:p>
        </p:txBody>
      </p:sp>
      <p:sp>
        <p:nvSpPr>
          <p:cNvPr id="314" name="Google Shape;314;p53"/>
          <p:cNvSpPr txBox="1"/>
          <p:nvPr>
            <p:ph type="title"/>
          </p:nvPr>
        </p:nvSpPr>
        <p:spPr>
          <a:xfrm>
            <a:off x="535775" y="1114600"/>
            <a:ext cx="8136600" cy="30675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0" lang="it" sz="1800">
                <a:latin typeface="Lato"/>
                <a:ea typeface="Lato"/>
                <a:cs typeface="Lato"/>
                <a:sym typeface="Lato"/>
              </a:rPr>
              <a:t>Ŷ=1: predicted to have the credit</a:t>
            </a:r>
            <a:endParaRPr b="0" sz="1800">
              <a:latin typeface="Lato"/>
              <a:ea typeface="Lato"/>
              <a:cs typeface="Lato"/>
              <a:sym typeface="Lato"/>
            </a:endParaRPr>
          </a:p>
          <a:p>
            <a:pPr indent="0" lvl="0" marL="0" rtl="0" algn="l">
              <a:lnSpc>
                <a:spcPct val="150000"/>
              </a:lnSpc>
              <a:spcBef>
                <a:spcPts val="1600"/>
              </a:spcBef>
              <a:spcAft>
                <a:spcPts val="0"/>
              </a:spcAft>
              <a:buNone/>
            </a:pPr>
            <a:r>
              <a:rPr b="0" lang="it" sz="1800">
                <a:latin typeface="Lato"/>
                <a:ea typeface="Lato"/>
                <a:cs typeface="Lato"/>
                <a:sym typeface="Lato"/>
              </a:rPr>
              <a:t>(Ŷ=1 |G’=black) = 0.4</a:t>
            </a:r>
            <a:endParaRPr b="0" sz="1800">
              <a:latin typeface="Lato"/>
              <a:ea typeface="Lato"/>
              <a:cs typeface="Lato"/>
              <a:sym typeface="Lato"/>
            </a:endParaRPr>
          </a:p>
          <a:p>
            <a:pPr indent="0" lvl="0" marL="0" rtl="0" algn="l">
              <a:lnSpc>
                <a:spcPct val="150000"/>
              </a:lnSpc>
              <a:spcBef>
                <a:spcPts val="1600"/>
              </a:spcBef>
              <a:spcAft>
                <a:spcPts val="0"/>
              </a:spcAft>
              <a:buNone/>
            </a:pPr>
            <a:r>
              <a:rPr b="0" lang="it" sz="1800">
                <a:latin typeface="Lato"/>
                <a:ea typeface="Lato"/>
                <a:cs typeface="Lato"/>
                <a:sym typeface="Lato"/>
              </a:rPr>
              <a:t>(Ŷ=1 |G’=white) = 0.8</a:t>
            </a:r>
            <a:endParaRPr b="0" sz="1800">
              <a:latin typeface="Lato"/>
              <a:ea typeface="Lato"/>
              <a:cs typeface="Lato"/>
              <a:sym typeface="Lato"/>
            </a:endParaRPr>
          </a:p>
          <a:p>
            <a:pPr indent="0" lvl="0" marL="0" rtl="0" algn="l">
              <a:lnSpc>
                <a:spcPct val="150000"/>
              </a:lnSpc>
              <a:spcBef>
                <a:spcPts val="1600"/>
              </a:spcBef>
              <a:spcAft>
                <a:spcPts val="0"/>
              </a:spcAft>
              <a:buNone/>
            </a:pPr>
            <a:r>
              <a:rPr b="0" lang="it" sz="1800">
                <a:latin typeface="Lato"/>
                <a:ea typeface="Lato"/>
                <a:cs typeface="Lato"/>
                <a:sym typeface="Lato"/>
              </a:rPr>
              <a:t>(Ŷ=1 |G’=asian) = 0.5</a:t>
            </a:r>
            <a:endParaRPr b="0" sz="1800">
              <a:latin typeface="Lato"/>
              <a:ea typeface="Lato"/>
              <a:cs typeface="Lato"/>
              <a:sym typeface="Lato"/>
            </a:endParaRPr>
          </a:p>
          <a:p>
            <a:pPr indent="0" lvl="0" marL="0" rtl="0" algn="l">
              <a:lnSpc>
                <a:spcPct val="115000"/>
              </a:lnSpc>
              <a:spcBef>
                <a:spcPts val="1600"/>
              </a:spcBef>
              <a:spcAft>
                <a:spcPts val="0"/>
              </a:spcAft>
              <a:buNone/>
            </a:pPr>
            <a:r>
              <a:rPr b="0" lang="it" sz="1800">
                <a:latin typeface="Lato"/>
                <a:ea typeface="Lato"/>
                <a:cs typeface="Lato"/>
                <a:sym typeface="Lato"/>
              </a:rPr>
              <a:t>Group Fairness = 𝜠((0.4/0.8) + (0.4/0.5) + (0.5/0.8)) = 𝜠(0.5 + 0.8 +0.625) = 0.64</a:t>
            </a:r>
            <a:endParaRPr b="0" sz="1800">
              <a:latin typeface="Lato"/>
              <a:ea typeface="Lato"/>
              <a:cs typeface="Lato"/>
              <a:sym typeface="Lato"/>
            </a:endParaRPr>
          </a:p>
          <a:p>
            <a:pPr indent="0" lvl="0" marL="0" rtl="0" algn="l">
              <a:lnSpc>
                <a:spcPct val="115000"/>
              </a:lnSpc>
              <a:spcBef>
                <a:spcPts val="1600"/>
              </a:spcBef>
              <a:spcAft>
                <a:spcPts val="1600"/>
              </a:spcAft>
              <a:buNone/>
            </a:pPr>
            <a:r>
              <a:rPr b="0" lang="it" sz="1800">
                <a:latin typeface="Lato"/>
                <a:ea typeface="Lato"/>
                <a:cs typeface="Lato"/>
                <a:sym typeface="Lato"/>
              </a:rPr>
              <a:t>ALGORITHM NOT FAIR!</a:t>
            </a:r>
            <a:endParaRPr b="0" sz="1800">
              <a:latin typeface="Lato"/>
              <a:ea typeface="Lato"/>
              <a:cs typeface="Lato"/>
              <a:sym typeface="Lato"/>
            </a:endParaRPr>
          </a:p>
        </p:txBody>
      </p:sp>
      <p:sp>
        <p:nvSpPr>
          <p:cNvPr id="315" name="Google Shape;315;p5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9" name="Shape 319"/>
        <p:cNvGrpSpPr/>
        <p:nvPr/>
      </p:nvGrpSpPr>
      <p:grpSpPr>
        <a:xfrm>
          <a:off x="0" y="0"/>
          <a:ext cx="0" cy="0"/>
          <a:chOff x="0" y="0"/>
          <a:chExt cx="0" cy="0"/>
        </a:xfrm>
      </p:grpSpPr>
      <p:sp>
        <p:nvSpPr>
          <p:cNvPr id="320" name="Google Shape;320;p54"/>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Fair Example</a:t>
            </a:r>
            <a:endParaRPr/>
          </a:p>
        </p:txBody>
      </p:sp>
      <p:sp>
        <p:nvSpPr>
          <p:cNvPr id="321" name="Google Shape;321;p54"/>
          <p:cNvSpPr txBox="1"/>
          <p:nvPr>
            <p:ph type="title"/>
          </p:nvPr>
        </p:nvSpPr>
        <p:spPr>
          <a:xfrm>
            <a:off x="535775" y="1114600"/>
            <a:ext cx="8288100" cy="30675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0" lang="it" sz="1800">
                <a:latin typeface="Lato"/>
                <a:ea typeface="Lato"/>
                <a:cs typeface="Lato"/>
                <a:sym typeface="Lato"/>
              </a:rPr>
              <a:t>Ŷ=1: predicted to have the credit</a:t>
            </a:r>
            <a:endParaRPr b="0" sz="1800">
              <a:latin typeface="Lato"/>
              <a:ea typeface="Lato"/>
              <a:cs typeface="Lato"/>
              <a:sym typeface="Lato"/>
            </a:endParaRPr>
          </a:p>
          <a:p>
            <a:pPr indent="0" lvl="0" marL="0" rtl="0" algn="l">
              <a:lnSpc>
                <a:spcPct val="150000"/>
              </a:lnSpc>
              <a:spcBef>
                <a:spcPts val="1600"/>
              </a:spcBef>
              <a:spcAft>
                <a:spcPts val="0"/>
              </a:spcAft>
              <a:buNone/>
            </a:pPr>
            <a:r>
              <a:rPr b="0" lang="it" sz="1800">
                <a:latin typeface="Lato"/>
                <a:ea typeface="Lato"/>
                <a:cs typeface="Lato"/>
                <a:sym typeface="Lato"/>
              </a:rPr>
              <a:t>(Ŷ=1 |G’=black) = </a:t>
            </a:r>
            <a:r>
              <a:rPr b="0" lang="it" sz="1800">
                <a:highlight>
                  <a:schemeClr val="dk1"/>
                </a:highlight>
                <a:latin typeface="Lato"/>
                <a:ea typeface="Lato"/>
                <a:cs typeface="Lato"/>
                <a:sym typeface="Lato"/>
              </a:rPr>
              <a:t>0.6</a:t>
            </a:r>
            <a:endParaRPr b="0" sz="1800">
              <a:highlight>
                <a:schemeClr val="dk1"/>
              </a:highlight>
              <a:latin typeface="Lato"/>
              <a:ea typeface="Lato"/>
              <a:cs typeface="Lato"/>
              <a:sym typeface="Lato"/>
            </a:endParaRPr>
          </a:p>
          <a:p>
            <a:pPr indent="0" lvl="0" marL="0" rtl="0" algn="l">
              <a:lnSpc>
                <a:spcPct val="150000"/>
              </a:lnSpc>
              <a:spcBef>
                <a:spcPts val="1600"/>
              </a:spcBef>
              <a:spcAft>
                <a:spcPts val="0"/>
              </a:spcAft>
              <a:buNone/>
            </a:pPr>
            <a:r>
              <a:rPr b="0" lang="it" sz="1800">
                <a:latin typeface="Lato"/>
                <a:ea typeface="Lato"/>
                <a:cs typeface="Lato"/>
                <a:sym typeface="Lato"/>
              </a:rPr>
              <a:t>(Ŷ=1 |G’=white) = 0.8</a:t>
            </a:r>
            <a:endParaRPr b="0" sz="1800">
              <a:latin typeface="Lato"/>
              <a:ea typeface="Lato"/>
              <a:cs typeface="Lato"/>
              <a:sym typeface="Lato"/>
            </a:endParaRPr>
          </a:p>
          <a:p>
            <a:pPr indent="0" lvl="0" marL="0" rtl="0" algn="l">
              <a:lnSpc>
                <a:spcPct val="150000"/>
              </a:lnSpc>
              <a:spcBef>
                <a:spcPts val="1600"/>
              </a:spcBef>
              <a:spcAft>
                <a:spcPts val="0"/>
              </a:spcAft>
              <a:buNone/>
            </a:pPr>
            <a:r>
              <a:rPr b="0" lang="it" sz="1800">
                <a:latin typeface="Lato"/>
                <a:ea typeface="Lato"/>
                <a:cs typeface="Lato"/>
                <a:sym typeface="Lato"/>
              </a:rPr>
              <a:t>(Ŷ=1 |G’=asian) = 0.7</a:t>
            </a:r>
            <a:endParaRPr b="0" sz="1800">
              <a:latin typeface="Lato"/>
              <a:ea typeface="Lato"/>
              <a:cs typeface="Lato"/>
              <a:sym typeface="Lato"/>
            </a:endParaRPr>
          </a:p>
          <a:p>
            <a:pPr indent="0" lvl="0" marL="0" rtl="0" algn="l">
              <a:lnSpc>
                <a:spcPct val="115000"/>
              </a:lnSpc>
              <a:spcBef>
                <a:spcPts val="1600"/>
              </a:spcBef>
              <a:spcAft>
                <a:spcPts val="0"/>
              </a:spcAft>
              <a:buNone/>
            </a:pPr>
            <a:r>
              <a:rPr b="0" lang="it" sz="1800">
                <a:latin typeface="Lato"/>
                <a:ea typeface="Lato"/>
                <a:cs typeface="Lato"/>
                <a:sym typeface="Lato"/>
              </a:rPr>
              <a:t>Group Fairness = 𝜠((0.6/0.8) + (0.6/0.7) + (0.7/0.8)) = 𝜠(0.75 + 0.85 +0.875) = 0.83</a:t>
            </a:r>
            <a:endParaRPr b="0" sz="1800">
              <a:latin typeface="Lato"/>
              <a:ea typeface="Lato"/>
              <a:cs typeface="Lato"/>
              <a:sym typeface="Lato"/>
            </a:endParaRPr>
          </a:p>
          <a:p>
            <a:pPr indent="0" lvl="0" marL="0" rtl="0" algn="l">
              <a:lnSpc>
                <a:spcPct val="115000"/>
              </a:lnSpc>
              <a:spcBef>
                <a:spcPts val="1600"/>
              </a:spcBef>
              <a:spcAft>
                <a:spcPts val="1600"/>
              </a:spcAft>
              <a:buNone/>
            </a:pPr>
            <a:r>
              <a:rPr b="0" lang="it" sz="1800">
                <a:latin typeface="Lato"/>
                <a:ea typeface="Lato"/>
                <a:cs typeface="Lato"/>
                <a:sym typeface="Lato"/>
              </a:rPr>
              <a:t>ALGORITHM FAIR!</a:t>
            </a:r>
            <a:endParaRPr b="0" sz="1800">
              <a:latin typeface="Lato"/>
              <a:ea typeface="Lato"/>
              <a:cs typeface="Lato"/>
              <a:sym typeface="Lato"/>
            </a:endParaRPr>
          </a:p>
        </p:txBody>
      </p:sp>
      <p:sp>
        <p:nvSpPr>
          <p:cNvPr id="322" name="Google Shape;322;p5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6" name="Shape 326"/>
        <p:cNvGrpSpPr/>
        <p:nvPr/>
      </p:nvGrpSpPr>
      <p:grpSpPr>
        <a:xfrm>
          <a:off x="0" y="0"/>
          <a:ext cx="0" cy="0"/>
          <a:chOff x="0" y="0"/>
          <a:chExt cx="0" cy="0"/>
        </a:xfrm>
      </p:grpSpPr>
      <p:sp>
        <p:nvSpPr>
          <p:cNvPr id="327" name="Google Shape;327;p55"/>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Note</a:t>
            </a:r>
            <a:endParaRPr/>
          </a:p>
        </p:txBody>
      </p:sp>
      <p:sp>
        <p:nvSpPr>
          <p:cNvPr id="328" name="Google Shape;328;p55"/>
          <p:cNvSpPr txBox="1"/>
          <p:nvPr>
            <p:ph type="title"/>
          </p:nvPr>
        </p:nvSpPr>
        <p:spPr>
          <a:xfrm>
            <a:off x="535775" y="1114600"/>
            <a:ext cx="8288100" cy="30675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0" lang="it" sz="1800">
                <a:latin typeface="Lato"/>
                <a:ea typeface="Lato"/>
                <a:cs typeface="Lato"/>
                <a:sym typeface="Lato"/>
              </a:rPr>
              <a:t>Each ratio should be maximum 1 otherwise you should invert the ratio → the discriminated group should be ALWAYS the numerator</a:t>
            </a:r>
            <a:endParaRPr b="0" sz="1800">
              <a:latin typeface="Lato"/>
              <a:ea typeface="Lato"/>
              <a:cs typeface="Lato"/>
              <a:sym typeface="Lato"/>
            </a:endParaRPr>
          </a:p>
          <a:p>
            <a:pPr indent="0" lvl="0" marL="0" rtl="0" algn="l">
              <a:lnSpc>
                <a:spcPct val="150000"/>
              </a:lnSpc>
              <a:spcBef>
                <a:spcPts val="1600"/>
              </a:spcBef>
              <a:spcAft>
                <a:spcPts val="0"/>
              </a:spcAft>
              <a:buNone/>
            </a:pPr>
            <a:r>
              <a:rPr b="0" lang="it" sz="1800">
                <a:latin typeface="Lato"/>
                <a:ea typeface="Lato"/>
                <a:cs typeface="Lato"/>
                <a:sym typeface="Lato"/>
              </a:rPr>
              <a:t>With this computation we can create a fairness priority list, in the examples:</a:t>
            </a:r>
            <a:endParaRPr b="0" sz="1800">
              <a:latin typeface="Lato"/>
              <a:ea typeface="Lato"/>
              <a:cs typeface="Lato"/>
              <a:sym typeface="Lato"/>
            </a:endParaRPr>
          </a:p>
          <a:p>
            <a:pPr indent="0" lvl="0" marL="0" rtl="0" algn="l">
              <a:lnSpc>
                <a:spcPct val="115000"/>
              </a:lnSpc>
              <a:spcBef>
                <a:spcPts val="1600"/>
              </a:spcBef>
              <a:spcAft>
                <a:spcPts val="0"/>
              </a:spcAft>
              <a:buNone/>
            </a:pPr>
            <a:r>
              <a:rPr b="0" lang="it" sz="1800">
                <a:latin typeface="Lato"/>
                <a:ea typeface="Lato"/>
                <a:cs typeface="Lato"/>
                <a:sym typeface="Lato"/>
              </a:rPr>
              <a:t>Group Fairness=  𝜠((0.4/0.8) + (0.4/0.7) + (0.7/0.8)) = 𝜠(</a:t>
            </a:r>
            <a:r>
              <a:rPr b="0" lang="it" sz="1800">
                <a:highlight>
                  <a:schemeClr val="dk1"/>
                </a:highlight>
                <a:latin typeface="Lato"/>
                <a:ea typeface="Lato"/>
                <a:cs typeface="Lato"/>
                <a:sym typeface="Lato"/>
              </a:rPr>
              <a:t>0.5 + 0.57</a:t>
            </a:r>
            <a:r>
              <a:rPr b="0" lang="it" sz="1800">
                <a:latin typeface="Lato"/>
                <a:ea typeface="Lato"/>
                <a:cs typeface="Lato"/>
                <a:sym typeface="Lato"/>
              </a:rPr>
              <a:t> + 0.875) = 0.65</a:t>
            </a:r>
            <a:endParaRPr b="0" sz="1800">
              <a:latin typeface="Lato"/>
              <a:ea typeface="Lato"/>
              <a:cs typeface="Lato"/>
              <a:sym typeface="Lato"/>
            </a:endParaRPr>
          </a:p>
          <a:p>
            <a:pPr indent="0" lvl="0" marL="0" rtl="0" algn="l">
              <a:lnSpc>
                <a:spcPct val="115000"/>
              </a:lnSpc>
              <a:spcBef>
                <a:spcPts val="1600"/>
              </a:spcBef>
              <a:spcAft>
                <a:spcPts val="0"/>
              </a:spcAft>
              <a:buNone/>
            </a:pPr>
            <a:r>
              <a:rPr b="0" lang="it" sz="1800">
                <a:latin typeface="Lato"/>
                <a:ea typeface="Lato"/>
                <a:cs typeface="Lato"/>
                <a:sym typeface="Lato"/>
              </a:rPr>
              <a:t>White &gt;&gt;&gt; Asian </a:t>
            </a:r>
            <a:r>
              <a:rPr b="0" lang="it" sz="1800">
                <a:solidFill>
                  <a:schemeClr val="lt1"/>
                </a:solidFill>
                <a:highlight>
                  <a:schemeClr val="dk1"/>
                </a:highlight>
                <a:latin typeface="Lato"/>
                <a:ea typeface="Lato"/>
                <a:cs typeface="Lato"/>
                <a:sym typeface="Lato"/>
              </a:rPr>
              <a:t>&gt;&gt;&gt; Black</a:t>
            </a:r>
            <a:endParaRPr b="0" sz="1800">
              <a:solidFill>
                <a:schemeClr val="lt1"/>
              </a:solidFill>
              <a:highlight>
                <a:schemeClr val="dk1"/>
              </a:highlight>
              <a:latin typeface="Lato"/>
              <a:ea typeface="Lato"/>
              <a:cs typeface="Lato"/>
              <a:sym typeface="Lato"/>
            </a:endParaRPr>
          </a:p>
          <a:p>
            <a:pPr indent="0" lvl="0" marL="0" rtl="0" algn="l">
              <a:lnSpc>
                <a:spcPct val="115000"/>
              </a:lnSpc>
              <a:spcBef>
                <a:spcPts val="1600"/>
              </a:spcBef>
              <a:spcAft>
                <a:spcPts val="0"/>
              </a:spcAft>
              <a:buNone/>
            </a:pPr>
            <a:r>
              <a:rPr b="0" lang="it" sz="1800">
                <a:latin typeface="Lato"/>
                <a:ea typeface="Lato"/>
                <a:cs typeface="Lato"/>
                <a:sym typeface="Lato"/>
              </a:rPr>
              <a:t>Group Fairness = 𝜠((0.4/0.8) + (0.4/0.5) + (0.5/0.8)) = 𝜠(</a:t>
            </a:r>
            <a:r>
              <a:rPr b="0" lang="it" sz="1800">
                <a:highlight>
                  <a:schemeClr val="dk1"/>
                </a:highlight>
                <a:latin typeface="Lato"/>
                <a:ea typeface="Lato"/>
                <a:cs typeface="Lato"/>
                <a:sym typeface="Lato"/>
              </a:rPr>
              <a:t>0.5</a:t>
            </a:r>
            <a:r>
              <a:rPr b="0" lang="it" sz="1800">
                <a:latin typeface="Lato"/>
                <a:ea typeface="Lato"/>
                <a:cs typeface="Lato"/>
                <a:sym typeface="Lato"/>
              </a:rPr>
              <a:t> + 0.8 + </a:t>
            </a:r>
            <a:r>
              <a:rPr b="0" lang="it" sz="1800">
                <a:highlight>
                  <a:schemeClr val="dk1"/>
                </a:highlight>
                <a:latin typeface="Lato"/>
                <a:ea typeface="Lato"/>
                <a:cs typeface="Lato"/>
                <a:sym typeface="Lato"/>
              </a:rPr>
              <a:t>0.625</a:t>
            </a:r>
            <a:r>
              <a:rPr b="0" lang="it" sz="1800">
                <a:latin typeface="Lato"/>
                <a:ea typeface="Lato"/>
                <a:cs typeface="Lato"/>
                <a:sym typeface="Lato"/>
              </a:rPr>
              <a:t>) = 0.64</a:t>
            </a:r>
            <a:endParaRPr b="0" sz="1800">
              <a:latin typeface="Lato"/>
              <a:ea typeface="Lato"/>
              <a:cs typeface="Lato"/>
              <a:sym typeface="Lato"/>
            </a:endParaRPr>
          </a:p>
          <a:p>
            <a:pPr indent="0" lvl="0" marL="0" rtl="0" algn="l">
              <a:lnSpc>
                <a:spcPct val="115000"/>
              </a:lnSpc>
              <a:spcBef>
                <a:spcPts val="1600"/>
              </a:spcBef>
              <a:spcAft>
                <a:spcPts val="0"/>
              </a:spcAft>
              <a:buClr>
                <a:schemeClr val="dk2"/>
              </a:buClr>
              <a:buSzPts val="1100"/>
              <a:buFont typeface="Arial"/>
              <a:buNone/>
            </a:pPr>
            <a:r>
              <a:rPr b="0" lang="it" sz="1800">
                <a:latin typeface="Lato"/>
                <a:ea typeface="Lato"/>
                <a:cs typeface="Lato"/>
                <a:sym typeface="Lato"/>
              </a:rPr>
              <a:t>White </a:t>
            </a:r>
            <a:r>
              <a:rPr b="0" lang="it" sz="1800">
                <a:solidFill>
                  <a:schemeClr val="lt1"/>
                </a:solidFill>
                <a:highlight>
                  <a:schemeClr val="dk1"/>
                </a:highlight>
                <a:latin typeface="Lato"/>
                <a:ea typeface="Lato"/>
                <a:cs typeface="Lato"/>
                <a:sym typeface="Lato"/>
              </a:rPr>
              <a:t>&gt;&gt;&gt; Asian &gt;&gt;&gt; Black</a:t>
            </a:r>
            <a:endParaRPr b="0" sz="1800">
              <a:latin typeface="Lato"/>
              <a:ea typeface="Lato"/>
              <a:cs typeface="Lato"/>
              <a:sym typeface="Lato"/>
            </a:endParaRPr>
          </a:p>
          <a:p>
            <a:pPr indent="0" lvl="0" marL="0" rtl="0" algn="l">
              <a:lnSpc>
                <a:spcPct val="115000"/>
              </a:lnSpc>
              <a:spcBef>
                <a:spcPts val="1600"/>
              </a:spcBef>
              <a:spcAft>
                <a:spcPts val="1600"/>
              </a:spcAft>
              <a:buNone/>
            </a:pPr>
            <a:r>
              <a:t/>
            </a:r>
            <a:endParaRPr b="0" sz="1800">
              <a:solidFill>
                <a:schemeClr val="lt1"/>
              </a:solidFill>
              <a:highlight>
                <a:schemeClr val="dk1"/>
              </a:highlight>
              <a:latin typeface="Lato"/>
              <a:ea typeface="Lato"/>
              <a:cs typeface="Lato"/>
              <a:sym typeface="Lato"/>
            </a:endParaRPr>
          </a:p>
        </p:txBody>
      </p:sp>
      <p:sp>
        <p:nvSpPr>
          <p:cNvPr id="329" name="Google Shape;329;p5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6"/>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Intersectionality examples</a:t>
            </a:r>
            <a:endParaRPr/>
          </a:p>
        </p:txBody>
      </p:sp>
      <p:sp>
        <p:nvSpPr>
          <p:cNvPr id="335" name="Google Shape;335;p56"/>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it">
                <a:solidFill>
                  <a:schemeClr val="lt1"/>
                </a:solidFill>
              </a:rPr>
              <a:t>‹#›</a:t>
            </a:fld>
            <a:endParaRPr>
              <a:solidFill>
                <a:schemeClr val="lt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7"/>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Different aggregation functions</a:t>
            </a:r>
            <a:endParaRPr/>
          </a:p>
        </p:txBody>
      </p:sp>
      <p:sp>
        <p:nvSpPr>
          <p:cNvPr id="341" name="Google Shape;341;p57"/>
          <p:cNvSpPr txBox="1"/>
          <p:nvPr/>
        </p:nvSpPr>
        <p:spPr>
          <a:xfrm>
            <a:off x="540300" y="1150625"/>
            <a:ext cx="81504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800">
                <a:solidFill>
                  <a:schemeClr val="dk2"/>
                </a:solidFill>
                <a:latin typeface="Lato"/>
                <a:ea typeface="Lato"/>
                <a:cs typeface="Lato"/>
                <a:sym typeface="Lato"/>
              </a:rPr>
              <a:t>Given 2 groups g1 and g2 and the probabilities:</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P(Y=1)</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P(Y=1|g=G) where g= {g1, g2} and G is the domain of g</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rPr lang="it" sz="1800">
                <a:solidFill>
                  <a:schemeClr val="dk2"/>
                </a:solidFill>
                <a:latin typeface="Lato"/>
                <a:ea typeface="Lato"/>
                <a:cs typeface="Lato"/>
                <a:sym typeface="Lato"/>
              </a:rPr>
              <a:t>We have different aggregation functions to compute P(Y=1|g1=B, g2=D)</a:t>
            </a:r>
            <a:endParaRPr sz="1800">
              <a:solidFill>
                <a:schemeClr val="dk2"/>
              </a:solidFill>
              <a:latin typeface="Lato"/>
              <a:ea typeface="Lato"/>
              <a:cs typeface="Lato"/>
              <a:sym typeface="Lato"/>
            </a:endParaRPr>
          </a:p>
        </p:txBody>
      </p:sp>
      <p:graphicFrame>
        <p:nvGraphicFramePr>
          <p:cNvPr id="342" name="Google Shape;342;p57"/>
          <p:cNvGraphicFramePr/>
          <p:nvPr/>
        </p:nvGraphicFramePr>
        <p:xfrm>
          <a:off x="540300" y="2819975"/>
          <a:ext cx="3000000" cy="3000000"/>
        </p:xfrm>
        <a:graphic>
          <a:graphicData uri="http://schemas.openxmlformats.org/drawingml/2006/table">
            <a:tbl>
              <a:tblPr>
                <a:noFill/>
                <a:tableStyleId>{29299406-39BF-4800-BCAD-0E380AE722B9}</a:tableStyleId>
              </a:tblPr>
              <a:tblGrid>
                <a:gridCol w="1492800"/>
                <a:gridCol w="4455200"/>
                <a:gridCol w="2202475"/>
              </a:tblGrid>
              <a:tr h="243900">
                <a:tc>
                  <a:txBody>
                    <a:bodyPr/>
                    <a:lstStyle/>
                    <a:p>
                      <a:pPr indent="0" lvl="0" marL="0" rtl="0" algn="ctr">
                        <a:spcBef>
                          <a:spcPts val="0"/>
                        </a:spcBef>
                        <a:spcAft>
                          <a:spcPts val="0"/>
                        </a:spcAft>
                        <a:buNone/>
                      </a:pPr>
                      <a:r>
                        <a:rPr lang="it" sz="1200">
                          <a:solidFill>
                            <a:schemeClr val="lt1"/>
                          </a:solidFill>
                        </a:rPr>
                        <a:t>Independence approach</a:t>
                      </a:r>
                      <a:endParaRPr sz="1200">
                        <a:solidFill>
                          <a:schemeClr val="lt1"/>
                        </a:solidFill>
                      </a:endParaRPr>
                    </a:p>
                  </a:txBody>
                  <a:tcPr marT="18000" marB="18000" marR="54000" marL="54000">
                    <a:solidFill>
                      <a:schemeClr val="dk1"/>
                    </a:solidFill>
                  </a:tcPr>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txBody>
                  <a:tcPr marT="18000" marB="18000" marR="54000" marL="54000"/>
                </a:tc>
                <a:tc>
                  <a:txBody>
                    <a:bodyPr/>
                    <a:lstStyle/>
                    <a:p>
                      <a:pPr indent="0" lvl="0" marL="0" rtl="0" algn="l">
                        <a:spcBef>
                          <a:spcPts val="0"/>
                        </a:spcBef>
                        <a:spcAft>
                          <a:spcPts val="0"/>
                        </a:spcAft>
                        <a:buNone/>
                      </a:pPr>
                      <a:r>
                        <a:rPr lang="it" sz="1200"/>
                        <a:t>g1 and g2 should be independent</a:t>
                      </a:r>
                      <a:endParaRPr sz="1200"/>
                    </a:p>
                  </a:txBody>
                  <a:tcPr marT="18000" marB="18000" marR="54000" marL="54000"/>
                </a:tc>
              </a:tr>
              <a:tr h="381000">
                <a:tc>
                  <a:txBody>
                    <a:bodyPr/>
                    <a:lstStyle/>
                    <a:p>
                      <a:pPr indent="0" lvl="0" marL="0" rtl="0" algn="ctr">
                        <a:spcBef>
                          <a:spcPts val="0"/>
                        </a:spcBef>
                        <a:spcAft>
                          <a:spcPts val="0"/>
                        </a:spcAft>
                        <a:buNone/>
                      </a:pPr>
                      <a:r>
                        <a:rPr lang="it" sz="1200">
                          <a:solidFill>
                            <a:schemeClr val="lt1"/>
                          </a:solidFill>
                        </a:rPr>
                        <a:t>Harmonic </a:t>
                      </a:r>
                      <a:endParaRPr sz="1200">
                        <a:solidFill>
                          <a:schemeClr val="lt1"/>
                        </a:solidFill>
                      </a:endParaRPr>
                    </a:p>
                    <a:p>
                      <a:pPr indent="0" lvl="0" marL="0" rtl="0" algn="ctr">
                        <a:spcBef>
                          <a:spcPts val="0"/>
                        </a:spcBef>
                        <a:spcAft>
                          <a:spcPts val="0"/>
                        </a:spcAft>
                        <a:buNone/>
                      </a:pPr>
                      <a:r>
                        <a:rPr lang="it" sz="1200">
                          <a:solidFill>
                            <a:schemeClr val="lt1"/>
                          </a:solidFill>
                        </a:rPr>
                        <a:t>Mean</a:t>
                      </a:r>
                      <a:endParaRPr sz="1200">
                        <a:solidFill>
                          <a:schemeClr val="lt1"/>
                        </a:solidFill>
                      </a:endParaRPr>
                    </a:p>
                  </a:txBody>
                  <a:tcPr marT="18000" marB="18000" marR="54000" marL="54000">
                    <a:solidFill>
                      <a:schemeClr val="dk1"/>
                    </a:solidFill>
                  </a:tcPr>
                </a:tc>
                <a:tc>
                  <a:txBody>
                    <a:bodyPr/>
                    <a:lstStyle/>
                    <a:p>
                      <a:pPr indent="0" lvl="0" marL="0" rtl="0" algn="l">
                        <a:spcBef>
                          <a:spcPts val="0"/>
                        </a:spcBef>
                        <a:spcAft>
                          <a:spcPts val="0"/>
                        </a:spcAft>
                        <a:buNone/>
                      </a:pPr>
                      <a:r>
                        <a:t/>
                      </a:r>
                      <a:endParaRPr/>
                    </a:p>
                  </a:txBody>
                  <a:tcPr marT="18000" marB="18000" marR="54000" marL="54000"/>
                </a:tc>
                <a:tc>
                  <a:txBody>
                    <a:bodyPr/>
                    <a:lstStyle/>
                    <a:p>
                      <a:pPr indent="0" lvl="0" marL="0" rtl="0" algn="l">
                        <a:spcBef>
                          <a:spcPts val="0"/>
                        </a:spcBef>
                        <a:spcAft>
                          <a:spcPts val="0"/>
                        </a:spcAft>
                        <a:buNone/>
                      </a:pPr>
                      <a:r>
                        <a:rPr lang="it" sz="1200"/>
                        <a:t>it should penalize low probabilities</a:t>
                      </a:r>
                      <a:endParaRPr sz="1200"/>
                    </a:p>
                  </a:txBody>
                  <a:tcPr marT="18000" marB="18000" marR="54000" marL="54000"/>
                </a:tc>
              </a:tr>
              <a:tr h="381000">
                <a:tc>
                  <a:txBody>
                    <a:bodyPr/>
                    <a:lstStyle/>
                    <a:p>
                      <a:pPr indent="0" lvl="0" marL="0" rtl="0" algn="ctr">
                        <a:spcBef>
                          <a:spcPts val="0"/>
                        </a:spcBef>
                        <a:spcAft>
                          <a:spcPts val="0"/>
                        </a:spcAft>
                        <a:buNone/>
                      </a:pPr>
                      <a:r>
                        <a:rPr lang="it" sz="1200">
                          <a:solidFill>
                            <a:schemeClr val="lt1"/>
                          </a:solidFill>
                        </a:rPr>
                        <a:t>Geometric </a:t>
                      </a:r>
                      <a:endParaRPr sz="1200">
                        <a:solidFill>
                          <a:schemeClr val="lt1"/>
                        </a:solidFill>
                      </a:endParaRPr>
                    </a:p>
                    <a:p>
                      <a:pPr indent="0" lvl="0" marL="0" rtl="0" algn="ctr">
                        <a:spcBef>
                          <a:spcPts val="0"/>
                        </a:spcBef>
                        <a:spcAft>
                          <a:spcPts val="0"/>
                        </a:spcAft>
                        <a:buNone/>
                      </a:pPr>
                      <a:r>
                        <a:rPr lang="it" sz="1200">
                          <a:solidFill>
                            <a:schemeClr val="lt1"/>
                          </a:solidFill>
                        </a:rPr>
                        <a:t>Mean</a:t>
                      </a:r>
                      <a:endParaRPr sz="1200">
                        <a:solidFill>
                          <a:schemeClr val="lt1"/>
                        </a:solidFill>
                      </a:endParaRPr>
                    </a:p>
                  </a:txBody>
                  <a:tcPr marT="18000" marB="18000" marR="54000" marL="54000">
                    <a:solidFill>
                      <a:schemeClr val="dk1"/>
                    </a:solidFill>
                  </a:tcPr>
                </a:tc>
                <a:tc>
                  <a:txBody>
                    <a:bodyPr/>
                    <a:lstStyle/>
                    <a:p>
                      <a:pPr indent="0" lvl="0" marL="0" rtl="0" algn="l">
                        <a:spcBef>
                          <a:spcPts val="0"/>
                        </a:spcBef>
                        <a:spcAft>
                          <a:spcPts val="0"/>
                        </a:spcAft>
                        <a:buNone/>
                      </a:pPr>
                      <a:r>
                        <a:t/>
                      </a:r>
                      <a:endParaRPr/>
                    </a:p>
                  </a:txBody>
                  <a:tcPr marT="18000" marB="18000" marR="54000" marL="54000"/>
                </a:tc>
                <a:tc>
                  <a:txBody>
                    <a:bodyPr/>
                    <a:lstStyle/>
                    <a:p>
                      <a:pPr indent="0" lvl="0" marL="0" rtl="0" algn="l">
                        <a:spcBef>
                          <a:spcPts val="0"/>
                        </a:spcBef>
                        <a:spcAft>
                          <a:spcPts val="0"/>
                        </a:spcAft>
                        <a:buNone/>
                      </a:pPr>
                      <a:r>
                        <a:rPr lang="it" sz="1200"/>
                        <a:t>g1 and g2 considered independent</a:t>
                      </a:r>
                      <a:endParaRPr sz="1200"/>
                    </a:p>
                  </a:txBody>
                  <a:tcPr marT="18000" marB="18000" marR="54000" marL="54000"/>
                </a:tc>
              </a:tr>
              <a:tr h="381000">
                <a:tc>
                  <a:txBody>
                    <a:bodyPr/>
                    <a:lstStyle/>
                    <a:p>
                      <a:pPr indent="0" lvl="0" marL="0" rtl="0" algn="ctr">
                        <a:spcBef>
                          <a:spcPts val="0"/>
                        </a:spcBef>
                        <a:spcAft>
                          <a:spcPts val="0"/>
                        </a:spcAft>
                        <a:buNone/>
                      </a:pPr>
                      <a:r>
                        <a:rPr lang="it" sz="1200">
                          <a:solidFill>
                            <a:schemeClr val="lt1"/>
                          </a:solidFill>
                        </a:rPr>
                        <a:t>Subtraction Approach</a:t>
                      </a:r>
                      <a:endParaRPr sz="1200">
                        <a:solidFill>
                          <a:schemeClr val="lt1"/>
                        </a:solidFill>
                      </a:endParaRPr>
                    </a:p>
                  </a:txBody>
                  <a:tcPr marT="18000" marB="18000" marR="54000" marL="54000">
                    <a:solidFill>
                      <a:schemeClr val="dk1"/>
                    </a:solidFill>
                  </a:tcPr>
                </a:tc>
                <a:tc>
                  <a:txBody>
                    <a:bodyPr/>
                    <a:lstStyle/>
                    <a:p>
                      <a:pPr indent="0" lvl="0" marL="0" rtl="0" algn="l">
                        <a:spcBef>
                          <a:spcPts val="0"/>
                        </a:spcBef>
                        <a:spcAft>
                          <a:spcPts val="0"/>
                        </a:spcAft>
                        <a:buNone/>
                      </a:pPr>
                      <a:r>
                        <a:t/>
                      </a:r>
                      <a:endParaRPr/>
                    </a:p>
                  </a:txBody>
                  <a:tcPr marT="18000" marB="18000" marR="54000" marL="54000"/>
                </a:tc>
                <a:tc>
                  <a:txBody>
                    <a:bodyPr/>
                    <a:lstStyle/>
                    <a:p>
                      <a:pPr indent="0" lvl="0" marL="0" rtl="0" algn="l">
                        <a:spcBef>
                          <a:spcPts val="0"/>
                        </a:spcBef>
                        <a:spcAft>
                          <a:spcPts val="0"/>
                        </a:spcAft>
                        <a:buNone/>
                      </a:pPr>
                      <a:r>
                        <a:rPr lang="it" sz="1200"/>
                        <a:t>it works when g1 and g2 are moderately dependent</a:t>
                      </a:r>
                      <a:endParaRPr sz="1200"/>
                    </a:p>
                  </a:txBody>
                  <a:tcPr marT="18000" marB="18000" marR="54000" marL="54000"/>
                </a:tc>
              </a:tr>
              <a:tr h="381000">
                <a:tc>
                  <a:txBody>
                    <a:bodyPr/>
                    <a:lstStyle/>
                    <a:p>
                      <a:pPr indent="0" lvl="0" marL="0" rtl="0" algn="ctr">
                        <a:spcBef>
                          <a:spcPts val="0"/>
                        </a:spcBef>
                        <a:spcAft>
                          <a:spcPts val="0"/>
                        </a:spcAft>
                        <a:buNone/>
                      </a:pPr>
                      <a:r>
                        <a:rPr lang="it" sz="1200">
                          <a:solidFill>
                            <a:schemeClr val="lt1"/>
                          </a:solidFill>
                        </a:rPr>
                        <a:t>Arithmetic</a:t>
                      </a:r>
                      <a:r>
                        <a:rPr lang="it" sz="1200">
                          <a:solidFill>
                            <a:schemeClr val="lt1"/>
                          </a:solidFill>
                        </a:rPr>
                        <a:t> </a:t>
                      </a:r>
                      <a:endParaRPr sz="1200">
                        <a:solidFill>
                          <a:schemeClr val="lt1"/>
                        </a:solidFill>
                      </a:endParaRPr>
                    </a:p>
                    <a:p>
                      <a:pPr indent="0" lvl="0" marL="0" rtl="0" algn="ctr">
                        <a:spcBef>
                          <a:spcPts val="0"/>
                        </a:spcBef>
                        <a:spcAft>
                          <a:spcPts val="0"/>
                        </a:spcAft>
                        <a:buNone/>
                      </a:pPr>
                      <a:r>
                        <a:rPr lang="it" sz="1200">
                          <a:solidFill>
                            <a:schemeClr val="lt1"/>
                          </a:solidFill>
                        </a:rPr>
                        <a:t>Mean</a:t>
                      </a:r>
                      <a:endParaRPr sz="1200">
                        <a:solidFill>
                          <a:schemeClr val="lt1"/>
                        </a:solidFill>
                      </a:endParaRPr>
                    </a:p>
                  </a:txBody>
                  <a:tcPr marT="18000" marB="18000" marR="54000" marL="54000">
                    <a:solidFill>
                      <a:schemeClr val="dk1"/>
                    </a:solidFill>
                  </a:tcPr>
                </a:tc>
                <a:tc>
                  <a:txBody>
                    <a:bodyPr/>
                    <a:lstStyle/>
                    <a:p>
                      <a:pPr indent="0" lvl="0" marL="0" rtl="0" algn="l">
                        <a:spcBef>
                          <a:spcPts val="0"/>
                        </a:spcBef>
                        <a:spcAft>
                          <a:spcPts val="0"/>
                        </a:spcAft>
                        <a:buNone/>
                      </a:pPr>
                      <a:r>
                        <a:t/>
                      </a:r>
                      <a:endParaRPr/>
                    </a:p>
                  </a:txBody>
                  <a:tcPr marT="18000" marB="18000" marR="54000" marL="54000"/>
                </a:tc>
                <a:tc>
                  <a:txBody>
                    <a:bodyPr/>
                    <a:lstStyle/>
                    <a:p>
                      <a:pPr indent="0" lvl="0" marL="0" rtl="0" algn="l">
                        <a:spcBef>
                          <a:spcPts val="0"/>
                        </a:spcBef>
                        <a:spcAft>
                          <a:spcPts val="0"/>
                        </a:spcAft>
                        <a:buNone/>
                      </a:pPr>
                      <a:r>
                        <a:t/>
                      </a:r>
                      <a:endParaRPr/>
                    </a:p>
                  </a:txBody>
                  <a:tcPr marT="18000" marB="18000" marR="54000" marL="54000"/>
                </a:tc>
              </a:tr>
            </a:tbl>
          </a:graphicData>
        </a:graphic>
      </p:graphicFrame>
      <p:pic>
        <p:nvPicPr>
          <p:cNvPr id="343" name="Google Shape;343;p57"/>
          <p:cNvPicPr preferRelativeResize="0"/>
          <p:nvPr/>
        </p:nvPicPr>
        <p:blipFill>
          <a:blip r:embed="rId3">
            <a:alphaModFix/>
          </a:blip>
          <a:stretch>
            <a:fillRect/>
          </a:stretch>
        </p:blipFill>
        <p:spPr>
          <a:xfrm>
            <a:off x="2123075" y="2843625"/>
            <a:ext cx="4060974" cy="415400"/>
          </a:xfrm>
          <a:prstGeom prst="rect">
            <a:avLst/>
          </a:prstGeom>
          <a:noFill/>
          <a:ln>
            <a:noFill/>
          </a:ln>
        </p:spPr>
      </p:pic>
      <p:pic>
        <p:nvPicPr>
          <p:cNvPr id="344" name="Google Shape;344;p57"/>
          <p:cNvPicPr preferRelativeResize="0"/>
          <p:nvPr/>
        </p:nvPicPr>
        <p:blipFill>
          <a:blip r:embed="rId4">
            <a:alphaModFix/>
          </a:blip>
          <a:stretch>
            <a:fillRect/>
          </a:stretch>
        </p:blipFill>
        <p:spPr>
          <a:xfrm>
            <a:off x="2406250" y="3318150"/>
            <a:ext cx="3494650" cy="366275"/>
          </a:xfrm>
          <a:prstGeom prst="rect">
            <a:avLst/>
          </a:prstGeom>
          <a:noFill/>
          <a:ln>
            <a:noFill/>
          </a:ln>
        </p:spPr>
      </p:pic>
      <p:pic>
        <p:nvPicPr>
          <p:cNvPr id="345" name="Google Shape;345;p57"/>
          <p:cNvPicPr preferRelativeResize="0"/>
          <p:nvPr/>
        </p:nvPicPr>
        <p:blipFill>
          <a:blip r:embed="rId5">
            <a:alphaModFix/>
          </a:blip>
          <a:stretch>
            <a:fillRect/>
          </a:stretch>
        </p:blipFill>
        <p:spPr>
          <a:xfrm>
            <a:off x="2238513" y="3773750"/>
            <a:ext cx="3830075" cy="223750"/>
          </a:xfrm>
          <a:prstGeom prst="rect">
            <a:avLst/>
          </a:prstGeom>
          <a:noFill/>
          <a:ln>
            <a:noFill/>
          </a:ln>
        </p:spPr>
      </p:pic>
      <p:pic>
        <p:nvPicPr>
          <p:cNvPr id="346" name="Google Shape;346;p57"/>
          <p:cNvPicPr preferRelativeResize="0"/>
          <p:nvPr/>
        </p:nvPicPr>
        <p:blipFill>
          <a:blip r:embed="rId6">
            <a:alphaModFix/>
          </a:blip>
          <a:stretch>
            <a:fillRect/>
          </a:stretch>
        </p:blipFill>
        <p:spPr>
          <a:xfrm>
            <a:off x="2078373" y="4512223"/>
            <a:ext cx="4298125" cy="366275"/>
          </a:xfrm>
          <a:prstGeom prst="rect">
            <a:avLst/>
          </a:prstGeom>
          <a:noFill/>
          <a:ln>
            <a:noFill/>
          </a:ln>
        </p:spPr>
      </p:pic>
      <p:pic>
        <p:nvPicPr>
          <p:cNvPr id="347" name="Google Shape;347;p57"/>
          <p:cNvPicPr preferRelativeResize="0"/>
          <p:nvPr/>
        </p:nvPicPr>
        <p:blipFill>
          <a:blip r:embed="rId7">
            <a:alphaModFix/>
          </a:blip>
          <a:stretch>
            <a:fillRect/>
          </a:stretch>
        </p:blipFill>
        <p:spPr>
          <a:xfrm>
            <a:off x="2085412" y="4135350"/>
            <a:ext cx="4284048" cy="2390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8"/>
          <p:cNvSpPr txBox="1"/>
          <p:nvPr>
            <p:ph type="title"/>
          </p:nvPr>
        </p:nvSpPr>
        <p:spPr>
          <a:xfrm>
            <a:off x="311700" y="66500"/>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2300"/>
              <a:t>Example with 2x2 values</a:t>
            </a:r>
            <a:endParaRPr sz="1900"/>
          </a:p>
        </p:txBody>
      </p:sp>
      <p:pic>
        <p:nvPicPr>
          <p:cNvPr id="353" name="Google Shape;353;p58"/>
          <p:cNvPicPr preferRelativeResize="0"/>
          <p:nvPr/>
        </p:nvPicPr>
        <p:blipFill>
          <a:blip r:embed="rId3">
            <a:alphaModFix/>
          </a:blip>
          <a:stretch>
            <a:fillRect/>
          </a:stretch>
        </p:blipFill>
        <p:spPr>
          <a:xfrm>
            <a:off x="3511800" y="1373775"/>
            <a:ext cx="5434225" cy="3425924"/>
          </a:xfrm>
          <a:prstGeom prst="rect">
            <a:avLst/>
          </a:prstGeom>
          <a:noFill/>
          <a:ln>
            <a:noFill/>
          </a:ln>
        </p:spPr>
      </p:pic>
      <p:pic>
        <p:nvPicPr>
          <p:cNvPr id="354" name="Google Shape;354;p58"/>
          <p:cNvPicPr preferRelativeResize="0"/>
          <p:nvPr/>
        </p:nvPicPr>
        <p:blipFill>
          <a:blip r:embed="rId4">
            <a:alphaModFix/>
          </a:blip>
          <a:stretch>
            <a:fillRect/>
          </a:stretch>
        </p:blipFill>
        <p:spPr>
          <a:xfrm>
            <a:off x="152400" y="858500"/>
            <a:ext cx="3269150" cy="22471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9"/>
          <p:cNvSpPr txBox="1"/>
          <p:nvPr>
            <p:ph type="title"/>
          </p:nvPr>
        </p:nvSpPr>
        <p:spPr>
          <a:xfrm>
            <a:off x="311700" y="66500"/>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2300"/>
              <a:t>Example with 3x2 values</a:t>
            </a:r>
            <a:endParaRPr sz="1900"/>
          </a:p>
        </p:txBody>
      </p:sp>
      <p:pic>
        <p:nvPicPr>
          <p:cNvPr id="360" name="Google Shape;360;p59"/>
          <p:cNvPicPr preferRelativeResize="0"/>
          <p:nvPr/>
        </p:nvPicPr>
        <p:blipFill>
          <a:blip r:embed="rId3">
            <a:alphaModFix/>
          </a:blip>
          <a:stretch>
            <a:fillRect/>
          </a:stretch>
        </p:blipFill>
        <p:spPr>
          <a:xfrm>
            <a:off x="152400" y="858500"/>
            <a:ext cx="2799534" cy="2563784"/>
          </a:xfrm>
          <a:prstGeom prst="rect">
            <a:avLst/>
          </a:prstGeom>
          <a:noFill/>
          <a:ln>
            <a:noFill/>
          </a:ln>
        </p:spPr>
      </p:pic>
      <p:pic>
        <p:nvPicPr>
          <p:cNvPr id="361" name="Google Shape;361;p59"/>
          <p:cNvPicPr preferRelativeResize="0"/>
          <p:nvPr/>
        </p:nvPicPr>
        <p:blipFill>
          <a:blip r:embed="rId4">
            <a:alphaModFix/>
          </a:blip>
          <a:stretch>
            <a:fillRect/>
          </a:stretch>
        </p:blipFill>
        <p:spPr>
          <a:xfrm>
            <a:off x="3169449" y="637995"/>
            <a:ext cx="5662851" cy="435310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60"/>
          <p:cNvSpPr txBox="1"/>
          <p:nvPr>
            <p:ph type="title"/>
          </p:nvPr>
        </p:nvSpPr>
        <p:spPr>
          <a:xfrm>
            <a:off x="311700" y="66500"/>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2300"/>
              <a:t>Example with 3x3 values</a:t>
            </a:r>
            <a:endParaRPr sz="1900"/>
          </a:p>
        </p:txBody>
      </p:sp>
      <p:pic>
        <p:nvPicPr>
          <p:cNvPr id="367" name="Google Shape;367;p60"/>
          <p:cNvPicPr preferRelativeResize="0"/>
          <p:nvPr/>
        </p:nvPicPr>
        <p:blipFill>
          <a:blip r:embed="rId3">
            <a:alphaModFix/>
          </a:blip>
          <a:stretch>
            <a:fillRect/>
          </a:stretch>
        </p:blipFill>
        <p:spPr>
          <a:xfrm>
            <a:off x="3238900" y="897575"/>
            <a:ext cx="5752700" cy="4045781"/>
          </a:xfrm>
          <a:prstGeom prst="rect">
            <a:avLst/>
          </a:prstGeom>
          <a:noFill/>
          <a:ln>
            <a:noFill/>
          </a:ln>
        </p:spPr>
      </p:pic>
      <p:pic>
        <p:nvPicPr>
          <p:cNvPr id="368" name="Google Shape;368;p60"/>
          <p:cNvPicPr preferRelativeResize="0"/>
          <p:nvPr/>
        </p:nvPicPr>
        <p:blipFill>
          <a:blip r:embed="rId4">
            <a:alphaModFix/>
          </a:blip>
          <a:stretch>
            <a:fillRect/>
          </a:stretch>
        </p:blipFill>
        <p:spPr>
          <a:xfrm>
            <a:off x="152400" y="858500"/>
            <a:ext cx="2934100" cy="231010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61"/>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Comparing the aggregation functions</a:t>
            </a:r>
            <a:endParaRPr/>
          </a:p>
        </p:txBody>
      </p:sp>
      <p:sp>
        <p:nvSpPr>
          <p:cNvPr id="374" name="Google Shape;374;p61"/>
          <p:cNvSpPr txBox="1"/>
          <p:nvPr/>
        </p:nvSpPr>
        <p:spPr>
          <a:xfrm>
            <a:off x="496788" y="1098250"/>
            <a:ext cx="81504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800">
                <a:solidFill>
                  <a:schemeClr val="dk2"/>
                </a:solidFill>
                <a:latin typeface="Lato"/>
                <a:ea typeface="Lato"/>
                <a:cs typeface="Lato"/>
                <a:sym typeface="Lato"/>
              </a:rPr>
              <a:t>Harmonic, Geometric and Arithmetic Mean show the same behaviours.</a:t>
            </a:r>
            <a:endParaRPr sz="1800">
              <a:solidFill>
                <a:schemeClr val="dk2"/>
              </a:solidFill>
              <a:latin typeface="Lato"/>
              <a:ea typeface="Lato"/>
              <a:cs typeface="Lato"/>
              <a:sym typeface="Lato"/>
            </a:endParaRPr>
          </a:p>
          <a:p>
            <a:pPr indent="0" lvl="0" marL="0" rtl="0" algn="l">
              <a:spcBef>
                <a:spcPts val="0"/>
              </a:spcBef>
              <a:spcAft>
                <a:spcPts val="0"/>
              </a:spcAft>
              <a:buNone/>
            </a:pPr>
            <a:r>
              <a:rPr lang="it" sz="1800">
                <a:solidFill>
                  <a:schemeClr val="dk2"/>
                </a:solidFill>
                <a:latin typeface="Lato"/>
                <a:ea typeface="Lato"/>
                <a:cs typeface="Lato"/>
                <a:sym typeface="Lato"/>
              </a:rPr>
              <a:t>The harmonic formula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rPr lang="it" sz="1800">
                <a:solidFill>
                  <a:schemeClr val="dk2"/>
                </a:solidFill>
                <a:latin typeface="Lato"/>
                <a:ea typeface="Lato"/>
                <a:cs typeface="Lato"/>
                <a:sym typeface="Lato"/>
              </a:rPr>
              <a:t>assigns greater weight to smaller values. If either value is very small, the harmonic mean result will be closer to that value than the arithmetic or geometric mean.</a:t>
            </a:r>
            <a:endParaRPr sz="1800">
              <a:solidFill>
                <a:schemeClr val="dk2"/>
              </a:solidFill>
              <a:latin typeface="Lato"/>
              <a:ea typeface="Lato"/>
              <a:cs typeface="Lato"/>
              <a:sym typeface="Lato"/>
            </a:endParaRPr>
          </a:p>
        </p:txBody>
      </p:sp>
      <p:graphicFrame>
        <p:nvGraphicFramePr>
          <p:cNvPr id="375" name="Google Shape;375;p61"/>
          <p:cNvGraphicFramePr/>
          <p:nvPr/>
        </p:nvGraphicFramePr>
        <p:xfrm>
          <a:off x="496750" y="2898100"/>
          <a:ext cx="3000000" cy="3000000"/>
        </p:xfrm>
        <a:graphic>
          <a:graphicData uri="http://schemas.openxmlformats.org/drawingml/2006/table">
            <a:tbl>
              <a:tblPr>
                <a:noFill/>
                <a:tableStyleId>{29299406-39BF-4800-BCAD-0E380AE722B9}</a:tableStyleId>
              </a:tblPr>
              <a:tblGrid>
                <a:gridCol w="1492800"/>
                <a:gridCol w="4455200"/>
                <a:gridCol w="2202475"/>
              </a:tblGrid>
              <a:tr h="243900">
                <a:tc>
                  <a:txBody>
                    <a:bodyPr/>
                    <a:lstStyle/>
                    <a:p>
                      <a:pPr indent="0" lvl="0" marL="0" rtl="0" algn="ctr">
                        <a:spcBef>
                          <a:spcPts val="0"/>
                        </a:spcBef>
                        <a:spcAft>
                          <a:spcPts val="0"/>
                        </a:spcAft>
                        <a:buNone/>
                      </a:pPr>
                      <a:r>
                        <a:rPr lang="it" sz="1200" strike="sngStrike">
                          <a:solidFill>
                            <a:schemeClr val="lt1"/>
                          </a:solidFill>
                        </a:rPr>
                        <a:t>Independence approach</a:t>
                      </a:r>
                      <a:endParaRPr sz="1200" strike="sngStrike">
                        <a:solidFill>
                          <a:schemeClr val="lt1"/>
                        </a:solidFill>
                      </a:endParaRPr>
                    </a:p>
                  </a:txBody>
                  <a:tcPr marT="18000" marB="18000" marR="54000" marL="54000">
                    <a:solidFill>
                      <a:schemeClr val="dk1"/>
                    </a:solidFill>
                  </a:tcPr>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txBody>
                  <a:tcPr marT="18000" marB="18000" marR="54000" marL="54000"/>
                </a:tc>
                <a:tc>
                  <a:txBody>
                    <a:bodyPr/>
                    <a:lstStyle/>
                    <a:p>
                      <a:pPr indent="0" lvl="0" marL="0" rtl="0" algn="l">
                        <a:spcBef>
                          <a:spcPts val="0"/>
                        </a:spcBef>
                        <a:spcAft>
                          <a:spcPts val="0"/>
                        </a:spcAft>
                        <a:buNone/>
                      </a:pPr>
                      <a:r>
                        <a:rPr lang="it" sz="1200"/>
                        <a:t>g1 and g2 should be independent</a:t>
                      </a:r>
                      <a:endParaRPr sz="1200"/>
                    </a:p>
                  </a:txBody>
                  <a:tcPr marT="18000" marB="18000" marR="54000" marL="54000"/>
                </a:tc>
              </a:tr>
              <a:tr h="381000">
                <a:tc>
                  <a:txBody>
                    <a:bodyPr/>
                    <a:lstStyle/>
                    <a:p>
                      <a:pPr indent="0" lvl="0" marL="0" rtl="0" algn="ctr">
                        <a:spcBef>
                          <a:spcPts val="0"/>
                        </a:spcBef>
                        <a:spcAft>
                          <a:spcPts val="0"/>
                        </a:spcAft>
                        <a:buNone/>
                      </a:pPr>
                      <a:r>
                        <a:rPr b="1" lang="it" sz="1200">
                          <a:solidFill>
                            <a:schemeClr val="lt1"/>
                          </a:solidFill>
                        </a:rPr>
                        <a:t>Harmonic </a:t>
                      </a:r>
                      <a:endParaRPr b="1" sz="1200">
                        <a:solidFill>
                          <a:schemeClr val="lt1"/>
                        </a:solidFill>
                      </a:endParaRPr>
                    </a:p>
                    <a:p>
                      <a:pPr indent="0" lvl="0" marL="0" rtl="0" algn="ctr">
                        <a:spcBef>
                          <a:spcPts val="0"/>
                        </a:spcBef>
                        <a:spcAft>
                          <a:spcPts val="0"/>
                        </a:spcAft>
                        <a:buNone/>
                      </a:pPr>
                      <a:r>
                        <a:rPr b="1" lang="it" sz="1200">
                          <a:solidFill>
                            <a:schemeClr val="lt1"/>
                          </a:solidFill>
                        </a:rPr>
                        <a:t>Mean</a:t>
                      </a:r>
                      <a:endParaRPr b="1" sz="1200">
                        <a:solidFill>
                          <a:schemeClr val="lt1"/>
                        </a:solidFill>
                      </a:endParaRPr>
                    </a:p>
                  </a:txBody>
                  <a:tcPr marT="18000" marB="18000" marR="54000" marL="54000">
                    <a:solidFill>
                      <a:schemeClr val="dk1"/>
                    </a:solidFill>
                  </a:tcPr>
                </a:tc>
                <a:tc>
                  <a:txBody>
                    <a:bodyPr/>
                    <a:lstStyle/>
                    <a:p>
                      <a:pPr indent="0" lvl="0" marL="0" rtl="0" algn="l">
                        <a:spcBef>
                          <a:spcPts val="0"/>
                        </a:spcBef>
                        <a:spcAft>
                          <a:spcPts val="0"/>
                        </a:spcAft>
                        <a:buNone/>
                      </a:pPr>
                      <a:r>
                        <a:t/>
                      </a:r>
                      <a:endParaRPr/>
                    </a:p>
                  </a:txBody>
                  <a:tcPr marT="18000" marB="18000" marR="54000" marL="54000"/>
                </a:tc>
                <a:tc>
                  <a:txBody>
                    <a:bodyPr/>
                    <a:lstStyle/>
                    <a:p>
                      <a:pPr indent="0" lvl="0" marL="0" rtl="0" algn="l">
                        <a:spcBef>
                          <a:spcPts val="0"/>
                        </a:spcBef>
                        <a:spcAft>
                          <a:spcPts val="0"/>
                        </a:spcAft>
                        <a:buNone/>
                      </a:pPr>
                      <a:r>
                        <a:rPr lang="it" sz="1200"/>
                        <a:t>it should penalize low probabilities</a:t>
                      </a:r>
                      <a:endParaRPr sz="1200"/>
                    </a:p>
                  </a:txBody>
                  <a:tcPr marT="18000" marB="18000" marR="54000" marL="54000"/>
                </a:tc>
              </a:tr>
              <a:tr h="381000">
                <a:tc>
                  <a:txBody>
                    <a:bodyPr/>
                    <a:lstStyle/>
                    <a:p>
                      <a:pPr indent="0" lvl="0" marL="0" rtl="0" algn="ctr">
                        <a:spcBef>
                          <a:spcPts val="0"/>
                        </a:spcBef>
                        <a:spcAft>
                          <a:spcPts val="0"/>
                        </a:spcAft>
                        <a:buNone/>
                      </a:pPr>
                      <a:r>
                        <a:rPr lang="it" sz="1200">
                          <a:solidFill>
                            <a:schemeClr val="lt1"/>
                          </a:solidFill>
                        </a:rPr>
                        <a:t>Geometric </a:t>
                      </a:r>
                      <a:endParaRPr sz="1200">
                        <a:solidFill>
                          <a:schemeClr val="lt1"/>
                        </a:solidFill>
                      </a:endParaRPr>
                    </a:p>
                    <a:p>
                      <a:pPr indent="0" lvl="0" marL="0" rtl="0" algn="ctr">
                        <a:spcBef>
                          <a:spcPts val="0"/>
                        </a:spcBef>
                        <a:spcAft>
                          <a:spcPts val="0"/>
                        </a:spcAft>
                        <a:buNone/>
                      </a:pPr>
                      <a:r>
                        <a:rPr lang="it" sz="1200">
                          <a:solidFill>
                            <a:schemeClr val="lt1"/>
                          </a:solidFill>
                        </a:rPr>
                        <a:t>Mean</a:t>
                      </a:r>
                      <a:endParaRPr sz="1200">
                        <a:solidFill>
                          <a:schemeClr val="lt1"/>
                        </a:solidFill>
                      </a:endParaRPr>
                    </a:p>
                  </a:txBody>
                  <a:tcPr marT="18000" marB="18000" marR="54000" marL="54000">
                    <a:solidFill>
                      <a:schemeClr val="dk1"/>
                    </a:solidFill>
                  </a:tcPr>
                </a:tc>
                <a:tc>
                  <a:txBody>
                    <a:bodyPr/>
                    <a:lstStyle/>
                    <a:p>
                      <a:pPr indent="0" lvl="0" marL="0" rtl="0" algn="l">
                        <a:spcBef>
                          <a:spcPts val="0"/>
                        </a:spcBef>
                        <a:spcAft>
                          <a:spcPts val="0"/>
                        </a:spcAft>
                        <a:buNone/>
                      </a:pPr>
                      <a:r>
                        <a:t/>
                      </a:r>
                      <a:endParaRPr/>
                    </a:p>
                  </a:txBody>
                  <a:tcPr marT="18000" marB="18000" marR="54000" marL="54000"/>
                </a:tc>
                <a:tc>
                  <a:txBody>
                    <a:bodyPr/>
                    <a:lstStyle/>
                    <a:p>
                      <a:pPr indent="0" lvl="0" marL="0" rtl="0" algn="l">
                        <a:spcBef>
                          <a:spcPts val="0"/>
                        </a:spcBef>
                        <a:spcAft>
                          <a:spcPts val="0"/>
                        </a:spcAft>
                        <a:buNone/>
                      </a:pPr>
                      <a:r>
                        <a:rPr lang="it" sz="1200"/>
                        <a:t>g1 and g2 considered independent</a:t>
                      </a:r>
                      <a:endParaRPr sz="1200"/>
                    </a:p>
                  </a:txBody>
                  <a:tcPr marT="18000" marB="18000" marR="54000" marL="54000"/>
                </a:tc>
              </a:tr>
              <a:tr h="381000">
                <a:tc>
                  <a:txBody>
                    <a:bodyPr/>
                    <a:lstStyle/>
                    <a:p>
                      <a:pPr indent="0" lvl="0" marL="0" rtl="0" algn="ctr">
                        <a:spcBef>
                          <a:spcPts val="0"/>
                        </a:spcBef>
                        <a:spcAft>
                          <a:spcPts val="0"/>
                        </a:spcAft>
                        <a:buNone/>
                      </a:pPr>
                      <a:r>
                        <a:rPr lang="it" sz="1200" strike="sngStrike">
                          <a:solidFill>
                            <a:schemeClr val="lt1"/>
                          </a:solidFill>
                        </a:rPr>
                        <a:t>Subtraction Approach</a:t>
                      </a:r>
                      <a:endParaRPr sz="1200" strike="sngStrike">
                        <a:solidFill>
                          <a:schemeClr val="lt1"/>
                        </a:solidFill>
                      </a:endParaRPr>
                    </a:p>
                  </a:txBody>
                  <a:tcPr marT="18000" marB="18000" marR="54000" marL="54000">
                    <a:solidFill>
                      <a:schemeClr val="dk1"/>
                    </a:solidFill>
                  </a:tcPr>
                </a:tc>
                <a:tc>
                  <a:txBody>
                    <a:bodyPr/>
                    <a:lstStyle/>
                    <a:p>
                      <a:pPr indent="0" lvl="0" marL="0" rtl="0" algn="l">
                        <a:spcBef>
                          <a:spcPts val="0"/>
                        </a:spcBef>
                        <a:spcAft>
                          <a:spcPts val="0"/>
                        </a:spcAft>
                        <a:buNone/>
                      </a:pPr>
                      <a:r>
                        <a:t/>
                      </a:r>
                      <a:endParaRPr/>
                    </a:p>
                  </a:txBody>
                  <a:tcPr marT="18000" marB="18000" marR="54000" marL="54000"/>
                </a:tc>
                <a:tc>
                  <a:txBody>
                    <a:bodyPr/>
                    <a:lstStyle/>
                    <a:p>
                      <a:pPr indent="0" lvl="0" marL="0" rtl="0" algn="l">
                        <a:spcBef>
                          <a:spcPts val="0"/>
                        </a:spcBef>
                        <a:spcAft>
                          <a:spcPts val="0"/>
                        </a:spcAft>
                        <a:buNone/>
                      </a:pPr>
                      <a:r>
                        <a:rPr lang="it" sz="1200"/>
                        <a:t>it works when g1 and g2 are moderately dependent</a:t>
                      </a:r>
                      <a:endParaRPr sz="1200"/>
                    </a:p>
                  </a:txBody>
                  <a:tcPr marT="18000" marB="18000" marR="54000" marL="54000"/>
                </a:tc>
              </a:tr>
              <a:tr h="381000">
                <a:tc>
                  <a:txBody>
                    <a:bodyPr/>
                    <a:lstStyle/>
                    <a:p>
                      <a:pPr indent="0" lvl="0" marL="0" rtl="0" algn="ctr">
                        <a:spcBef>
                          <a:spcPts val="0"/>
                        </a:spcBef>
                        <a:spcAft>
                          <a:spcPts val="0"/>
                        </a:spcAft>
                        <a:buNone/>
                      </a:pPr>
                      <a:r>
                        <a:rPr lang="it" sz="1200">
                          <a:solidFill>
                            <a:schemeClr val="lt1"/>
                          </a:solidFill>
                        </a:rPr>
                        <a:t>Arithmetic </a:t>
                      </a:r>
                      <a:endParaRPr sz="1200">
                        <a:solidFill>
                          <a:schemeClr val="lt1"/>
                        </a:solidFill>
                      </a:endParaRPr>
                    </a:p>
                    <a:p>
                      <a:pPr indent="0" lvl="0" marL="0" rtl="0" algn="ctr">
                        <a:spcBef>
                          <a:spcPts val="0"/>
                        </a:spcBef>
                        <a:spcAft>
                          <a:spcPts val="0"/>
                        </a:spcAft>
                        <a:buNone/>
                      </a:pPr>
                      <a:r>
                        <a:rPr lang="it" sz="1200">
                          <a:solidFill>
                            <a:schemeClr val="lt1"/>
                          </a:solidFill>
                        </a:rPr>
                        <a:t>Mean</a:t>
                      </a:r>
                      <a:endParaRPr sz="1200">
                        <a:solidFill>
                          <a:schemeClr val="lt1"/>
                        </a:solidFill>
                      </a:endParaRPr>
                    </a:p>
                  </a:txBody>
                  <a:tcPr marT="18000" marB="18000" marR="54000" marL="54000">
                    <a:solidFill>
                      <a:schemeClr val="dk1"/>
                    </a:solidFill>
                  </a:tcPr>
                </a:tc>
                <a:tc>
                  <a:txBody>
                    <a:bodyPr/>
                    <a:lstStyle/>
                    <a:p>
                      <a:pPr indent="0" lvl="0" marL="0" rtl="0" algn="l">
                        <a:spcBef>
                          <a:spcPts val="0"/>
                        </a:spcBef>
                        <a:spcAft>
                          <a:spcPts val="0"/>
                        </a:spcAft>
                        <a:buNone/>
                      </a:pPr>
                      <a:r>
                        <a:t/>
                      </a:r>
                      <a:endParaRPr/>
                    </a:p>
                  </a:txBody>
                  <a:tcPr marT="18000" marB="18000" marR="54000" marL="54000"/>
                </a:tc>
                <a:tc>
                  <a:txBody>
                    <a:bodyPr/>
                    <a:lstStyle/>
                    <a:p>
                      <a:pPr indent="0" lvl="0" marL="0" rtl="0" algn="l">
                        <a:spcBef>
                          <a:spcPts val="0"/>
                        </a:spcBef>
                        <a:spcAft>
                          <a:spcPts val="0"/>
                        </a:spcAft>
                        <a:buNone/>
                      </a:pPr>
                      <a:r>
                        <a:t/>
                      </a:r>
                      <a:endParaRPr/>
                    </a:p>
                  </a:txBody>
                  <a:tcPr marT="18000" marB="18000" marR="54000" marL="54000"/>
                </a:tc>
              </a:tr>
            </a:tbl>
          </a:graphicData>
        </a:graphic>
      </p:graphicFrame>
      <p:pic>
        <p:nvPicPr>
          <p:cNvPr id="376" name="Google Shape;376;p61"/>
          <p:cNvPicPr preferRelativeResize="0"/>
          <p:nvPr/>
        </p:nvPicPr>
        <p:blipFill>
          <a:blip r:embed="rId3">
            <a:alphaModFix/>
          </a:blip>
          <a:stretch>
            <a:fillRect/>
          </a:stretch>
        </p:blipFill>
        <p:spPr>
          <a:xfrm>
            <a:off x="2079525" y="2921750"/>
            <a:ext cx="4060974" cy="415400"/>
          </a:xfrm>
          <a:prstGeom prst="rect">
            <a:avLst/>
          </a:prstGeom>
          <a:noFill/>
          <a:ln>
            <a:noFill/>
          </a:ln>
        </p:spPr>
      </p:pic>
      <p:pic>
        <p:nvPicPr>
          <p:cNvPr id="377" name="Google Shape;377;p61"/>
          <p:cNvPicPr preferRelativeResize="0"/>
          <p:nvPr/>
        </p:nvPicPr>
        <p:blipFill>
          <a:blip r:embed="rId4">
            <a:alphaModFix/>
          </a:blip>
          <a:stretch>
            <a:fillRect/>
          </a:stretch>
        </p:blipFill>
        <p:spPr>
          <a:xfrm>
            <a:off x="2362700" y="3396275"/>
            <a:ext cx="3494650" cy="366275"/>
          </a:xfrm>
          <a:prstGeom prst="rect">
            <a:avLst/>
          </a:prstGeom>
          <a:noFill/>
          <a:ln>
            <a:noFill/>
          </a:ln>
        </p:spPr>
      </p:pic>
      <p:pic>
        <p:nvPicPr>
          <p:cNvPr id="378" name="Google Shape;378;p61"/>
          <p:cNvPicPr preferRelativeResize="0"/>
          <p:nvPr/>
        </p:nvPicPr>
        <p:blipFill>
          <a:blip r:embed="rId5">
            <a:alphaModFix/>
          </a:blip>
          <a:stretch>
            <a:fillRect/>
          </a:stretch>
        </p:blipFill>
        <p:spPr>
          <a:xfrm>
            <a:off x="2194963" y="3851875"/>
            <a:ext cx="3830075" cy="223750"/>
          </a:xfrm>
          <a:prstGeom prst="rect">
            <a:avLst/>
          </a:prstGeom>
          <a:noFill/>
          <a:ln>
            <a:noFill/>
          </a:ln>
        </p:spPr>
      </p:pic>
      <p:pic>
        <p:nvPicPr>
          <p:cNvPr id="379" name="Google Shape;379;p61"/>
          <p:cNvPicPr preferRelativeResize="0"/>
          <p:nvPr/>
        </p:nvPicPr>
        <p:blipFill>
          <a:blip r:embed="rId6">
            <a:alphaModFix/>
          </a:blip>
          <a:stretch>
            <a:fillRect/>
          </a:stretch>
        </p:blipFill>
        <p:spPr>
          <a:xfrm>
            <a:off x="2034823" y="4590348"/>
            <a:ext cx="4298125" cy="366275"/>
          </a:xfrm>
          <a:prstGeom prst="rect">
            <a:avLst/>
          </a:prstGeom>
          <a:noFill/>
          <a:ln>
            <a:noFill/>
          </a:ln>
        </p:spPr>
      </p:pic>
      <p:pic>
        <p:nvPicPr>
          <p:cNvPr id="380" name="Google Shape;380;p61"/>
          <p:cNvPicPr preferRelativeResize="0"/>
          <p:nvPr/>
        </p:nvPicPr>
        <p:blipFill>
          <a:blip r:embed="rId7">
            <a:alphaModFix/>
          </a:blip>
          <a:stretch>
            <a:fillRect/>
          </a:stretch>
        </p:blipFill>
        <p:spPr>
          <a:xfrm>
            <a:off x="2041862" y="4213475"/>
            <a:ext cx="4284048" cy="239025"/>
          </a:xfrm>
          <a:prstGeom prst="rect">
            <a:avLst/>
          </a:prstGeom>
          <a:noFill/>
          <a:ln>
            <a:noFill/>
          </a:ln>
        </p:spPr>
      </p:pic>
      <p:pic>
        <p:nvPicPr>
          <p:cNvPr id="381" name="Google Shape;381;p61"/>
          <p:cNvPicPr preferRelativeResize="0"/>
          <p:nvPr/>
        </p:nvPicPr>
        <p:blipFill>
          <a:blip r:embed="rId8">
            <a:alphaModFix/>
          </a:blip>
          <a:stretch>
            <a:fillRect/>
          </a:stretch>
        </p:blipFill>
        <p:spPr>
          <a:xfrm>
            <a:off x="3050650" y="1473925"/>
            <a:ext cx="1714500" cy="5715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62"/>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Intersectionality on Census US Dataset</a:t>
            </a:r>
            <a:endParaRPr/>
          </a:p>
        </p:txBody>
      </p:sp>
      <p:sp>
        <p:nvSpPr>
          <p:cNvPr id="387" name="Google Shape;387;p6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it">
                <a:solidFill>
                  <a:schemeClr val="lt1"/>
                </a:solidFill>
              </a:rPr>
              <a:t>‹#›</a:t>
            </a:fld>
            <a:endParaRPr>
              <a:solidFill>
                <a:schemeClr val="lt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63"/>
          <p:cNvSpPr txBox="1"/>
          <p:nvPr>
            <p:ph type="title"/>
          </p:nvPr>
        </p:nvSpPr>
        <p:spPr>
          <a:xfrm>
            <a:off x="311700" y="469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Distribution Analysis: Not-Binary Census</a:t>
            </a:r>
            <a:endParaRPr/>
          </a:p>
        </p:txBody>
      </p:sp>
      <p:pic>
        <p:nvPicPr>
          <p:cNvPr id="393" name="Google Shape;393;p63"/>
          <p:cNvPicPr preferRelativeResize="0"/>
          <p:nvPr/>
        </p:nvPicPr>
        <p:blipFill>
          <a:blip r:embed="rId3">
            <a:alphaModFix/>
          </a:blip>
          <a:stretch>
            <a:fillRect/>
          </a:stretch>
        </p:blipFill>
        <p:spPr>
          <a:xfrm>
            <a:off x="2526175" y="760825"/>
            <a:ext cx="2703525" cy="1902062"/>
          </a:xfrm>
          <a:prstGeom prst="rect">
            <a:avLst/>
          </a:prstGeom>
          <a:noFill/>
          <a:ln>
            <a:noFill/>
          </a:ln>
        </p:spPr>
      </p:pic>
      <p:pic>
        <p:nvPicPr>
          <p:cNvPr id="394" name="Google Shape;394;p63"/>
          <p:cNvPicPr preferRelativeResize="0"/>
          <p:nvPr/>
        </p:nvPicPr>
        <p:blipFill>
          <a:blip r:embed="rId4">
            <a:alphaModFix/>
          </a:blip>
          <a:stretch>
            <a:fillRect/>
          </a:stretch>
        </p:blipFill>
        <p:spPr>
          <a:xfrm>
            <a:off x="6021975" y="760812"/>
            <a:ext cx="2703525" cy="1902075"/>
          </a:xfrm>
          <a:prstGeom prst="rect">
            <a:avLst/>
          </a:prstGeom>
          <a:noFill/>
          <a:ln>
            <a:noFill/>
          </a:ln>
        </p:spPr>
      </p:pic>
      <p:pic>
        <p:nvPicPr>
          <p:cNvPr id="395" name="Google Shape;395;p63"/>
          <p:cNvPicPr preferRelativeResize="0"/>
          <p:nvPr/>
        </p:nvPicPr>
        <p:blipFill>
          <a:blip r:embed="rId5">
            <a:alphaModFix/>
          </a:blip>
          <a:stretch>
            <a:fillRect/>
          </a:stretch>
        </p:blipFill>
        <p:spPr>
          <a:xfrm>
            <a:off x="2558725" y="2693225"/>
            <a:ext cx="3034026" cy="2235925"/>
          </a:xfrm>
          <a:prstGeom prst="rect">
            <a:avLst/>
          </a:prstGeom>
          <a:noFill/>
          <a:ln>
            <a:noFill/>
          </a:ln>
        </p:spPr>
      </p:pic>
      <p:pic>
        <p:nvPicPr>
          <p:cNvPr id="396" name="Google Shape;396;p63"/>
          <p:cNvPicPr preferRelativeResize="0"/>
          <p:nvPr/>
        </p:nvPicPr>
        <p:blipFill>
          <a:blip r:embed="rId6">
            <a:alphaModFix/>
          </a:blip>
          <a:stretch>
            <a:fillRect/>
          </a:stretch>
        </p:blipFill>
        <p:spPr>
          <a:xfrm>
            <a:off x="5865712" y="2779812"/>
            <a:ext cx="2952449" cy="2175813"/>
          </a:xfrm>
          <a:prstGeom prst="rect">
            <a:avLst/>
          </a:prstGeom>
          <a:noFill/>
          <a:ln>
            <a:noFill/>
          </a:ln>
        </p:spPr>
      </p:pic>
      <p:sp>
        <p:nvSpPr>
          <p:cNvPr id="397" name="Google Shape;397;p63"/>
          <p:cNvSpPr txBox="1"/>
          <p:nvPr/>
        </p:nvSpPr>
        <p:spPr>
          <a:xfrm>
            <a:off x="364575" y="760825"/>
            <a:ext cx="2046300" cy="40443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it" sz="850">
                <a:solidFill>
                  <a:srgbClr val="A31515"/>
                </a:solidFill>
                <a:highlight>
                  <a:srgbClr val="F7F7F7"/>
                </a:highlight>
                <a:latin typeface="Courier New"/>
                <a:ea typeface="Courier New"/>
                <a:cs typeface="Courier New"/>
                <a:sym typeface="Courier New"/>
              </a:rPr>
              <a:t>'age'</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0</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'11&gt;age&gt; 25'</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1</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'25&gt;age&gt;40'</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2</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'40&gt;age&gt;75'</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3</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'75&gt;age&gt;90'</a:t>
            </a:r>
            <a:endParaRPr sz="850">
              <a:solidFill>
                <a:srgbClr val="A31515"/>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'edu'</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0</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'1&gt;edu&gt;6'</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1</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'6&gt;edu&gt;11'</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2</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'11&gt;edu&gt;16'</a:t>
            </a:r>
            <a:endParaRPr sz="850">
              <a:solidFill>
                <a:srgbClr val="A31515"/>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'sex'</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0</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'female'</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1</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'male'</a:t>
            </a:r>
            <a:endParaRPr sz="850">
              <a:solidFill>
                <a:srgbClr val="A31515"/>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'race'</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0</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'Ame-Ind-Esk'</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1</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'Asi-Pac-Isl'</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2</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'Black'</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3</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'Other'</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4</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'White'</a:t>
            </a:r>
            <a:endParaRPr sz="850">
              <a:solidFill>
                <a:srgbClr val="A31515"/>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endParaRPr sz="850">
              <a:solidFill>
                <a:schemeClr val="dk2"/>
              </a:solidFill>
              <a:highlight>
                <a:srgbClr val="F7F7F7"/>
              </a:highlight>
              <a:latin typeface="Courier New"/>
              <a:ea typeface="Courier New"/>
              <a:cs typeface="Courier New"/>
              <a:sym typeface="Courier New"/>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64"/>
          <p:cNvSpPr txBox="1"/>
          <p:nvPr>
            <p:ph type="title"/>
          </p:nvPr>
        </p:nvSpPr>
        <p:spPr>
          <a:xfrm>
            <a:off x="311700" y="469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Distribution Analysis: Binary Census</a:t>
            </a:r>
            <a:endParaRPr/>
          </a:p>
        </p:txBody>
      </p:sp>
      <p:sp>
        <p:nvSpPr>
          <p:cNvPr id="403" name="Google Shape;403;p64"/>
          <p:cNvSpPr txBox="1"/>
          <p:nvPr/>
        </p:nvSpPr>
        <p:spPr>
          <a:xfrm>
            <a:off x="410175" y="1144975"/>
            <a:ext cx="2046300" cy="29790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it" sz="850">
                <a:solidFill>
                  <a:srgbClr val="A31515"/>
                </a:solidFill>
                <a:highlight>
                  <a:srgbClr val="F7F7F7"/>
                </a:highlight>
                <a:latin typeface="Courier New"/>
                <a:ea typeface="Courier New"/>
                <a:cs typeface="Courier New"/>
                <a:sym typeface="Courier New"/>
              </a:rPr>
              <a:t>'age'</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0</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'age&lt;35'</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1</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'age&gt;35'</a:t>
            </a:r>
            <a:endParaRPr sz="850">
              <a:solidFill>
                <a:srgbClr val="A31515"/>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'edu'</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0</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'edu&lt;9'</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1</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'edu&gt;9'</a:t>
            </a:r>
            <a:endParaRPr sz="850">
              <a:solidFill>
                <a:srgbClr val="A31515"/>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'sex'</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0</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'female'</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1</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'male'</a:t>
            </a:r>
            <a:endParaRPr sz="850">
              <a:solidFill>
                <a:srgbClr val="A31515"/>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'race'</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0</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'Ame-Black-Other'</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1</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'Asian-White</a:t>
            </a:r>
            <a:r>
              <a:rPr lang="it" sz="850">
                <a:solidFill>
                  <a:srgbClr val="A31515"/>
                </a:solidFill>
                <a:highlight>
                  <a:srgbClr val="F7F7F7"/>
                </a:highlight>
                <a:latin typeface="Courier New"/>
                <a:ea typeface="Courier New"/>
                <a:cs typeface="Courier New"/>
                <a:sym typeface="Courier New"/>
              </a:rPr>
              <a:t>'</a:t>
            </a:r>
            <a:endParaRPr sz="850">
              <a:solidFill>
                <a:srgbClr val="A31515"/>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endParaRPr sz="850">
              <a:solidFill>
                <a:schemeClr val="dk2"/>
              </a:solidFill>
              <a:highlight>
                <a:srgbClr val="F7F7F7"/>
              </a:highlight>
              <a:latin typeface="Courier New"/>
              <a:ea typeface="Courier New"/>
              <a:cs typeface="Courier New"/>
              <a:sym typeface="Courier New"/>
            </a:endParaRPr>
          </a:p>
        </p:txBody>
      </p:sp>
      <p:pic>
        <p:nvPicPr>
          <p:cNvPr id="404" name="Google Shape;404;p64"/>
          <p:cNvPicPr preferRelativeResize="0"/>
          <p:nvPr/>
        </p:nvPicPr>
        <p:blipFill>
          <a:blip r:embed="rId3">
            <a:alphaModFix/>
          </a:blip>
          <a:stretch>
            <a:fillRect/>
          </a:stretch>
        </p:blipFill>
        <p:spPr>
          <a:xfrm>
            <a:off x="2820900" y="760825"/>
            <a:ext cx="2725949" cy="2008900"/>
          </a:xfrm>
          <a:prstGeom prst="rect">
            <a:avLst/>
          </a:prstGeom>
          <a:noFill/>
          <a:ln>
            <a:noFill/>
          </a:ln>
        </p:spPr>
      </p:pic>
      <p:pic>
        <p:nvPicPr>
          <p:cNvPr id="405" name="Google Shape;405;p64"/>
          <p:cNvPicPr preferRelativeResize="0"/>
          <p:nvPr/>
        </p:nvPicPr>
        <p:blipFill>
          <a:blip r:embed="rId4">
            <a:alphaModFix/>
          </a:blip>
          <a:stretch>
            <a:fillRect/>
          </a:stretch>
        </p:blipFill>
        <p:spPr>
          <a:xfrm>
            <a:off x="6298725" y="724175"/>
            <a:ext cx="2626495" cy="1935600"/>
          </a:xfrm>
          <a:prstGeom prst="rect">
            <a:avLst/>
          </a:prstGeom>
          <a:noFill/>
          <a:ln>
            <a:noFill/>
          </a:ln>
        </p:spPr>
      </p:pic>
      <p:pic>
        <p:nvPicPr>
          <p:cNvPr id="406" name="Google Shape;406;p64"/>
          <p:cNvPicPr preferRelativeResize="0"/>
          <p:nvPr/>
        </p:nvPicPr>
        <p:blipFill>
          <a:blip r:embed="rId5">
            <a:alphaModFix/>
          </a:blip>
          <a:stretch>
            <a:fillRect/>
          </a:stretch>
        </p:blipFill>
        <p:spPr>
          <a:xfrm>
            <a:off x="2887657" y="2769725"/>
            <a:ext cx="2725967" cy="2008900"/>
          </a:xfrm>
          <a:prstGeom prst="rect">
            <a:avLst/>
          </a:prstGeom>
          <a:noFill/>
          <a:ln>
            <a:noFill/>
          </a:ln>
        </p:spPr>
      </p:pic>
      <p:pic>
        <p:nvPicPr>
          <p:cNvPr id="407" name="Google Shape;407;p64"/>
          <p:cNvPicPr preferRelativeResize="0"/>
          <p:nvPr/>
        </p:nvPicPr>
        <p:blipFill>
          <a:blip r:embed="rId6">
            <a:alphaModFix/>
          </a:blip>
          <a:stretch>
            <a:fillRect/>
          </a:stretch>
        </p:blipFill>
        <p:spPr>
          <a:xfrm>
            <a:off x="6298724" y="2848825"/>
            <a:ext cx="2626500" cy="1935598"/>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65"/>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2-combinations Census US (Binary)</a:t>
            </a:r>
            <a:endParaRPr/>
          </a:p>
        </p:txBody>
      </p:sp>
      <p:pic>
        <p:nvPicPr>
          <p:cNvPr id="413" name="Google Shape;413;p65"/>
          <p:cNvPicPr preferRelativeResize="0"/>
          <p:nvPr/>
        </p:nvPicPr>
        <p:blipFill>
          <a:blip r:embed="rId3">
            <a:alphaModFix/>
          </a:blip>
          <a:stretch>
            <a:fillRect/>
          </a:stretch>
        </p:blipFill>
        <p:spPr>
          <a:xfrm>
            <a:off x="3364075" y="1051175"/>
            <a:ext cx="4821050" cy="3787526"/>
          </a:xfrm>
          <a:prstGeom prst="rect">
            <a:avLst/>
          </a:prstGeom>
          <a:noFill/>
          <a:ln>
            <a:noFill/>
          </a:ln>
        </p:spPr>
      </p:pic>
      <p:sp>
        <p:nvSpPr>
          <p:cNvPr id="414" name="Google Shape;414;p65"/>
          <p:cNvSpPr txBox="1"/>
          <p:nvPr/>
        </p:nvSpPr>
        <p:spPr>
          <a:xfrm>
            <a:off x="501325" y="1126350"/>
            <a:ext cx="2168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800">
                <a:solidFill>
                  <a:schemeClr val="dk2"/>
                </a:solidFill>
                <a:latin typeface="Lato"/>
                <a:ea typeface="Lato"/>
                <a:cs typeface="Lato"/>
                <a:sym typeface="Lato"/>
              </a:rPr>
              <a:t>PPE = (FP)/(TN+FP)</a:t>
            </a:r>
            <a:endParaRPr sz="1800">
              <a:solidFill>
                <a:schemeClr val="dk2"/>
              </a:solidFill>
              <a:latin typeface="Lato"/>
              <a:ea typeface="Lato"/>
              <a:cs typeface="Lato"/>
              <a:sym typeface="Lat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6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2-combinations Census US (Not Binary)</a:t>
            </a:r>
            <a:endParaRPr/>
          </a:p>
        </p:txBody>
      </p:sp>
      <p:pic>
        <p:nvPicPr>
          <p:cNvPr id="420" name="Google Shape;420;p66"/>
          <p:cNvPicPr preferRelativeResize="0"/>
          <p:nvPr/>
        </p:nvPicPr>
        <p:blipFill>
          <a:blip r:embed="rId3">
            <a:alphaModFix/>
          </a:blip>
          <a:stretch>
            <a:fillRect/>
          </a:stretch>
        </p:blipFill>
        <p:spPr>
          <a:xfrm>
            <a:off x="2214300" y="1051175"/>
            <a:ext cx="6609604" cy="3787526"/>
          </a:xfrm>
          <a:prstGeom prst="rect">
            <a:avLst/>
          </a:prstGeom>
          <a:noFill/>
          <a:ln>
            <a:noFill/>
          </a:ln>
        </p:spPr>
      </p:pic>
      <p:sp>
        <p:nvSpPr>
          <p:cNvPr id="421" name="Google Shape;421;p66"/>
          <p:cNvSpPr txBox="1"/>
          <p:nvPr/>
        </p:nvSpPr>
        <p:spPr>
          <a:xfrm>
            <a:off x="358075" y="1145900"/>
            <a:ext cx="2168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800">
                <a:solidFill>
                  <a:schemeClr val="dk2"/>
                </a:solidFill>
                <a:latin typeface="Lato"/>
                <a:ea typeface="Lato"/>
                <a:cs typeface="Lato"/>
                <a:sym typeface="Lato"/>
              </a:rPr>
              <a:t>PPE = (FP)/(TN+FP)</a:t>
            </a:r>
            <a:endParaRPr sz="1800">
              <a:solidFill>
                <a:schemeClr val="dk2"/>
              </a:solidFill>
              <a:latin typeface="Lato"/>
              <a:ea typeface="Lato"/>
              <a:cs typeface="Lato"/>
              <a:sym typeface="Lat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67"/>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3-combinations Census US (Binary)</a:t>
            </a:r>
            <a:endParaRPr/>
          </a:p>
        </p:txBody>
      </p:sp>
      <p:pic>
        <p:nvPicPr>
          <p:cNvPr id="427" name="Google Shape;427;p67"/>
          <p:cNvPicPr preferRelativeResize="0"/>
          <p:nvPr/>
        </p:nvPicPr>
        <p:blipFill>
          <a:blip r:embed="rId3">
            <a:alphaModFix/>
          </a:blip>
          <a:stretch>
            <a:fillRect/>
          </a:stretch>
        </p:blipFill>
        <p:spPr>
          <a:xfrm>
            <a:off x="2047025" y="1105925"/>
            <a:ext cx="6683869" cy="3787526"/>
          </a:xfrm>
          <a:prstGeom prst="rect">
            <a:avLst/>
          </a:prstGeom>
          <a:noFill/>
          <a:ln>
            <a:noFill/>
          </a:ln>
        </p:spPr>
      </p:pic>
      <p:sp>
        <p:nvSpPr>
          <p:cNvPr id="428" name="Google Shape;428;p67"/>
          <p:cNvSpPr txBox="1"/>
          <p:nvPr/>
        </p:nvSpPr>
        <p:spPr>
          <a:xfrm>
            <a:off x="358075" y="1145900"/>
            <a:ext cx="2376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800">
                <a:solidFill>
                  <a:schemeClr val="dk2"/>
                </a:solidFill>
                <a:latin typeface="Lato"/>
                <a:ea typeface="Lato"/>
                <a:cs typeface="Lato"/>
                <a:sym typeface="Lato"/>
              </a:rPr>
              <a:t>FPP= (FP)/|group|</a:t>
            </a:r>
            <a:endParaRPr sz="1800">
              <a:solidFill>
                <a:schemeClr val="dk2"/>
              </a:solidFill>
              <a:latin typeface="Lato"/>
              <a:ea typeface="Lato"/>
              <a:cs typeface="Lato"/>
              <a:sym typeface="Lat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68"/>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Intersectionality on Compas Dataset</a:t>
            </a:r>
            <a:endParaRPr/>
          </a:p>
        </p:txBody>
      </p:sp>
      <p:sp>
        <p:nvSpPr>
          <p:cNvPr id="434" name="Google Shape;434;p6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it">
                <a:solidFill>
                  <a:schemeClr val="lt1"/>
                </a:solidFill>
              </a:rPr>
              <a:t>‹#›</a:t>
            </a:fld>
            <a:endParaRPr>
              <a:solidFill>
                <a:schemeClr val="lt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69"/>
          <p:cNvSpPr txBox="1"/>
          <p:nvPr>
            <p:ph type="title"/>
          </p:nvPr>
        </p:nvSpPr>
        <p:spPr>
          <a:xfrm>
            <a:off x="311700" y="469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Distribution Analysis: Binary Compas</a:t>
            </a:r>
            <a:endParaRPr/>
          </a:p>
        </p:txBody>
      </p:sp>
      <p:sp>
        <p:nvSpPr>
          <p:cNvPr id="440" name="Google Shape;440;p69"/>
          <p:cNvSpPr txBox="1"/>
          <p:nvPr/>
        </p:nvSpPr>
        <p:spPr>
          <a:xfrm>
            <a:off x="449250" y="1288175"/>
            <a:ext cx="2046300" cy="24462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it" sz="850">
                <a:solidFill>
                  <a:srgbClr val="A31515"/>
                </a:solidFill>
                <a:highlight>
                  <a:srgbClr val="F7F7F7"/>
                </a:highlight>
                <a:latin typeface="Courier New"/>
                <a:ea typeface="Courier New"/>
                <a:cs typeface="Courier New"/>
                <a:sym typeface="Courier New"/>
              </a:rPr>
              <a:t>'age'</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0</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'age&lt;35'</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1</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'age&gt;35'</a:t>
            </a:r>
            <a:endParaRPr sz="850">
              <a:solidFill>
                <a:srgbClr val="A31515"/>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'sex'</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0</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'female'</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1</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'male'</a:t>
            </a:r>
            <a:endParaRPr sz="850">
              <a:solidFill>
                <a:srgbClr val="A31515"/>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'race'</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0</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'African'</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1</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'Asian-White-Hisp-Nat-Other'</a:t>
            </a:r>
            <a:endParaRPr sz="850">
              <a:solidFill>
                <a:srgbClr val="A31515"/>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endParaRPr sz="850">
              <a:solidFill>
                <a:schemeClr val="dk2"/>
              </a:solidFill>
              <a:highlight>
                <a:srgbClr val="F7F7F7"/>
              </a:highlight>
              <a:latin typeface="Courier New"/>
              <a:ea typeface="Courier New"/>
              <a:cs typeface="Courier New"/>
              <a:sym typeface="Courier New"/>
            </a:endParaRPr>
          </a:p>
        </p:txBody>
      </p:sp>
      <p:pic>
        <p:nvPicPr>
          <p:cNvPr id="441" name="Google Shape;441;p69"/>
          <p:cNvPicPr preferRelativeResize="0"/>
          <p:nvPr/>
        </p:nvPicPr>
        <p:blipFill>
          <a:blip r:embed="rId3">
            <a:alphaModFix/>
          </a:blip>
          <a:stretch>
            <a:fillRect/>
          </a:stretch>
        </p:blipFill>
        <p:spPr>
          <a:xfrm>
            <a:off x="2647950" y="838975"/>
            <a:ext cx="2684350" cy="1954300"/>
          </a:xfrm>
          <a:prstGeom prst="rect">
            <a:avLst/>
          </a:prstGeom>
          <a:noFill/>
          <a:ln>
            <a:noFill/>
          </a:ln>
        </p:spPr>
      </p:pic>
      <p:pic>
        <p:nvPicPr>
          <p:cNvPr id="442" name="Google Shape;442;p69"/>
          <p:cNvPicPr preferRelativeResize="0"/>
          <p:nvPr/>
        </p:nvPicPr>
        <p:blipFill>
          <a:blip r:embed="rId4">
            <a:alphaModFix/>
          </a:blip>
          <a:stretch>
            <a:fillRect/>
          </a:stretch>
        </p:blipFill>
        <p:spPr>
          <a:xfrm>
            <a:off x="6195099" y="838975"/>
            <a:ext cx="2684350" cy="1954301"/>
          </a:xfrm>
          <a:prstGeom prst="rect">
            <a:avLst/>
          </a:prstGeom>
          <a:noFill/>
          <a:ln>
            <a:noFill/>
          </a:ln>
        </p:spPr>
      </p:pic>
      <p:pic>
        <p:nvPicPr>
          <p:cNvPr id="443" name="Google Shape;443;p69"/>
          <p:cNvPicPr preferRelativeResize="0"/>
          <p:nvPr/>
        </p:nvPicPr>
        <p:blipFill>
          <a:blip r:embed="rId5">
            <a:alphaModFix/>
          </a:blip>
          <a:stretch>
            <a:fillRect/>
          </a:stretch>
        </p:blipFill>
        <p:spPr>
          <a:xfrm>
            <a:off x="4184500" y="2832175"/>
            <a:ext cx="2965420" cy="21589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0"/>
          <p:cNvSpPr txBox="1"/>
          <p:nvPr>
            <p:ph type="title"/>
          </p:nvPr>
        </p:nvSpPr>
        <p:spPr>
          <a:xfrm>
            <a:off x="311700" y="37252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2-combinations Compas (Binary)</a:t>
            </a:r>
            <a:endParaRPr/>
          </a:p>
        </p:txBody>
      </p:sp>
      <p:sp>
        <p:nvSpPr>
          <p:cNvPr id="449" name="Google Shape;449;p70"/>
          <p:cNvSpPr txBox="1"/>
          <p:nvPr/>
        </p:nvSpPr>
        <p:spPr>
          <a:xfrm>
            <a:off x="358075" y="1145900"/>
            <a:ext cx="2376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800">
                <a:solidFill>
                  <a:schemeClr val="dk2"/>
                </a:solidFill>
                <a:latin typeface="Lato"/>
                <a:ea typeface="Lato"/>
                <a:cs typeface="Lato"/>
                <a:sym typeface="Lato"/>
              </a:rPr>
              <a:t>FPR= (FP)/(TP+FP)</a:t>
            </a:r>
            <a:endParaRPr sz="1800">
              <a:solidFill>
                <a:schemeClr val="dk2"/>
              </a:solidFill>
              <a:latin typeface="Lato"/>
              <a:ea typeface="Lato"/>
              <a:cs typeface="Lato"/>
              <a:sym typeface="Lato"/>
            </a:endParaRPr>
          </a:p>
        </p:txBody>
      </p:sp>
      <p:pic>
        <p:nvPicPr>
          <p:cNvPr id="450" name="Google Shape;450;p70"/>
          <p:cNvPicPr preferRelativeResize="0"/>
          <p:nvPr/>
        </p:nvPicPr>
        <p:blipFill>
          <a:blip r:embed="rId3">
            <a:alphaModFix/>
          </a:blip>
          <a:stretch>
            <a:fillRect/>
          </a:stretch>
        </p:blipFill>
        <p:spPr>
          <a:xfrm>
            <a:off x="2659200" y="1217525"/>
            <a:ext cx="6104527" cy="3476827"/>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71"/>
          <p:cNvSpPr txBox="1"/>
          <p:nvPr>
            <p:ph type="title"/>
          </p:nvPr>
        </p:nvSpPr>
        <p:spPr>
          <a:xfrm>
            <a:off x="311700" y="469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Distribution Analysis: Not-Binary Compas</a:t>
            </a:r>
            <a:endParaRPr/>
          </a:p>
        </p:txBody>
      </p:sp>
      <p:pic>
        <p:nvPicPr>
          <p:cNvPr id="456" name="Google Shape;456;p71"/>
          <p:cNvPicPr preferRelativeResize="0"/>
          <p:nvPr/>
        </p:nvPicPr>
        <p:blipFill>
          <a:blip r:embed="rId3">
            <a:alphaModFix/>
          </a:blip>
          <a:stretch>
            <a:fillRect/>
          </a:stretch>
        </p:blipFill>
        <p:spPr>
          <a:xfrm>
            <a:off x="2644875" y="686575"/>
            <a:ext cx="2911475" cy="2145600"/>
          </a:xfrm>
          <a:prstGeom prst="rect">
            <a:avLst/>
          </a:prstGeom>
          <a:noFill/>
          <a:ln>
            <a:noFill/>
          </a:ln>
        </p:spPr>
      </p:pic>
      <p:pic>
        <p:nvPicPr>
          <p:cNvPr id="457" name="Google Shape;457;p71"/>
          <p:cNvPicPr preferRelativeResize="0"/>
          <p:nvPr/>
        </p:nvPicPr>
        <p:blipFill>
          <a:blip r:embed="rId4">
            <a:alphaModFix/>
          </a:blip>
          <a:stretch>
            <a:fillRect/>
          </a:stretch>
        </p:blipFill>
        <p:spPr>
          <a:xfrm>
            <a:off x="6061525" y="596101"/>
            <a:ext cx="3034249" cy="2236075"/>
          </a:xfrm>
          <a:prstGeom prst="rect">
            <a:avLst/>
          </a:prstGeom>
          <a:noFill/>
          <a:ln>
            <a:noFill/>
          </a:ln>
        </p:spPr>
      </p:pic>
      <p:pic>
        <p:nvPicPr>
          <p:cNvPr id="458" name="Google Shape;458;p71"/>
          <p:cNvPicPr preferRelativeResize="0"/>
          <p:nvPr/>
        </p:nvPicPr>
        <p:blipFill>
          <a:blip r:embed="rId5">
            <a:alphaModFix/>
          </a:blip>
          <a:stretch>
            <a:fillRect/>
          </a:stretch>
        </p:blipFill>
        <p:spPr>
          <a:xfrm>
            <a:off x="4226280" y="2832175"/>
            <a:ext cx="3133696" cy="2309375"/>
          </a:xfrm>
          <a:prstGeom prst="rect">
            <a:avLst/>
          </a:prstGeom>
          <a:noFill/>
          <a:ln>
            <a:noFill/>
          </a:ln>
        </p:spPr>
      </p:pic>
      <p:sp>
        <p:nvSpPr>
          <p:cNvPr id="459" name="Google Shape;459;p71"/>
          <p:cNvSpPr txBox="1"/>
          <p:nvPr/>
        </p:nvSpPr>
        <p:spPr>
          <a:xfrm>
            <a:off x="449250" y="1288175"/>
            <a:ext cx="2046300" cy="26238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it" sz="850">
                <a:solidFill>
                  <a:srgbClr val="A31515"/>
                </a:solidFill>
                <a:highlight>
                  <a:srgbClr val="F7F7F7"/>
                </a:highlight>
                <a:latin typeface="Courier New"/>
                <a:ea typeface="Courier New"/>
                <a:cs typeface="Courier New"/>
                <a:sym typeface="Courier New"/>
              </a:rPr>
              <a:t>'age'</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0</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'age&lt;25'</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1</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'25&gt;age&gt;45'</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2</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'age&gt;45'</a:t>
            </a:r>
            <a:endParaRPr sz="850">
              <a:solidFill>
                <a:srgbClr val="A31515"/>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'sex'</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0</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'female'</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1</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'male'</a:t>
            </a:r>
            <a:endParaRPr sz="850">
              <a:solidFill>
                <a:srgbClr val="A31515"/>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'race'</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0</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'African'</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1</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'Asian-White'</a:t>
            </a:r>
            <a:r>
              <a:rPr lang="it" sz="850">
                <a:solidFill>
                  <a:schemeClr val="dk2"/>
                </a:solidFill>
                <a:highlight>
                  <a:srgbClr val="F7F7F7"/>
                </a:highlight>
                <a:latin typeface="Courier New"/>
                <a:ea typeface="Courier New"/>
                <a:cs typeface="Courier New"/>
                <a:sym typeface="Courier New"/>
              </a:rPr>
              <a:t>,</a:t>
            </a:r>
            <a:endParaRPr sz="850">
              <a:solidFill>
                <a:schemeClr val="dk2"/>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r>
              <a:rPr lang="it" sz="850">
                <a:solidFill>
                  <a:srgbClr val="116644"/>
                </a:solidFill>
                <a:highlight>
                  <a:srgbClr val="F7F7F7"/>
                </a:highlight>
                <a:latin typeface="Courier New"/>
                <a:ea typeface="Courier New"/>
                <a:cs typeface="Courier New"/>
                <a:sym typeface="Courier New"/>
              </a:rPr>
              <a:t>2</a:t>
            </a:r>
            <a:r>
              <a:rPr lang="it" sz="850">
                <a:solidFill>
                  <a:schemeClr val="dk2"/>
                </a:solidFill>
                <a:highlight>
                  <a:srgbClr val="F7F7F7"/>
                </a:highlight>
                <a:latin typeface="Courier New"/>
                <a:ea typeface="Courier New"/>
                <a:cs typeface="Courier New"/>
                <a:sym typeface="Courier New"/>
              </a:rPr>
              <a:t>: </a:t>
            </a:r>
            <a:r>
              <a:rPr lang="it" sz="850">
                <a:solidFill>
                  <a:srgbClr val="A31515"/>
                </a:solidFill>
                <a:highlight>
                  <a:srgbClr val="F7F7F7"/>
                </a:highlight>
                <a:latin typeface="Courier New"/>
                <a:ea typeface="Courier New"/>
                <a:cs typeface="Courier New"/>
                <a:sym typeface="Courier New"/>
              </a:rPr>
              <a:t>'Hisp-Nat-Other'</a:t>
            </a:r>
            <a:endParaRPr sz="850">
              <a:solidFill>
                <a:srgbClr val="A31515"/>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chemeClr val="dk2"/>
                </a:solidFill>
                <a:highlight>
                  <a:srgbClr val="F7F7F7"/>
                </a:highlight>
                <a:latin typeface="Courier New"/>
                <a:ea typeface="Courier New"/>
                <a:cs typeface="Courier New"/>
                <a:sym typeface="Courier New"/>
              </a:rPr>
              <a:t>   }</a:t>
            </a:r>
            <a:endParaRPr sz="850">
              <a:solidFill>
                <a:schemeClr val="dk2"/>
              </a:solidFill>
              <a:highlight>
                <a:srgbClr val="F7F7F7"/>
              </a:highlight>
              <a:latin typeface="Courier New"/>
              <a:ea typeface="Courier New"/>
              <a:cs typeface="Courier New"/>
              <a:sym typeface="Courier New"/>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72"/>
          <p:cNvSpPr txBox="1"/>
          <p:nvPr>
            <p:ph type="title"/>
          </p:nvPr>
        </p:nvSpPr>
        <p:spPr>
          <a:xfrm>
            <a:off x="311700" y="37252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2-combinations Compas (Not Binary)</a:t>
            </a:r>
            <a:endParaRPr/>
          </a:p>
        </p:txBody>
      </p:sp>
      <p:pic>
        <p:nvPicPr>
          <p:cNvPr id="465" name="Google Shape;465;p72"/>
          <p:cNvPicPr preferRelativeResize="0"/>
          <p:nvPr/>
        </p:nvPicPr>
        <p:blipFill>
          <a:blip r:embed="rId3">
            <a:alphaModFix/>
          </a:blip>
          <a:stretch>
            <a:fillRect/>
          </a:stretch>
        </p:blipFill>
        <p:spPr>
          <a:xfrm>
            <a:off x="2289650" y="1051175"/>
            <a:ext cx="6534251" cy="3787525"/>
          </a:xfrm>
          <a:prstGeom prst="rect">
            <a:avLst/>
          </a:prstGeom>
          <a:noFill/>
          <a:ln>
            <a:noFill/>
          </a:ln>
        </p:spPr>
      </p:pic>
      <p:sp>
        <p:nvSpPr>
          <p:cNvPr id="466" name="Google Shape;466;p72"/>
          <p:cNvSpPr txBox="1"/>
          <p:nvPr/>
        </p:nvSpPr>
        <p:spPr>
          <a:xfrm>
            <a:off x="358075" y="1145900"/>
            <a:ext cx="2376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800">
                <a:solidFill>
                  <a:schemeClr val="dk2"/>
                </a:solidFill>
                <a:latin typeface="Lato"/>
                <a:ea typeface="Lato"/>
                <a:cs typeface="Lato"/>
                <a:sym typeface="Lato"/>
              </a:rPr>
              <a:t>FPR= (FP)/(TP+FP)</a:t>
            </a:r>
            <a:endParaRPr sz="1800">
              <a:solidFill>
                <a:schemeClr val="dk2"/>
              </a:solidFill>
              <a:latin typeface="Lato"/>
              <a:ea typeface="Lato"/>
              <a:cs typeface="Lato"/>
              <a:sym typeface="Lato"/>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73"/>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Bias mitigation </a:t>
            </a:r>
            <a:r>
              <a:rPr lang="it"/>
              <a:t>categories</a:t>
            </a:r>
            <a:endParaRPr/>
          </a:p>
        </p:txBody>
      </p:sp>
      <p:pic>
        <p:nvPicPr>
          <p:cNvPr id="472" name="Google Shape;472;p73"/>
          <p:cNvPicPr preferRelativeResize="0"/>
          <p:nvPr/>
        </p:nvPicPr>
        <p:blipFill>
          <a:blip r:embed="rId3">
            <a:alphaModFix/>
          </a:blip>
          <a:stretch>
            <a:fillRect/>
          </a:stretch>
        </p:blipFill>
        <p:spPr>
          <a:xfrm rot="-5400000">
            <a:off x="2580824" y="-199525"/>
            <a:ext cx="3982351" cy="64208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74"/>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Result presentation &amp; search approach</a:t>
            </a:r>
            <a:endParaRPr/>
          </a:p>
        </p:txBody>
      </p:sp>
      <p:sp>
        <p:nvSpPr>
          <p:cNvPr id="478" name="Google Shape;478;p7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it">
                <a:solidFill>
                  <a:schemeClr val="lt1"/>
                </a:solidFill>
              </a:rPr>
              <a:t>‹#›</a:t>
            </a:fld>
            <a:endParaRPr>
              <a:solidFill>
                <a:schemeClr val="lt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75"/>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Todo:</a:t>
            </a:r>
            <a:br>
              <a:rPr lang="it"/>
            </a:br>
            <a:endParaRPr/>
          </a:p>
        </p:txBody>
      </p:sp>
      <p:sp>
        <p:nvSpPr>
          <p:cNvPr id="484" name="Google Shape;484;p75"/>
          <p:cNvSpPr txBox="1"/>
          <p:nvPr/>
        </p:nvSpPr>
        <p:spPr>
          <a:xfrm>
            <a:off x="533875" y="1530025"/>
            <a:ext cx="6693000" cy="234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800">
                <a:solidFill>
                  <a:schemeClr val="dk2"/>
                </a:solidFill>
                <a:latin typeface="Lato"/>
                <a:ea typeface="Lato"/>
                <a:cs typeface="Lato"/>
                <a:sym typeface="Lato"/>
              </a:rPr>
              <a:t>To present the results:</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AutoNum type="arabicPeriod"/>
            </a:pPr>
            <a:r>
              <a:rPr lang="it" sz="1800">
                <a:solidFill>
                  <a:schemeClr val="dk2"/>
                </a:solidFill>
                <a:latin typeface="Lato"/>
                <a:ea typeface="Lato"/>
                <a:cs typeface="Lato"/>
                <a:sym typeface="Lato"/>
              </a:rPr>
              <a:t>Motivate the aggregation function </a:t>
            </a:r>
            <a:r>
              <a:rPr lang="it" sz="1500" u="sng">
                <a:solidFill>
                  <a:schemeClr val="hlink"/>
                </a:solidFill>
                <a:highlight>
                  <a:srgbClr val="FFFFFF"/>
                </a:highlight>
                <a:hlinkClick r:id="rId3"/>
              </a:rPr>
              <a:t>✅</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AutoNum type="arabicPeriod"/>
            </a:pPr>
            <a:r>
              <a:rPr lang="it" sz="1800">
                <a:solidFill>
                  <a:schemeClr val="dk2"/>
                </a:solidFill>
                <a:latin typeface="Lato"/>
                <a:ea typeface="Lato"/>
                <a:cs typeface="Lato"/>
                <a:sym typeface="Lato"/>
              </a:rPr>
              <a:t>Decide the right fairness metric</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AutoNum type="arabicPeriod"/>
            </a:pPr>
            <a:r>
              <a:rPr lang="it" sz="1800">
                <a:solidFill>
                  <a:schemeClr val="dk2"/>
                </a:solidFill>
                <a:latin typeface="Lato"/>
                <a:ea typeface="Lato"/>
                <a:cs typeface="Lato"/>
                <a:sym typeface="Lato"/>
              </a:rPr>
              <a:t>Decide </a:t>
            </a:r>
            <a:r>
              <a:rPr lang="it" sz="1800">
                <a:solidFill>
                  <a:schemeClr val="dk2"/>
                </a:solidFill>
                <a:latin typeface="Lato"/>
                <a:ea typeface="Lato"/>
                <a:cs typeface="Lato"/>
                <a:sym typeface="Lato"/>
              </a:rPr>
              <a:t>which</a:t>
            </a:r>
            <a:r>
              <a:rPr lang="it" sz="1800">
                <a:solidFill>
                  <a:schemeClr val="dk2"/>
                </a:solidFill>
                <a:latin typeface="Lato"/>
                <a:ea typeface="Lato"/>
                <a:cs typeface="Lato"/>
                <a:sym typeface="Lato"/>
              </a:rPr>
              <a:t> </a:t>
            </a:r>
            <a:r>
              <a:rPr lang="it" sz="1800">
                <a:solidFill>
                  <a:schemeClr val="dk2"/>
                </a:solidFill>
                <a:latin typeface="Lato"/>
                <a:ea typeface="Lato"/>
                <a:cs typeface="Lato"/>
                <a:sym typeface="Lato"/>
              </a:rPr>
              <a:t>configuration</a:t>
            </a:r>
            <a:r>
              <a:rPr lang="it" sz="1800">
                <a:solidFill>
                  <a:schemeClr val="dk2"/>
                </a:solidFill>
                <a:latin typeface="Lato"/>
                <a:ea typeface="Lato"/>
                <a:cs typeface="Lato"/>
                <a:sym typeface="Lato"/>
              </a:rPr>
              <a:t> (dataset - attributes)</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rPr lang="it" sz="1800">
                <a:solidFill>
                  <a:schemeClr val="dk2"/>
                </a:solidFill>
                <a:latin typeface="Lato"/>
                <a:ea typeface="Lato"/>
                <a:cs typeface="Lato"/>
                <a:sym typeface="Lato"/>
              </a:rPr>
              <a:t>To improve the penalty computation:</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AutoNum type="arabicPeriod"/>
            </a:pPr>
            <a:r>
              <a:rPr lang="it" sz="1800">
                <a:solidFill>
                  <a:schemeClr val="dk2"/>
                </a:solidFill>
                <a:latin typeface="Lato"/>
                <a:ea typeface="Lato"/>
                <a:cs typeface="Lato"/>
                <a:sym typeface="Lato"/>
              </a:rPr>
              <a:t>Discard useless configurations </a:t>
            </a:r>
            <a:r>
              <a:rPr lang="it" sz="1500" u="sng">
                <a:solidFill>
                  <a:schemeClr val="hlink"/>
                </a:solidFill>
                <a:highlight>
                  <a:srgbClr val="FFFFFF"/>
                </a:highlight>
                <a:hlinkClick r:id="rId4"/>
              </a:rPr>
              <a:t>✅</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AutoNum type="arabicPeriod"/>
            </a:pPr>
            <a:r>
              <a:rPr lang="it" sz="1800">
                <a:solidFill>
                  <a:schemeClr val="dk2"/>
                </a:solidFill>
                <a:latin typeface="Lato"/>
                <a:ea typeface="Lato"/>
                <a:cs typeface="Lato"/>
                <a:sym typeface="Lato"/>
              </a:rPr>
              <a:t>Try to find a greedy approach to find penalized groups</a:t>
            </a:r>
            <a:endParaRPr sz="1800">
              <a:solidFill>
                <a:schemeClr val="dk2"/>
              </a:solidFill>
              <a:latin typeface="Lato"/>
              <a:ea typeface="Lato"/>
              <a:cs typeface="Lato"/>
              <a:sym typeface="Lato"/>
            </a:endParaRPr>
          </a:p>
          <a:p>
            <a:pPr indent="0" lvl="0" marL="457200" rtl="0" algn="l">
              <a:spcBef>
                <a:spcPts val="0"/>
              </a:spcBef>
              <a:spcAft>
                <a:spcPts val="0"/>
              </a:spcAft>
              <a:buNone/>
            </a:pPr>
            <a:r>
              <a:t/>
            </a:r>
            <a:endParaRPr sz="1800">
              <a:solidFill>
                <a:schemeClr val="dk2"/>
              </a:solidFill>
              <a:latin typeface="Lato"/>
              <a:ea typeface="Lato"/>
              <a:cs typeface="Lato"/>
              <a:sym typeface="Lato"/>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7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right fairness metric</a:t>
            </a:r>
            <a:endParaRPr/>
          </a:p>
        </p:txBody>
      </p:sp>
      <p:sp>
        <p:nvSpPr>
          <p:cNvPr id="490" name="Google Shape;490;p76"/>
          <p:cNvSpPr txBox="1"/>
          <p:nvPr/>
        </p:nvSpPr>
        <p:spPr>
          <a:xfrm>
            <a:off x="533875" y="1530025"/>
            <a:ext cx="6693000" cy="8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Lato"/>
              <a:ea typeface="Lato"/>
              <a:cs typeface="Lato"/>
              <a:sym typeface="Lato"/>
            </a:endParaRPr>
          </a:p>
        </p:txBody>
      </p:sp>
      <p:sp>
        <p:nvSpPr>
          <p:cNvPr id="491" name="Google Shape;491;p76"/>
          <p:cNvSpPr txBox="1"/>
          <p:nvPr/>
        </p:nvSpPr>
        <p:spPr>
          <a:xfrm>
            <a:off x="533875" y="1347725"/>
            <a:ext cx="8289900" cy="322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800">
                <a:solidFill>
                  <a:schemeClr val="dk2"/>
                </a:solidFill>
                <a:latin typeface="Lato"/>
                <a:ea typeface="Lato"/>
                <a:cs typeface="Lato"/>
                <a:sym typeface="Lato"/>
              </a:rPr>
              <a:t>In both datasets (Compas and Adult Census) there is a binary target class in which the class 0 is much greater than the class 1 → thus our focus should be on FP measures:</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lnSpc>
                <a:spcPct val="135714"/>
              </a:lnSpc>
              <a:spcBef>
                <a:spcPts val="0"/>
              </a:spcBef>
              <a:spcAft>
                <a:spcPts val="0"/>
              </a:spcAft>
              <a:buNone/>
            </a:pPr>
            <a:r>
              <a:rPr lang="it" sz="1050">
                <a:solidFill>
                  <a:srgbClr val="C586C0"/>
                </a:solidFill>
                <a:highlight>
                  <a:srgbClr val="1F1F1F"/>
                </a:highlight>
                <a:latin typeface="Courier New"/>
                <a:ea typeface="Courier New"/>
                <a:cs typeface="Courier New"/>
                <a:sym typeface="Courier New"/>
              </a:rPr>
              <a:t>if</a:t>
            </a:r>
            <a:r>
              <a:rPr lang="it" sz="1050">
                <a:solidFill>
                  <a:srgbClr val="CCCCCC"/>
                </a:solidFill>
                <a:highlight>
                  <a:srgbClr val="1F1F1F"/>
                </a:highlight>
                <a:latin typeface="Courier New"/>
                <a:ea typeface="Courier New"/>
                <a:cs typeface="Courier New"/>
                <a:sym typeface="Courier New"/>
              </a:rPr>
              <a:t> </a:t>
            </a:r>
            <a:r>
              <a:rPr lang="it" sz="1050">
                <a:solidFill>
                  <a:srgbClr val="4FC1FF"/>
                </a:solidFill>
                <a:highlight>
                  <a:srgbClr val="1F1F1F"/>
                </a:highlight>
                <a:latin typeface="Courier New"/>
                <a:ea typeface="Courier New"/>
                <a:cs typeface="Courier New"/>
                <a:sym typeface="Courier New"/>
              </a:rPr>
              <a:t>FP</a:t>
            </a:r>
            <a:r>
              <a:rPr lang="it" sz="1050">
                <a:solidFill>
                  <a:srgbClr val="D4D4D4"/>
                </a:solidFill>
                <a:highlight>
                  <a:srgbClr val="1F1F1F"/>
                </a:highlight>
                <a:latin typeface="Courier New"/>
                <a:ea typeface="Courier New"/>
                <a:cs typeface="Courier New"/>
                <a:sym typeface="Courier New"/>
              </a:rPr>
              <a:t>!=</a:t>
            </a:r>
            <a:r>
              <a:rPr lang="it" sz="1050">
                <a:solidFill>
                  <a:srgbClr val="B5CEA8"/>
                </a:solidFill>
                <a:highlight>
                  <a:srgbClr val="1F1F1F"/>
                </a:highlight>
                <a:latin typeface="Courier New"/>
                <a:ea typeface="Courier New"/>
                <a:cs typeface="Courier New"/>
                <a:sym typeface="Courier New"/>
              </a:rPr>
              <a:t>0</a:t>
            </a:r>
            <a:r>
              <a:rPr lang="it" sz="1050">
                <a:solidFill>
                  <a:srgbClr val="CCCCCC"/>
                </a:solidFill>
                <a:highlight>
                  <a:srgbClr val="1F1F1F"/>
                </a:highlight>
                <a:latin typeface="Courier New"/>
                <a:ea typeface="Courier New"/>
                <a:cs typeface="Courier New"/>
                <a:sym typeface="Courier New"/>
              </a:rPr>
              <a:t>:</a:t>
            </a:r>
            <a:endParaRPr sz="10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1050">
                <a:solidFill>
                  <a:srgbClr val="CCCCCC"/>
                </a:solidFill>
                <a:highlight>
                  <a:srgbClr val="1F1F1F"/>
                </a:highlight>
                <a:latin typeface="Courier New"/>
                <a:ea typeface="Courier New"/>
                <a:cs typeface="Courier New"/>
                <a:sym typeface="Courier New"/>
              </a:rPr>
              <a:t>     </a:t>
            </a:r>
            <a:r>
              <a:rPr lang="it" sz="1050">
                <a:solidFill>
                  <a:srgbClr val="C586C0"/>
                </a:solidFill>
                <a:highlight>
                  <a:srgbClr val="1F1F1F"/>
                </a:highlight>
                <a:latin typeface="Courier New"/>
                <a:ea typeface="Courier New"/>
                <a:cs typeface="Courier New"/>
                <a:sym typeface="Courier New"/>
              </a:rPr>
              <a:t>if</a:t>
            </a:r>
            <a:r>
              <a:rPr lang="it" sz="1050">
                <a:solidFill>
                  <a:srgbClr val="CCCCCC"/>
                </a:solidFill>
                <a:highlight>
                  <a:srgbClr val="1F1F1F"/>
                </a:highlight>
                <a:latin typeface="Courier New"/>
                <a:ea typeface="Courier New"/>
                <a:cs typeface="Courier New"/>
                <a:sym typeface="Courier New"/>
              </a:rPr>
              <a:t> </a:t>
            </a:r>
            <a:r>
              <a:rPr lang="it" sz="1050">
                <a:solidFill>
                  <a:srgbClr val="9CDCFE"/>
                </a:solidFill>
                <a:highlight>
                  <a:srgbClr val="1F1F1F"/>
                </a:highlight>
                <a:latin typeface="Courier New"/>
                <a:ea typeface="Courier New"/>
                <a:cs typeface="Courier New"/>
                <a:sym typeface="Courier New"/>
              </a:rPr>
              <a:t>m</a:t>
            </a:r>
            <a:r>
              <a:rPr lang="it" sz="1050">
                <a:solidFill>
                  <a:srgbClr val="D4D4D4"/>
                </a:solidFill>
                <a:highlight>
                  <a:srgbClr val="1F1F1F"/>
                </a:highlight>
                <a:latin typeface="Courier New"/>
                <a:ea typeface="Courier New"/>
                <a:cs typeface="Courier New"/>
                <a:sym typeface="Courier New"/>
              </a:rPr>
              <a:t>==</a:t>
            </a:r>
            <a:r>
              <a:rPr lang="it" sz="1050">
                <a:solidFill>
                  <a:srgbClr val="CE9178"/>
                </a:solidFill>
                <a:highlight>
                  <a:srgbClr val="1F1F1F"/>
                </a:highlight>
                <a:latin typeface="Courier New"/>
                <a:ea typeface="Courier New"/>
                <a:cs typeface="Courier New"/>
                <a:sym typeface="Courier New"/>
              </a:rPr>
              <a:t>'PPE'</a:t>
            </a:r>
            <a:r>
              <a:rPr lang="it" sz="1050">
                <a:solidFill>
                  <a:srgbClr val="CCCCCC"/>
                </a:solidFill>
                <a:highlight>
                  <a:srgbClr val="1F1F1F"/>
                </a:highlight>
                <a:latin typeface="Courier New"/>
                <a:ea typeface="Courier New"/>
                <a:cs typeface="Courier New"/>
                <a:sym typeface="Courier New"/>
              </a:rPr>
              <a:t>:</a:t>
            </a:r>
            <a:endParaRPr sz="10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1050">
                <a:solidFill>
                  <a:srgbClr val="CCCCCC"/>
                </a:solidFill>
                <a:highlight>
                  <a:srgbClr val="1F1F1F"/>
                </a:highlight>
                <a:latin typeface="Courier New"/>
                <a:ea typeface="Courier New"/>
                <a:cs typeface="Courier New"/>
                <a:sym typeface="Courier New"/>
              </a:rPr>
              <a:t>       </a:t>
            </a:r>
            <a:r>
              <a:rPr lang="it" sz="1050">
                <a:solidFill>
                  <a:srgbClr val="9CDCFE"/>
                </a:solidFill>
                <a:highlight>
                  <a:srgbClr val="1F1F1F"/>
                </a:highlight>
                <a:latin typeface="Courier New"/>
                <a:ea typeface="Courier New"/>
                <a:cs typeface="Courier New"/>
                <a:sym typeface="Courier New"/>
              </a:rPr>
              <a:t>fairness_metric</a:t>
            </a:r>
            <a:r>
              <a:rPr lang="it" sz="1050">
                <a:solidFill>
                  <a:srgbClr val="CCCCCC"/>
                </a:solidFill>
                <a:highlight>
                  <a:srgbClr val="1F1F1F"/>
                </a:highlight>
                <a:latin typeface="Courier New"/>
                <a:ea typeface="Courier New"/>
                <a:cs typeface="Courier New"/>
                <a:sym typeface="Courier New"/>
              </a:rPr>
              <a:t> </a:t>
            </a:r>
            <a:r>
              <a:rPr lang="it" sz="1050">
                <a:solidFill>
                  <a:srgbClr val="D4D4D4"/>
                </a:solidFill>
                <a:highlight>
                  <a:srgbClr val="1F1F1F"/>
                </a:highlight>
                <a:latin typeface="Courier New"/>
                <a:ea typeface="Courier New"/>
                <a:cs typeface="Courier New"/>
                <a:sym typeface="Courier New"/>
              </a:rPr>
              <a:t>=</a:t>
            </a:r>
            <a:r>
              <a:rPr lang="it" sz="1050">
                <a:solidFill>
                  <a:srgbClr val="CCCCCC"/>
                </a:solidFill>
                <a:highlight>
                  <a:srgbClr val="1F1F1F"/>
                </a:highlight>
                <a:latin typeface="Courier New"/>
                <a:ea typeface="Courier New"/>
                <a:cs typeface="Courier New"/>
                <a:sym typeface="Courier New"/>
              </a:rPr>
              <a:t> </a:t>
            </a:r>
            <a:r>
              <a:rPr lang="it" sz="1050">
                <a:solidFill>
                  <a:srgbClr val="4FC1FF"/>
                </a:solidFill>
                <a:highlight>
                  <a:srgbClr val="1F1F1F"/>
                </a:highlight>
                <a:latin typeface="Courier New"/>
                <a:ea typeface="Courier New"/>
                <a:cs typeface="Courier New"/>
                <a:sym typeface="Courier New"/>
              </a:rPr>
              <a:t>(FP)</a:t>
            </a:r>
            <a:r>
              <a:rPr lang="it" sz="1050">
                <a:solidFill>
                  <a:srgbClr val="D4D4D4"/>
                </a:solidFill>
                <a:highlight>
                  <a:srgbClr val="1F1F1F"/>
                </a:highlight>
                <a:latin typeface="Courier New"/>
                <a:ea typeface="Courier New"/>
                <a:cs typeface="Courier New"/>
                <a:sym typeface="Courier New"/>
              </a:rPr>
              <a:t>/</a:t>
            </a:r>
            <a:r>
              <a:rPr lang="it" sz="1050">
                <a:solidFill>
                  <a:srgbClr val="CCCCCC"/>
                </a:solidFill>
                <a:highlight>
                  <a:srgbClr val="1F1F1F"/>
                </a:highlight>
                <a:latin typeface="Courier New"/>
                <a:ea typeface="Courier New"/>
                <a:cs typeface="Courier New"/>
                <a:sym typeface="Courier New"/>
              </a:rPr>
              <a:t>(</a:t>
            </a:r>
            <a:r>
              <a:rPr lang="it" sz="1050">
                <a:solidFill>
                  <a:srgbClr val="4FC1FF"/>
                </a:solidFill>
                <a:highlight>
                  <a:srgbClr val="1F1F1F"/>
                </a:highlight>
                <a:latin typeface="Courier New"/>
                <a:ea typeface="Courier New"/>
                <a:cs typeface="Courier New"/>
                <a:sym typeface="Courier New"/>
              </a:rPr>
              <a:t>TN</a:t>
            </a:r>
            <a:r>
              <a:rPr lang="it" sz="1050">
                <a:solidFill>
                  <a:srgbClr val="D4D4D4"/>
                </a:solidFill>
                <a:highlight>
                  <a:srgbClr val="1F1F1F"/>
                </a:highlight>
                <a:latin typeface="Courier New"/>
                <a:ea typeface="Courier New"/>
                <a:cs typeface="Courier New"/>
                <a:sym typeface="Courier New"/>
              </a:rPr>
              <a:t>+</a:t>
            </a:r>
            <a:r>
              <a:rPr lang="it" sz="1050">
                <a:solidFill>
                  <a:srgbClr val="4FC1FF"/>
                </a:solidFill>
                <a:highlight>
                  <a:srgbClr val="1F1F1F"/>
                </a:highlight>
                <a:latin typeface="Courier New"/>
                <a:ea typeface="Courier New"/>
                <a:cs typeface="Courier New"/>
                <a:sym typeface="Courier New"/>
              </a:rPr>
              <a:t>FP</a:t>
            </a:r>
            <a:r>
              <a:rPr lang="it" sz="1050">
                <a:solidFill>
                  <a:srgbClr val="CCCCCC"/>
                </a:solidFill>
                <a:highlight>
                  <a:srgbClr val="1F1F1F"/>
                </a:highlight>
                <a:latin typeface="Courier New"/>
                <a:ea typeface="Courier New"/>
                <a:cs typeface="Courier New"/>
                <a:sym typeface="Courier New"/>
              </a:rPr>
              <a:t>) </a:t>
            </a:r>
            <a:r>
              <a:rPr lang="it" sz="1050">
                <a:solidFill>
                  <a:srgbClr val="6A9955"/>
                </a:solidFill>
                <a:highlight>
                  <a:srgbClr val="1F1F1F"/>
                </a:highlight>
                <a:latin typeface="Courier New"/>
                <a:ea typeface="Courier New"/>
                <a:cs typeface="Courier New"/>
                <a:sym typeface="Courier New"/>
              </a:rPr>
              <a:t>#PredictiveEquality or FalsePositiveRate (FPR)</a:t>
            </a:r>
            <a:endParaRPr sz="1050">
              <a:solidFill>
                <a:srgbClr val="6A9955"/>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1050">
                <a:solidFill>
                  <a:srgbClr val="CCCCCC"/>
                </a:solidFill>
                <a:highlight>
                  <a:srgbClr val="1F1F1F"/>
                </a:highlight>
                <a:latin typeface="Courier New"/>
                <a:ea typeface="Courier New"/>
                <a:cs typeface="Courier New"/>
                <a:sym typeface="Courier New"/>
              </a:rPr>
              <a:t>     </a:t>
            </a:r>
            <a:r>
              <a:rPr lang="it" sz="1050">
                <a:solidFill>
                  <a:srgbClr val="C586C0"/>
                </a:solidFill>
                <a:highlight>
                  <a:srgbClr val="1F1F1F"/>
                </a:highlight>
                <a:latin typeface="Courier New"/>
                <a:ea typeface="Courier New"/>
                <a:cs typeface="Courier New"/>
                <a:sym typeface="Courier New"/>
              </a:rPr>
              <a:t>elif</a:t>
            </a:r>
            <a:r>
              <a:rPr lang="it" sz="1050">
                <a:solidFill>
                  <a:srgbClr val="CCCCCC"/>
                </a:solidFill>
                <a:highlight>
                  <a:srgbClr val="1F1F1F"/>
                </a:highlight>
                <a:latin typeface="Courier New"/>
                <a:ea typeface="Courier New"/>
                <a:cs typeface="Courier New"/>
                <a:sym typeface="Courier New"/>
              </a:rPr>
              <a:t> </a:t>
            </a:r>
            <a:r>
              <a:rPr lang="it" sz="1050">
                <a:solidFill>
                  <a:srgbClr val="9CDCFE"/>
                </a:solidFill>
                <a:highlight>
                  <a:srgbClr val="1F1F1F"/>
                </a:highlight>
                <a:latin typeface="Courier New"/>
                <a:ea typeface="Courier New"/>
                <a:cs typeface="Courier New"/>
                <a:sym typeface="Courier New"/>
              </a:rPr>
              <a:t>m</a:t>
            </a:r>
            <a:r>
              <a:rPr lang="it" sz="1050">
                <a:solidFill>
                  <a:srgbClr val="D4D4D4"/>
                </a:solidFill>
                <a:highlight>
                  <a:srgbClr val="1F1F1F"/>
                </a:highlight>
                <a:latin typeface="Courier New"/>
                <a:ea typeface="Courier New"/>
                <a:cs typeface="Courier New"/>
                <a:sym typeface="Courier New"/>
              </a:rPr>
              <a:t>==</a:t>
            </a:r>
            <a:r>
              <a:rPr lang="it" sz="1050">
                <a:solidFill>
                  <a:srgbClr val="CE9178"/>
                </a:solidFill>
                <a:highlight>
                  <a:srgbClr val="1F1F1F"/>
                </a:highlight>
                <a:latin typeface="Courier New"/>
                <a:ea typeface="Courier New"/>
                <a:cs typeface="Courier New"/>
                <a:sym typeface="Courier New"/>
              </a:rPr>
              <a:t>'FPR'</a:t>
            </a:r>
            <a:r>
              <a:rPr lang="it" sz="1050">
                <a:solidFill>
                  <a:srgbClr val="CCCCCC"/>
                </a:solidFill>
                <a:highlight>
                  <a:srgbClr val="1F1F1F"/>
                </a:highlight>
                <a:latin typeface="Courier New"/>
                <a:ea typeface="Courier New"/>
                <a:cs typeface="Courier New"/>
                <a:sym typeface="Courier New"/>
              </a:rPr>
              <a:t>:</a:t>
            </a:r>
            <a:endParaRPr sz="10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1050">
                <a:solidFill>
                  <a:srgbClr val="CCCCCC"/>
                </a:solidFill>
                <a:highlight>
                  <a:srgbClr val="1F1F1F"/>
                </a:highlight>
                <a:latin typeface="Courier New"/>
                <a:ea typeface="Courier New"/>
                <a:cs typeface="Courier New"/>
                <a:sym typeface="Courier New"/>
              </a:rPr>
              <a:t>       </a:t>
            </a:r>
            <a:r>
              <a:rPr lang="it" sz="1050">
                <a:solidFill>
                  <a:srgbClr val="9CDCFE"/>
                </a:solidFill>
                <a:highlight>
                  <a:srgbClr val="1F1F1F"/>
                </a:highlight>
                <a:latin typeface="Courier New"/>
                <a:ea typeface="Courier New"/>
                <a:cs typeface="Courier New"/>
                <a:sym typeface="Courier New"/>
              </a:rPr>
              <a:t>fairness_metric</a:t>
            </a:r>
            <a:r>
              <a:rPr lang="it" sz="1050">
                <a:solidFill>
                  <a:srgbClr val="CCCCCC"/>
                </a:solidFill>
                <a:highlight>
                  <a:srgbClr val="1F1F1F"/>
                </a:highlight>
                <a:latin typeface="Courier New"/>
                <a:ea typeface="Courier New"/>
                <a:cs typeface="Courier New"/>
                <a:sym typeface="Courier New"/>
              </a:rPr>
              <a:t> </a:t>
            </a:r>
            <a:r>
              <a:rPr lang="it" sz="1050">
                <a:solidFill>
                  <a:srgbClr val="D4D4D4"/>
                </a:solidFill>
                <a:highlight>
                  <a:srgbClr val="1F1F1F"/>
                </a:highlight>
                <a:latin typeface="Courier New"/>
                <a:ea typeface="Courier New"/>
                <a:cs typeface="Courier New"/>
                <a:sym typeface="Courier New"/>
              </a:rPr>
              <a:t>=</a:t>
            </a:r>
            <a:r>
              <a:rPr lang="it" sz="1050">
                <a:solidFill>
                  <a:srgbClr val="CCCCCC"/>
                </a:solidFill>
                <a:highlight>
                  <a:srgbClr val="1F1F1F"/>
                </a:highlight>
                <a:latin typeface="Courier New"/>
                <a:ea typeface="Courier New"/>
                <a:cs typeface="Courier New"/>
                <a:sym typeface="Courier New"/>
              </a:rPr>
              <a:t> </a:t>
            </a:r>
            <a:r>
              <a:rPr lang="it" sz="1050">
                <a:solidFill>
                  <a:srgbClr val="4FC1FF"/>
                </a:solidFill>
                <a:highlight>
                  <a:srgbClr val="1F1F1F"/>
                </a:highlight>
                <a:latin typeface="Courier New"/>
                <a:ea typeface="Courier New"/>
                <a:cs typeface="Courier New"/>
                <a:sym typeface="Courier New"/>
              </a:rPr>
              <a:t>(FP)</a:t>
            </a:r>
            <a:r>
              <a:rPr lang="it" sz="1050">
                <a:solidFill>
                  <a:srgbClr val="D4D4D4"/>
                </a:solidFill>
                <a:highlight>
                  <a:srgbClr val="1F1F1F"/>
                </a:highlight>
                <a:latin typeface="Courier New"/>
                <a:ea typeface="Courier New"/>
                <a:cs typeface="Courier New"/>
                <a:sym typeface="Courier New"/>
              </a:rPr>
              <a:t>/</a:t>
            </a:r>
            <a:r>
              <a:rPr lang="it" sz="1050">
                <a:solidFill>
                  <a:srgbClr val="CCCCCC"/>
                </a:solidFill>
                <a:highlight>
                  <a:srgbClr val="1F1F1F"/>
                </a:highlight>
                <a:latin typeface="Courier New"/>
                <a:ea typeface="Courier New"/>
                <a:cs typeface="Courier New"/>
                <a:sym typeface="Courier New"/>
              </a:rPr>
              <a:t>(</a:t>
            </a:r>
            <a:r>
              <a:rPr lang="it" sz="1050">
                <a:solidFill>
                  <a:srgbClr val="4FC1FF"/>
                </a:solidFill>
                <a:highlight>
                  <a:srgbClr val="1F1F1F"/>
                </a:highlight>
                <a:latin typeface="Courier New"/>
                <a:ea typeface="Courier New"/>
                <a:cs typeface="Courier New"/>
                <a:sym typeface="Courier New"/>
              </a:rPr>
              <a:t>TP</a:t>
            </a:r>
            <a:r>
              <a:rPr lang="it" sz="1050">
                <a:solidFill>
                  <a:srgbClr val="D4D4D4"/>
                </a:solidFill>
                <a:highlight>
                  <a:srgbClr val="1F1F1F"/>
                </a:highlight>
                <a:latin typeface="Courier New"/>
                <a:ea typeface="Courier New"/>
                <a:cs typeface="Courier New"/>
                <a:sym typeface="Courier New"/>
              </a:rPr>
              <a:t>+</a:t>
            </a:r>
            <a:r>
              <a:rPr lang="it" sz="1050">
                <a:solidFill>
                  <a:srgbClr val="4FC1FF"/>
                </a:solidFill>
                <a:highlight>
                  <a:srgbClr val="1F1F1F"/>
                </a:highlight>
                <a:latin typeface="Courier New"/>
                <a:ea typeface="Courier New"/>
                <a:cs typeface="Courier New"/>
                <a:sym typeface="Courier New"/>
              </a:rPr>
              <a:t>FP</a:t>
            </a:r>
            <a:r>
              <a:rPr lang="it" sz="1050">
                <a:solidFill>
                  <a:srgbClr val="CCCCCC"/>
                </a:solidFill>
                <a:highlight>
                  <a:srgbClr val="1F1F1F"/>
                </a:highlight>
                <a:latin typeface="Courier New"/>
                <a:ea typeface="Courier New"/>
                <a:cs typeface="Courier New"/>
                <a:sym typeface="Courier New"/>
              </a:rPr>
              <a:t>) </a:t>
            </a:r>
            <a:r>
              <a:rPr lang="it" sz="1050">
                <a:solidFill>
                  <a:srgbClr val="6A9955"/>
                </a:solidFill>
                <a:highlight>
                  <a:srgbClr val="1F1F1F"/>
                </a:highlight>
                <a:latin typeface="Courier New"/>
                <a:ea typeface="Courier New"/>
                <a:cs typeface="Courier New"/>
                <a:sym typeface="Courier New"/>
              </a:rPr>
              <a:t>#FalsDiscoveryRate</a:t>
            </a:r>
            <a:endParaRPr sz="1050">
              <a:solidFill>
                <a:srgbClr val="6A9955"/>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1050">
                <a:solidFill>
                  <a:srgbClr val="CCCCCC"/>
                </a:solidFill>
                <a:highlight>
                  <a:srgbClr val="1F1F1F"/>
                </a:highlight>
                <a:latin typeface="Courier New"/>
                <a:ea typeface="Courier New"/>
                <a:cs typeface="Courier New"/>
                <a:sym typeface="Courier New"/>
              </a:rPr>
              <a:t>     </a:t>
            </a:r>
            <a:r>
              <a:rPr lang="it" sz="1050">
                <a:solidFill>
                  <a:srgbClr val="C586C0"/>
                </a:solidFill>
                <a:highlight>
                  <a:srgbClr val="1F1F1F"/>
                </a:highlight>
                <a:latin typeface="Courier New"/>
                <a:ea typeface="Courier New"/>
                <a:cs typeface="Courier New"/>
                <a:sym typeface="Courier New"/>
              </a:rPr>
              <a:t>elif</a:t>
            </a:r>
            <a:r>
              <a:rPr lang="it" sz="1050">
                <a:solidFill>
                  <a:srgbClr val="CCCCCC"/>
                </a:solidFill>
                <a:highlight>
                  <a:srgbClr val="1F1F1F"/>
                </a:highlight>
                <a:latin typeface="Courier New"/>
                <a:ea typeface="Courier New"/>
                <a:cs typeface="Courier New"/>
                <a:sym typeface="Courier New"/>
              </a:rPr>
              <a:t> </a:t>
            </a:r>
            <a:r>
              <a:rPr lang="it" sz="1050">
                <a:solidFill>
                  <a:srgbClr val="9CDCFE"/>
                </a:solidFill>
                <a:highlight>
                  <a:srgbClr val="1F1F1F"/>
                </a:highlight>
                <a:latin typeface="Courier New"/>
                <a:ea typeface="Courier New"/>
                <a:cs typeface="Courier New"/>
                <a:sym typeface="Courier New"/>
              </a:rPr>
              <a:t>m</a:t>
            </a:r>
            <a:r>
              <a:rPr lang="it" sz="1050">
                <a:solidFill>
                  <a:srgbClr val="D4D4D4"/>
                </a:solidFill>
                <a:highlight>
                  <a:srgbClr val="1F1F1F"/>
                </a:highlight>
                <a:latin typeface="Courier New"/>
                <a:ea typeface="Courier New"/>
                <a:cs typeface="Courier New"/>
                <a:sym typeface="Courier New"/>
              </a:rPr>
              <a:t>==</a:t>
            </a:r>
            <a:r>
              <a:rPr lang="it" sz="1050">
                <a:solidFill>
                  <a:srgbClr val="CE9178"/>
                </a:solidFill>
                <a:highlight>
                  <a:srgbClr val="1F1F1F"/>
                </a:highlight>
                <a:latin typeface="Courier New"/>
                <a:ea typeface="Courier New"/>
                <a:cs typeface="Courier New"/>
                <a:sym typeface="Courier New"/>
              </a:rPr>
              <a:t>'FPP'</a:t>
            </a:r>
            <a:r>
              <a:rPr lang="it" sz="1050">
                <a:solidFill>
                  <a:srgbClr val="CCCCCC"/>
                </a:solidFill>
                <a:highlight>
                  <a:srgbClr val="1F1F1F"/>
                </a:highlight>
                <a:latin typeface="Courier New"/>
                <a:ea typeface="Courier New"/>
                <a:cs typeface="Courier New"/>
                <a:sym typeface="Courier New"/>
              </a:rPr>
              <a:t>:</a:t>
            </a:r>
            <a:endParaRPr sz="10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1050">
                <a:solidFill>
                  <a:srgbClr val="CCCCCC"/>
                </a:solidFill>
                <a:highlight>
                  <a:srgbClr val="1F1F1F"/>
                </a:highlight>
                <a:latin typeface="Courier New"/>
                <a:ea typeface="Courier New"/>
                <a:cs typeface="Courier New"/>
                <a:sym typeface="Courier New"/>
              </a:rPr>
              <a:t>       </a:t>
            </a:r>
            <a:r>
              <a:rPr lang="it" sz="1050">
                <a:solidFill>
                  <a:srgbClr val="9CDCFE"/>
                </a:solidFill>
                <a:highlight>
                  <a:srgbClr val="1F1F1F"/>
                </a:highlight>
                <a:latin typeface="Courier New"/>
                <a:ea typeface="Courier New"/>
                <a:cs typeface="Courier New"/>
                <a:sym typeface="Courier New"/>
              </a:rPr>
              <a:t>fairness_metric</a:t>
            </a:r>
            <a:r>
              <a:rPr lang="it" sz="1050">
                <a:solidFill>
                  <a:srgbClr val="D4D4D4"/>
                </a:solidFill>
                <a:highlight>
                  <a:srgbClr val="1F1F1F"/>
                </a:highlight>
                <a:latin typeface="Courier New"/>
                <a:ea typeface="Courier New"/>
                <a:cs typeface="Courier New"/>
                <a:sym typeface="Courier New"/>
              </a:rPr>
              <a:t>=</a:t>
            </a:r>
            <a:r>
              <a:rPr lang="it" sz="1050">
                <a:solidFill>
                  <a:srgbClr val="CCCCCC"/>
                </a:solidFill>
                <a:highlight>
                  <a:srgbClr val="1F1F1F"/>
                </a:highlight>
                <a:latin typeface="Courier New"/>
                <a:ea typeface="Courier New"/>
                <a:cs typeface="Courier New"/>
                <a:sym typeface="Courier New"/>
              </a:rPr>
              <a:t> </a:t>
            </a:r>
            <a:r>
              <a:rPr lang="it" sz="1050">
                <a:solidFill>
                  <a:srgbClr val="4FC1FF"/>
                </a:solidFill>
                <a:highlight>
                  <a:srgbClr val="1F1F1F"/>
                </a:highlight>
                <a:latin typeface="Courier New"/>
                <a:ea typeface="Courier New"/>
                <a:cs typeface="Courier New"/>
                <a:sym typeface="Courier New"/>
              </a:rPr>
              <a:t>(FP)</a:t>
            </a:r>
            <a:r>
              <a:rPr lang="it" sz="1050">
                <a:solidFill>
                  <a:srgbClr val="D4D4D4"/>
                </a:solidFill>
                <a:highlight>
                  <a:srgbClr val="1F1F1F"/>
                </a:highlight>
                <a:latin typeface="Courier New"/>
                <a:ea typeface="Courier New"/>
                <a:cs typeface="Courier New"/>
                <a:sym typeface="Courier New"/>
              </a:rPr>
              <a:t>/</a:t>
            </a:r>
            <a:r>
              <a:rPr lang="it" sz="1050">
                <a:solidFill>
                  <a:srgbClr val="9CDCFE"/>
                </a:solidFill>
                <a:highlight>
                  <a:srgbClr val="1F1F1F"/>
                </a:highlight>
                <a:latin typeface="Courier New"/>
                <a:ea typeface="Courier New"/>
                <a:cs typeface="Courier New"/>
                <a:sym typeface="Courier New"/>
              </a:rPr>
              <a:t>len_group</a:t>
            </a:r>
            <a:r>
              <a:rPr lang="it" sz="1050">
                <a:solidFill>
                  <a:srgbClr val="CCCCCC"/>
                </a:solidFill>
                <a:highlight>
                  <a:srgbClr val="1F1F1F"/>
                </a:highlight>
                <a:latin typeface="Courier New"/>
                <a:ea typeface="Courier New"/>
                <a:cs typeface="Courier New"/>
                <a:sym typeface="Courier New"/>
              </a:rPr>
              <a:t> </a:t>
            </a:r>
            <a:r>
              <a:rPr lang="it" sz="1050">
                <a:solidFill>
                  <a:srgbClr val="6A9955"/>
                </a:solidFill>
                <a:highlight>
                  <a:srgbClr val="1F1F1F"/>
                </a:highlight>
                <a:latin typeface="Courier New"/>
                <a:ea typeface="Courier New"/>
                <a:cs typeface="Courier New"/>
                <a:sym typeface="Courier New"/>
              </a:rPr>
              <a:t>#FalsePositiveParity</a:t>
            </a:r>
            <a:endParaRPr sz="1050">
              <a:solidFill>
                <a:srgbClr val="6A9955"/>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1050">
                <a:solidFill>
                  <a:srgbClr val="CCCCCC"/>
                </a:solidFill>
                <a:highlight>
                  <a:srgbClr val="1F1F1F"/>
                </a:highlight>
                <a:latin typeface="Courier New"/>
                <a:ea typeface="Courier New"/>
                <a:cs typeface="Courier New"/>
                <a:sym typeface="Courier New"/>
              </a:rPr>
              <a:t>     </a:t>
            </a:r>
            <a:r>
              <a:rPr lang="it" sz="1050">
                <a:solidFill>
                  <a:srgbClr val="C586C0"/>
                </a:solidFill>
                <a:highlight>
                  <a:srgbClr val="1F1F1F"/>
                </a:highlight>
                <a:latin typeface="Courier New"/>
                <a:ea typeface="Courier New"/>
                <a:cs typeface="Courier New"/>
                <a:sym typeface="Courier New"/>
              </a:rPr>
              <a:t>elif</a:t>
            </a:r>
            <a:r>
              <a:rPr lang="it" sz="1050">
                <a:solidFill>
                  <a:srgbClr val="CCCCCC"/>
                </a:solidFill>
                <a:highlight>
                  <a:srgbClr val="1F1F1F"/>
                </a:highlight>
                <a:latin typeface="Courier New"/>
                <a:ea typeface="Courier New"/>
                <a:cs typeface="Courier New"/>
                <a:sym typeface="Courier New"/>
              </a:rPr>
              <a:t> </a:t>
            </a:r>
            <a:r>
              <a:rPr lang="it" sz="1050">
                <a:solidFill>
                  <a:srgbClr val="9CDCFE"/>
                </a:solidFill>
                <a:highlight>
                  <a:srgbClr val="1F1F1F"/>
                </a:highlight>
                <a:latin typeface="Courier New"/>
                <a:ea typeface="Courier New"/>
                <a:cs typeface="Courier New"/>
                <a:sym typeface="Courier New"/>
              </a:rPr>
              <a:t>m</a:t>
            </a:r>
            <a:r>
              <a:rPr lang="it" sz="1050">
                <a:solidFill>
                  <a:srgbClr val="D4D4D4"/>
                </a:solidFill>
                <a:highlight>
                  <a:srgbClr val="1F1F1F"/>
                </a:highlight>
                <a:latin typeface="Courier New"/>
                <a:ea typeface="Courier New"/>
                <a:cs typeface="Courier New"/>
                <a:sym typeface="Courier New"/>
              </a:rPr>
              <a:t>==</a:t>
            </a:r>
            <a:r>
              <a:rPr lang="it" sz="1050">
                <a:solidFill>
                  <a:srgbClr val="CE9178"/>
                </a:solidFill>
                <a:highlight>
                  <a:srgbClr val="1F1F1F"/>
                </a:highlight>
                <a:latin typeface="Courier New"/>
                <a:ea typeface="Courier New"/>
                <a:cs typeface="Courier New"/>
                <a:sym typeface="Courier New"/>
              </a:rPr>
              <a:t>'FPN'</a:t>
            </a:r>
            <a:r>
              <a:rPr lang="it" sz="1050">
                <a:solidFill>
                  <a:srgbClr val="CCCCCC"/>
                </a:solidFill>
                <a:highlight>
                  <a:srgbClr val="1F1F1F"/>
                </a:highlight>
                <a:latin typeface="Courier New"/>
                <a:ea typeface="Courier New"/>
                <a:cs typeface="Courier New"/>
                <a:sym typeface="Courier New"/>
              </a:rPr>
              <a:t>:</a:t>
            </a:r>
            <a:endParaRPr sz="10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1050">
                <a:solidFill>
                  <a:srgbClr val="CCCCCC"/>
                </a:solidFill>
                <a:highlight>
                  <a:srgbClr val="1F1F1F"/>
                </a:highlight>
                <a:latin typeface="Courier New"/>
                <a:ea typeface="Courier New"/>
                <a:cs typeface="Courier New"/>
                <a:sym typeface="Courier New"/>
              </a:rPr>
              <a:t>       </a:t>
            </a:r>
            <a:r>
              <a:rPr lang="it" sz="1050">
                <a:solidFill>
                  <a:srgbClr val="9CDCFE"/>
                </a:solidFill>
                <a:highlight>
                  <a:srgbClr val="1F1F1F"/>
                </a:highlight>
                <a:latin typeface="Courier New"/>
                <a:ea typeface="Courier New"/>
                <a:cs typeface="Courier New"/>
                <a:sym typeface="Courier New"/>
              </a:rPr>
              <a:t>fairness_metric</a:t>
            </a:r>
            <a:r>
              <a:rPr lang="it" sz="1050">
                <a:solidFill>
                  <a:srgbClr val="D4D4D4"/>
                </a:solidFill>
                <a:highlight>
                  <a:srgbClr val="1F1F1F"/>
                </a:highlight>
                <a:latin typeface="Courier New"/>
                <a:ea typeface="Courier New"/>
                <a:cs typeface="Courier New"/>
                <a:sym typeface="Courier New"/>
              </a:rPr>
              <a:t>=</a:t>
            </a:r>
            <a:r>
              <a:rPr lang="it" sz="1050">
                <a:solidFill>
                  <a:srgbClr val="CCCCCC"/>
                </a:solidFill>
                <a:highlight>
                  <a:srgbClr val="1F1F1F"/>
                </a:highlight>
                <a:latin typeface="Courier New"/>
                <a:ea typeface="Courier New"/>
                <a:cs typeface="Courier New"/>
                <a:sym typeface="Courier New"/>
              </a:rPr>
              <a:t> </a:t>
            </a:r>
            <a:r>
              <a:rPr lang="it" sz="1050">
                <a:solidFill>
                  <a:srgbClr val="4FC1FF"/>
                </a:solidFill>
                <a:highlight>
                  <a:srgbClr val="1F1F1F"/>
                </a:highlight>
                <a:latin typeface="Courier New"/>
                <a:ea typeface="Courier New"/>
                <a:cs typeface="Courier New"/>
                <a:sym typeface="Courier New"/>
              </a:rPr>
              <a:t>(FP)</a:t>
            </a:r>
            <a:r>
              <a:rPr lang="it" sz="1050">
                <a:solidFill>
                  <a:srgbClr val="D4D4D4"/>
                </a:solidFill>
                <a:highlight>
                  <a:srgbClr val="1F1F1F"/>
                </a:highlight>
                <a:latin typeface="Courier New"/>
                <a:ea typeface="Courier New"/>
                <a:cs typeface="Courier New"/>
                <a:sym typeface="Courier New"/>
              </a:rPr>
              <a:t>/</a:t>
            </a:r>
            <a:r>
              <a:rPr lang="it" sz="1050">
                <a:solidFill>
                  <a:srgbClr val="CCCCCC"/>
                </a:solidFill>
                <a:highlight>
                  <a:srgbClr val="1F1F1F"/>
                </a:highlight>
                <a:latin typeface="Courier New"/>
                <a:ea typeface="Courier New"/>
                <a:cs typeface="Courier New"/>
                <a:sym typeface="Courier New"/>
              </a:rPr>
              <a:t>(</a:t>
            </a:r>
            <a:r>
              <a:rPr lang="it" sz="1050">
                <a:solidFill>
                  <a:srgbClr val="4FC1FF"/>
                </a:solidFill>
                <a:highlight>
                  <a:srgbClr val="1F1F1F"/>
                </a:highlight>
                <a:latin typeface="Courier New"/>
                <a:ea typeface="Courier New"/>
                <a:cs typeface="Courier New"/>
                <a:sym typeface="Courier New"/>
              </a:rPr>
              <a:t>FN</a:t>
            </a:r>
            <a:r>
              <a:rPr lang="it" sz="1050">
                <a:solidFill>
                  <a:srgbClr val="D4D4D4"/>
                </a:solidFill>
                <a:highlight>
                  <a:srgbClr val="1F1F1F"/>
                </a:highlight>
                <a:latin typeface="Courier New"/>
                <a:ea typeface="Courier New"/>
                <a:cs typeface="Courier New"/>
                <a:sym typeface="Courier New"/>
              </a:rPr>
              <a:t>+</a:t>
            </a:r>
            <a:r>
              <a:rPr lang="it" sz="1050">
                <a:solidFill>
                  <a:srgbClr val="4FC1FF"/>
                </a:solidFill>
                <a:highlight>
                  <a:srgbClr val="1F1F1F"/>
                </a:highlight>
                <a:latin typeface="Courier New"/>
                <a:ea typeface="Courier New"/>
                <a:cs typeface="Courier New"/>
                <a:sym typeface="Courier New"/>
              </a:rPr>
              <a:t>FP</a:t>
            </a:r>
            <a:r>
              <a:rPr lang="it" sz="1050">
                <a:solidFill>
                  <a:srgbClr val="CCCCCC"/>
                </a:solidFill>
                <a:highlight>
                  <a:srgbClr val="1F1F1F"/>
                </a:highlight>
                <a:latin typeface="Courier New"/>
                <a:ea typeface="Courier New"/>
                <a:cs typeface="Courier New"/>
                <a:sym typeface="Courier New"/>
              </a:rPr>
              <a:t>)</a:t>
            </a:r>
            <a:endParaRPr sz="10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C586C0"/>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Clr>
                <a:schemeClr val="dk2"/>
              </a:buClr>
              <a:buSzPts val="1100"/>
              <a:buFont typeface="Arial"/>
              <a:buNone/>
            </a:pPr>
            <a:r>
              <a:t/>
            </a:r>
            <a:endParaRPr sz="1050">
              <a:solidFill>
                <a:srgbClr val="CE9178"/>
              </a:solidFill>
              <a:highlight>
                <a:srgbClr val="1F1F1F"/>
              </a:highlight>
              <a:latin typeface="Courier New"/>
              <a:ea typeface="Courier New"/>
              <a:cs typeface="Courier New"/>
              <a:sym typeface="Courier New"/>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77"/>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right fairness metric</a:t>
            </a:r>
            <a:endParaRPr/>
          </a:p>
        </p:txBody>
      </p:sp>
      <p:sp>
        <p:nvSpPr>
          <p:cNvPr id="497" name="Google Shape;497;p77"/>
          <p:cNvSpPr txBox="1"/>
          <p:nvPr/>
        </p:nvSpPr>
        <p:spPr>
          <a:xfrm>
            <a:off x="533875" y="1530025"/>
            <a:ext cx="6693000" cy="8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Lato"/>
              <a:ea typeface="Lato"/>
              <a:cs typeface="Lato"/>
              <a:sym typeface="Lato"/>
            </a:endParaRPr>
          </a:p>
        </p:txBody>
      </p:sp>
      <p:sp>
        <p:nvSpPr>
          <p:cNvPr id="498" name="Google Shape;498;p77"/>
          <p:cNvSpPr txBox="1"/>
          <p:nvPr/>
        </p:nvSpPr>
        <p:spPr>
          <a:xfrm>
            <a:off x="377625" y="1530025"/>
            <a:ext cx="4147500" cy="23439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it" sz="1050">
                <a:solidFill>
                  <a:srgbClr val="CE9178"/>
                </a:solidFill>
                <a:highlight>
                  <a:srgbClr val="1F1F1F"/>
                </a:highlight>
                <a:latin typeface="Courier New"/>
                <a:ea typeface="Courier New"/>
                <a:cs typeface="Courier New"/>
                <a:sym typeface="Courier New"/>
              </a:rPr>
              <a:t>'PPE'</a:t>
            </a:r>
            <a:r>
              <a:rPr lang="it" sz="1050">
                <a:solidFill>
                  <a:srgbClr val="CCCCCC"/>
                </a:solidFill>
                <a:highlight>
                  <a:srgbClr val="1F1F1F"/>
                </a:highlight>
                <a:latin typeface="Courier New"/>
                <a:ea typeface="Courier New"/>
                <a:cs typeface="Courier New"/>
                <a:sym typeface="Courier New"/>
              </a:rPr>
              <a:t> </a:t>
            </a:r>
            <a:r>
              <a:rPr lang="it" sz="1050">
                <a:solidFill>
                  <a:srgbClr val="D4D4D4"/>
                </a:solidFill>
                <a:highlight>
                  <a:srgbClr val="1F1F1F"/>
                </a:highlight>
                <a:latin typeface="Courier New"/>
                <a:ea typeface="Courier New"/>
                <a:cs typeface="Courier New"/>
                <a:sym typeface="Courier New"/>
              </a:rPr>
              <a:t>=</a:t>
            </a:r>
            <a:r>
              <a:rPr lang="it" sz="1050">
                <a:solidFill>
                  <a:srgbClr val="CCCCCC"/>
                </a:solidFill>
                <a:highlight>
                  <a:srgbClr val="1F1F1F"/>
                </a:highlight>
                <a:latin typeface="Courier New"/>
                <a:ea typeface="Courier New"/>
                <a:cs typeface="Courier New"/>
                <a:sym typeface="Courier New"/>
              </a:rPr>
              <a:t> </a:t>
            </a:r>
            <a:r>
              <a:rPr lang="it" sz="1050">
                <a:solidFill>
                  <a:srgbClr val="4FC1FF"/>
                </a:solidFill>
                <a:highlight>
                  <a:srgbClr val="1F1F1F"/>
                </a:highlight>
                <a:latin typeface="Courier New"/>
                <a:ea typeface="Courier New"/>
                <a:cs typeface="Courier New"/>
                <a:sym typeface="Courier New"/>
              </a:rPr>
              <a:t>(FP)</a:t>
            </a:r>
            <a:r>
              <a:rPr lang="it" sz="1050">
                <a:solidFill>
                  <a:srgbClr val="D4D4D4"/>
                </a:solidFill>
                <a:highlight>
                  <a:srgbClr val="1F1F1F"/>
                </a:highlight>
                <a:latin typeface="Courier New"/>
                <a:ea typeface="Courier New"/>
                <a:cs typeface="Courier New"/>
                <a:sym typeface="Courier New"/>
              </a:rPr>
              <a:t>/</a:t>
            </a:r>
            <a:r>
              <a:rPr lang="it" sz="1050">
                <a:solidFill>
                  <a:srgbClr val="CCCCCC"/>
                </a:solidFill>
                <a:highlight>
                  <a:srgbClr val="1F1F1F"/>
                </a:highlight>
                <a:latin typeface="Courier New"/>
                <a:ea typeface="Courier New"/>
                <a:cs typeface="Courier New"/>
                <a:sym typeface="Courier New"/>
              </a:rPr>
              <a:t>(</a:t>
            </a:r>
            <a:r>
              <a:rPr lang="it" sz="1050">
                <a:solidFill>
                  <a:srgbClr val="4FC1FF"/>
                </a:solidFill>
                <a:highlight>
                  <a:srgbClr val="1F1F1F"/>
                </a:highlight>
                <a:latin typeface="Courier New"/>
                <a:ea typeface="Courier New"/>
                <a:cs typeface="Courier New"/>
                <a:sym typeface="Courier New"/>
              </a:rPr>
              <a:t>TN</a:t>
            </a:r>
            <a:r>
              <a:rPr lang="it" sz="1050">
                <a:solidFill>
                  <a:srgbClr val="D4D4D4"/>
                </a:solidFill>
                <a:highlight>
                  <a:srgbClr val="1F1F1F"/>
                </a:highlight>
                <a:latin typeface="Courier New"/>
                <a:ea typeface="Courier New"/>
                <a:cs typeface="Courier New"/>
                <a:sym typeface="Courier New"/>
              </a:rPr>
              <a:t>+</a:t>
            </a:r>
            <a:r>
              <a:rPr lang="it" sz="1050">
                <a:solidFill>
                  <a:srgbClr val="4FC1FF"/>
                </a:solidFill>
                <a:highlight>
                  <a:srgbClr val="1F1F1F"/>
                </a:highlight>
                <a:latin typeface="Courier New"/>
                <a:ea typeface="Courier New"/>
                <a:cs typeface="Courier New"/>
                <a:sym typeface="Courier New"/>
              </a:rPr>
              <a:t>FP</a:t>
            </a:r>
            <a:r>
              <a:rPr lang="it" sz="1050">
                <a:solidFill>
                  <a:srgbClr val="CCCCCC"/>
                </a:solidFill>
                <a:highlight>
                  <a:srgbClr val="1F1F1F"/>
                </a:highlight>
                <a:latin typeface="Courier New"/>
                <a:ea typeface="Courier New"/>
                <a:cs typeface="Courier New"/>
                <a:sym typeface="Courier New"/>
              </a:rPr>
              <a:t>) </a:t>
            </a:r>
            <a:endParaRPr sz="10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1050">
                <a:solidFill>
                  <a:srgbClr val="6A9955"/>
                </a:solidFill>
                <a:highlight>
                  <a:srgbClr val="1F1F1F"/>
                </a:highlight>
                <a:latin typeface="Courier New"/>
                <a:ea typeface="Courier New"/>
                <a:cs typeface="Courier New"/>
                <a:sym typeface="Courier New"/>
              </a:rPr>
              <a:t>#PredictiveEquality or </a:t>
            </a:r>
            <a:endParaRPr sz="1050">
              <a:solidFill>
                <a:srgbClr val="6A9955"/>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1050">
                <a:solidFill>
                  <a:srgbClr val="6A9955"/>
                </a:solidFill>
                <a:highlight>
                  <a:srgbClr val="1F1F1F"/>
                </a:highlight>
                <a:latin typeface="Courier New"/>
                <a:ea typeface="Courier New"/>
                <a:cs typeface="Courier New"/>
                <a:sym typeface="Courier New"/>
              </a:rPr>
              <a:t>FalsePositiveRate (FPR)</a:t>
            </a:r>
            <a:endParaRPr sz="1050">
              <a:solidFill>
                <a:srgbClr val="6A9955"/>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6A9955"/>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1050">
                <a:solidFill>
                  <a:srgbClr val="CE9178"/>
                </a:solidFill>
                <a:highlight>
                  <a:srgbClr val="1F1F1F"/>
                </a:highlight>
                <a:latin typeface="Courier New"/>
                <a:ea typeface="Courier New"/>
                <a:cs typeface="Courier New"/>
                <a:sym typeface="Courier New"/>
              </a:rPr>
              <a:t>'FPR' </a:t>
            </a:r>
            <a:r>
              <a:rPr lang="it" sz="1050">
                <a:solidFill>
                  <a:srgbClr val="D4D4D4"/>
                </a:solidFill>
                <a:highlight>
                  <a:srgbClr val="1F1F1F"/>
                </a:highlight>
                <a:latin typeface="Courier New"/>
                <a:ea typeface="Courier New"/>
                <a:cs typeface="Courier New"/>
                <a:sym typeface="Courier New"/>
              </a:rPr>
              <a:t>=</a:t>
            </a:r>
            <a:r>
              <a:rPr lang="it" sz="1050">
                <a:solidFill>
                  <a:srgbClr val="CCCCCC"/>
                </a:solidFill>
                <a:highlight>
                  <a:srgbClr val="1F1F1F"/>
                </a:highlight>
                <a:latin typeface="Courier New"/>
                <a:ea typeface="Courier New"/>
                <a:cs typeface="Courier New"/>
                <a:sym typeface="Courier New"/>
              </a:rPr>
              <a:t> </a:t>
            </a:r>
            <a:r>
              <a:rPr lang="it" sz="1050">
                <a:solidFill>
                  <a:srgbClr val="4FC1FF"/>
                </a:solidFill>
                <a:highlight>
                  <a:srgbClr val="1F1F1F"/>
                </a:highlight>
                <a:latin typeface="Courier New"/>
                <a:ea typeface="Courier New"/>
                <a:cs typeface="Courier New"/>
                <a:sym typeface="Courier New"/>
              </a:rPr>
              <a:t>(FP)</a:t>
            </a:r>
            <a:r>
              <a:rPr lang="it" sz="1050">
                <a:solidFill>
                  <a:srgbClr val="D4D4D4"/>
                </a:solidFill>
                <a:highlight>
                  <a:srgbClr val="1F1F1F"/>
                </a:highlight>
                <a:latin typeface="Courier New"/>
                <a:ea typeface="Courier New"/>
                <a:cs typeface="Courier New"/>
                <a:sym typeface="Courier New"/>
              </a:rPr>
              <a:t>/</a:t>
            </a:r>
            <a:r>
              <a:rPr lang="it" sz="1050">
                <a:solidFill>
                  <a:srgbClr val="CCCCCC"/>
                </a:solidFill>
                <a:highlight>
                  <a:srgbClr val="1F1F1F"/>
                </a:highlight>
                <a:latin typeface="Courier New"/>
                <a:ea typeface="Courier New"/>
                <a:cs typeface="Courier New"/>
                <a:sym typeface="Courier New"/>
              </a:rPr>
              <a:t>(</a:t>
            </a:r>
            <a:r>
              <a:rPr lang="it" sz="1050">
                <a:solidFill>
                  <a:srgbClr val="4FC1FF"/>
                </a:solidFill>
                <a:highlight>
                  <a:srgbClr val="1F1F1F"/>
                </a:highlight>
                <a:latin typeface="Courier New"/>
                <a:ea typeface="Courier New"/>
                <a:cs typeface="Courier New"/>
                <a:sym typeface="Courier New"/>
              </a:rPr>
              <a:t>TP</a:t>
            </a:r>
            <a:r>
              <a:rPr lang="it" sz="1050">
                <a:solidFill>
                  <a:srgbClr val="D4D4D4"/>
                </a:solidFill>
                <a:highlight>
                  <a:srgbClr val="1F1F1F"/>
                </a:highlight>
                <a:latin typeface="Courier New"/>
                <a:ea typeface="Courier New"/>
                <a:cs typeface="Courier New"/>
                <a:sym typeface="Courier New"/>
              </a:rPr>
              <a:t>+</a:t>
            </a:r>
            <a:r>
              <a:rPr lang="it" sz="1050">
                <a:solidFill>
                  <a:srgbClr val="4FC1FF"/>
                </a:solidFill>
                <a:highlight>
                  <a:srgbClr val="1F1F1F"/>
                </a:highlight>
                <a:latin typeface="Courier New"/>
                <a:ea typeface="Courier New"/>
                <a:cs typeface="Courier New"/>
                <a:sym typeface="Courier New"/>
              </a:rPr>
              <a:t>FP</a:t>
            </a:r>
            <a:r>
              <a:rPr lang="it" sz="1050">
                <a:solidFill>
                  <a:srgbClr val="CCCCCC"/>
                </a:solidFill>
                <a:highlight>
                  <a:srgbClr val="1F1F1F"/>
                </a:highlight>
                <a:latin typeface="Courier New"/>
                <a:ea typeface="Courier New"/>
                <a:cs typeface="Courier New"/>
                <a:sym typeface="Courier New"/>
              </a:rPr>
              <a:t>) </a:t>
            </a:r>
            <a:endParaRPr sz="10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1050">
                <a:solidFill>
                  <a:srgbClr val="6A9955"/>
                </a:solidFill>
                <a:highlight>
                  <a:srgbClr val="1F1F1F"/>
                </a:highlight>
                <a:latin typeface="Courier New"/>
                <a:ea typeface="Courier New"/>
                <a:cs typeface="Courier New"/>
                <a:sym typeface="Courier New"/>
              </a:rPr>
              <a:t>#FalsDiscoveryRate</a:t>
            </a:r>
            <a:endParaRPr sz="1050">
              <a:solidFill>
                <a:srgbClr val="6A9955"/>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6A9955"/>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1050">
                <a:solidFill>
                  <a:srgbClr val="CE9178"/>
                </a:solidFill>
                <a:highlight>
                  <a:srgbClr val="1F1F1F"/>
                </a:highlight>
                <a:latin typeface="Courier New"/>
                <a:ea typeface="Courier New"/>
                <a:cs typeface="Courier New"/>
                <a:sym typeface="Courier New"/>
              </a:rPr>
              <a:t>'FPP'</a:t>
            </a:r>
            <a:r>
              <a:rPr lang="it" sz="1050">
                <a:solidFill>
                  <a:srgbClr val="CCCCCC"/>
                </a:solidFill>
                <a:highlight>
                  <a:srgbClr val="1F1F1F"/>
                </a:highlight>
                <a:latin typeface="Courier New"/>
                <a:ea typeface="Courier New"/>
                <a:cs typeface="Courier New"/>
                <a:sym typeface="Courier New"/>
              </a:rPr>
              <a:t> </a:t>
            </a:r>
            <a:r>
              <a:rPr lang="it" sz="1050">
                <a:solidFill>
                  <a:srgbClr val="D4D4D4"/>
                </a:solidFill>
                <a:highlight>
                  <a:srgbClr val="1F1F1F"/>
                </a:highlight>
                <a:latin typeface="Courier New"/>
                <a:ea typeface="Courier New"/>
                <a:cs typeface="Courier New"/>
                <a:sym typeface="Courier New"/>
              </a:rPr>
              <a:t>=</a:t>
            </a:r>
            <a:r>
              <a:rPr lang="it" sz="1050">
                <a:solidFill>
                  <a:srgbClr val="CCCCCC"/>
                </a:solidFill>
                <a:highlight>
                  <a:srgbClr val="1F1F1F"/>
                </a:highlight>
                <a:latin typeface="Courier New"/>
                <a:ea typeface="Courier New"/>
                <a:cs typeface="Courier New"/>
                <a:sym typeface="Courier New"/>
              </a:rPr>
              <a:t> </a:t>
            </a:r>
            <a:r>
              <a:rPr lang="it" sz="1050">
                <a:solidFill>
                  <a:srgbClr val="4FC1FF"/>
                </a:solidFill>
                <a:highlight>
                  <a:srgbClr val="1F1F1F"/>
                </a:highlight>
                <a:latin typeface="Courier New"/>
                <a:ea typeface="Courier New"/>
                <a:cs typeface="Courier New"/>
                <a:sym typeface="Courier New"/>
              </a:rPr>
              <a:t>(FP)</a:t>
            </a:r>
            <a:r>
              <a:rPr lang="it" sz="1050">
                <a:solidFill>
                  <a:srgbClr val="D4D4D4"/>
                </a:solidFill>
                <a:highlight>
                  <a:srgbClr val="1F1F1F"/>
                </a:highlight>
                <a:latin typeface="Courier New"/>
                <a:ea typeface="Courier New"/>
                <a:cs typeface="Courier New"/>
                <a:sym typeface="Courier New"/>
              </a:rPr>
              <a:t>/</a:t>
            </a:r>
            <a:r>
              <a:rPr lang="it" sz="1050">
                <a:solidFill>
                  <a:srgbClr val="9CDCFE"/>
                </a:solidFill>
                <a:highlight>
                  <a:srgbClr val="1F1F1F"/>
                </a:highlight>
                <a:latin typeface="Courier New"/>
                <a:ea typeface="Courier New"/>
                <a:cs typeface="Courier New"/>
                <a:sym typeface="Courier New"/>
              </a:rPr>
              <a:t>len_group</a:t>
            </a:r>
            <a:r>
              <a:rPr lang="it" sz="1050">
                <a:solidFill>
                  <a:srgbClr val="CCCCCC"/>
                </a:solidFill>
                <a:highlight>
                  <a:srgbClr val="1F1F1F"/>
                </a:highlight>
                <a:latin typeface="Courier New"/>
                <a:ea typeface="Courier New"/>
                <a:cs typeface="Courier New"/>
                <a:sym typeface="Courier New"/>
              </a:rPr>
              <a:t> </a:t>
            </a:r>
            <a:endParaRPr sz="10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1050">
                <a:solidFill>
                  <a:srgbClr val="6A9955"/>
                </a:solidFill>
                <a:highlight>
                  <a:srgbClr val="1F1F1F"/>
                </a:highlight>
                <a:latin typeface="Courier New"/>
                <a:ea typeface="Courier New"/>
                <a:cs typeface="Courier New"/>
                <a:sym typeface="Courier New"/>
              </a:rPr>
              <a:t>#FalsePositiveParity</a:t>
            </a:r>
            <a:endParaRPr sz="1050">
              <a:solidFill>
                <a:srgbClr val="6A9955"/>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6A9955"/>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1050">
                <a:solidFill>
                  <a:srgbClr val="CE9178"/>
                </a:solidFill>
                <a:highlight>
                  <a:srgbClr val="1F1F1F"/>
                </a:highlight>
                <a:latin typeface="Courier New"/>
                <a:ea typeface="Courier New"/>
                <a:cs typeface="Courier New"/>
                <a:sym typeface="Courier New"/>
              </a:rPr>
              <a:t>'FPN'</a:t>
            </a:r>
            <a:r>
              <a:rPr lang="it" sz="1050">
                <a:solidFill>
                  <a:srgbClr val="9CDCFE"/>
                </a:solidFill>
                <a:highlight>
                  <a:srgbClr val="1F1F1F"/>
                </a:highlight>
                <a:latin typeface="Courier New"/>
                <a:ea typeface="Courier New"/>
                <a:cs typeface="Courier New"/>
                <a:sym typeface="Courier New"/>
              </a:rPr>
              <a:t> </a:t>
            </a:r>
            <a:r>
              <a:rPr lang="it" sz="1050">
                <a:solidFill>
                  <a:srgbClr val="D4D4D4"/>
                </a:solidFill>
                <a:highlight>
                  <a:srgbClr val="1F1F1F"/>
                </a:highlight>
                <a:latin typeface="Courier New"/>
                <a:ea typeface="Courier New"/>
                <a:cs typeface="Courier New"/>
                <a:sym typeface="Courier New"/>
              </a:rPr>
              <a:t>=</a:t>
            </a:r>
            <a:r>
              <a:rPr lang="it" sz="1050">
                <a:solidFill>
                  <a:srgbClr val="CCCCCC"/>
                </a:solidFill>
                <a:highlight>
                  <a:srgbClr val="1F1F1F"/>
                </a:highlight>
                <a:latin typeface="Courier New"/>
                <a:ea typeface="Courier New"/>
                <a:cs typeface="Courier New"/>
                <a:sym typeface="Courier New"/>
              </a:rPr>
              <a:t> </a:t>
            </a:r>
            <a:r>
              <a:rPr lang="it" sz="1050">
                <a:solidFill>
                  <a:srgbClr val="4FC1FF"/>
                </a:solidFill>
                <a:highlight>
                  <a:srgbClr val="1F1F1F"/>
                </a:highlight>
                <a:latin typeface="Courier New"/>
                <a:ea typeface="Courier New"/>
                <a:cs typeface="Courier New"/>
                <a:sym typeface="Courier New"/>
              </a:rPr>
              <a:t>(FP)</a:t>
            </a:r>
            <a:r>
              <a:rPr lang="it" sz="1050">
                <a:solidFill>
                  <a:srgbClr val="D4D4D4"/>
                </a:solidFill>
                <a:highlight>
                  <a:srgbClr val="1F1F1F"/>
                </a:highlight>
                <a:latin typeface="Courier New"/>
                <a:ea typeface="Courier New"/>
                <a:cs typeface="Courier New"/>
                <a:sym typeface="Courier New"/>
              </a:rPr>
              <a:t>/</a:t>
            </a:r>
            <a:r>
              <a:rPr lang="it" sz="1050">
                <a:solidFill>
                  <a:srgbClr val="CCCCCC"/>
                </a:solidFill>
                <a:highlight>
                  <a:srgbClr val="1F1F1F"/>
                </a:highlight>
                <a:latin typeface="Courier New"/>
                <a:ea typeface="Courier New"/>
                <a:cs typeface="Courier New"/>
                <a:sym typeface="Courier New"/>
              </a:rPr>
              <a:t>(</a:t>
            </a:r>
            <a:r>
              <a:rPr lang="it" sz="1050">
                <a:solidFill>
                  <a:srgbClr val="4FC1FF"/>
                </a:solidFill>
                <a:highlight>
                  <a:srgbClr val="1F1F1F"/>
                </a:highlight>
                <a:latin typeface="Courier New"/>
                <a:ea typeface="Courier New"/>
                <a:cs typeface="Courier New"/>
                <a:sym typeface="Courier New"/>
              </a:rPr>
              <a:t>FN</a:t>
            </a:r>
            <a:r>
              <a:rPr lang="it" sz="1050">
                <a:solidFill>
                  <a:srgbClr val="D4D4D4"/>
                </a:solidFill>
                <a:highlight>
                  <a:srgbClr val="1F1F1F"/>
                </a:highlight>
                <a:latin typeface="Courier New"/>
                <a:ea typeface="Courier New"/>
                <a:cs typeface="Courier New"/>
                <a:sym typeface="Courier New"/>
              </a:rPr>
              <a:t>+</a:t>
            </a:r>
            <a:r>
              <a:rPr lang="it" sz="1050">
                <a:solidFill>
                  <a:srgbClr val="4FC1FF"/>
                </a:solidFill>
                <a:highlight>
                  <a:srgbClr val="1F1F1F"/>
                </a:highlight>
                <a:latin typeface="Courier New"/>
                <a:ea typeface="Courier New"/>
                <a:cs typeface="Courier New"/>
                <a:sym typeface="Courier New"/>
              </a:rPr>
              <a:t>FP</a:t>
            </a:r>
            <a:r>
              <a:rPr lang="it" sz="1050">
                <a:solidFill>
                  <a:srgbClr val="CCCCCC"/>
                </a:solidFill>
                <a:highlight>
                  <a:srgbClr val="1F1F1F"/>
                </a:highlight>
                <a:latin typeface="Courier New"/>
                <a:ea typeface="Courier New"/>
                <a:cs typeface="Courier New"/>
                <a:sym typeface="Courier New"/>
              </a:rPr>
              <a:t>)</a:t>
            </a:r>
            <a:endParaRPr sz="10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C586C0"/>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CE9178"/>
              </a:solidFill>
              <a:highlight>
                <a:srgbClr val="1F1F1F"/>
              </a:highlight>
              <a:latin typeface="Courier New"/>
              <a:ea typeface="Courier New"/>
              <a:cs typeface="Courier New"/>
              <a:sym typeface="Courier New"/>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p:txBody>
      </p:sp>
      <p:pic>
        <p:nvPicPr>
          <p:cNvPr id="499" name="Google Shape;499;p77" title="Screenshot from 2025-03-21 17-09-14.png"/>
          <p:cNvPicPr preferRelativeResize="0"/>
          <p:nvPr/>
        </p:nvPicPr>
        <p:blipFill>
          <a:blip r:embed="rId3">
            <a:alphaModFix/>
          </a:blip>
          <a:stretch>
            <a:fillRect/>
          </a:stretch>
        </p:blipFill>
        <p:spPr>
          <a:xfrm>
            <a:off x="2773575" y="1337450"/>
            <a:ext cx="5814326" cy="338565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78"/>
          <p:cNvSpPr txBox="1"/>
          <p:nvPr/>
        </p:nvSpPr>
        <p:spPr>
          <a:xfrm>
            <a:off x="533875" y="1530025"/>
            <a:ext cx="6693000" cy="8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Lato"/>
              <a:ea typeface="Lato"/>
              <a:cs typeface="Lato"/>
              <a:sym typeface="Lato"/>
            </a:endParaRPr>
          </a:p>
        </p:txBody>
      </p:sp>
      <p:sp>
        <p:nvSpPr>
          <p:cNvPr id="505" name="Google Shape;505;p78"/>
          <p:cNvSpPr txBox="1"/>
          <p:nvPr/>
        </p:nvSpPr>
        <p:spPr>
          <a:xfrm>
            <a:off x="188825" y="283250"/>
            <a:ext cx="1927200" cy="23439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it" sz="850">
                <a:solidFill>
                  <a:srgbClr val="CE9178"/>
                </a:solidFill>
                <a:highlight>
                  <a:srgbClr val="1F1F1F"/>
                </a:highlight>
                <a:latin typeface="Courier New"/>
                <a:ea typeface="Courier New"/>
                <a:cs typeface="Courier New"/>
                <a:sym typeface="Courier New"/>
              </a:rPr>
              <a:t>'PPE'</a:t>
            </a:r>
            <a:r>
              <a:rPr lang="it" sz="850">
                <a:solidFill>
                  <a:srgbClr val="CCCCCC"/>
                </a:solidFill>
                <a:highlight>
                  <a:srgbClr val="1F1F1F"/>
                </a:highlight>
                <a:latin typeface="Courier New"/>
                <a:ea typeface="Courier New"/>
                <a:cs typeface="Courier New"/>
                <a:sym typeface="Courier New"/>
              </a:rPr>
              <a:t> </a:t>
            </a:r>
            <a:r>
              <a:rPr lang="it" sz="850">
                <a:solidFill>
                  <a:srgbClr val="D4D4D4"/>
                </a:solidFill>
                <a:highlight>
                  <a:srgbClr val="1F1F1F"/>
                </a:highlight>
                <a:latin typeface="Courier New"/>
                <a:ea typeface="Courier New"/>
                <a:cs typeface="Courier New"/>
                <a:sym typeface="Courier New"/>
              </a:rPr>
              <a:t>=</a:t>
            </a:r>
            <a:r>
              <a:rPr lang="it" sz="850">
                <a:solidFill>
                  <a:srgbClr val="CCCCCC"/>
                </a:solidFill>
                <a:highlight>
                  <a:srgbClr val="1F1F1F"/>
                </a:highlight>
                <a:latin typeface="Courier New"/>
                <a:ea typeface="Courier New"/>
                <a:cs typeface="Courier New"/>
                <a:sym typeface="Courier New"/>
              </a:rPr>
              <a:t> </a:t>
            </a:r>
            <a:r>
              <a:rPr lang="it" sz="850">
                <a:solidFill>
                  <a:srgbClr val="4FC1FF"/>
                </a:solidFill>
                <a:highlight>
                  <a:srgbClr val="1F1F1F"/>
                </a:highlight>
                <a:latin typeface="Courier New"/>
                <a:ea typeface="Courier New"/>
                <a:cs typeface="Courier New"/>
                <a:sym typeface="Courier New"/>
              </a:rPr>
              <a:t>(FP)</a:t>
            </a:r>
            <a:r>
              <a:rPr lang="it" sz="850">
                <a:solidFill>
                  <a:srgbClr val="D4D4D4"/>
                </a:solidFill>
                <a:highlight>
                  <a:srgbClr val="1F1F1F"/>
                </a:highlight>
                <a:latin typeface="Courier New"/>
                <a:ea typeface="Courier New"/>
                <a:cs typeface="Courier New"/>
                <a:sym typeface="Courier New"/>
              </a:rPr>
              <a:t>/</a:t>
            </a:r>
            <a:r>
              <a:rPr lang="it" sz="850">
                <a:solidFill>
                  <a:srgbClr val="CCCCCC"/>
                </a:solidFill>
                <a:highlight>
                  <a:srgbClr val="1F1F1F"/>
                </a:highlight>
                <a:latin typeface="Courier New"/>
                <a:ea typeface="Courier New"/>
                <a:cs typeface="Courier New"/>
                <a:sym typeface="Courier New"/>
              </a:rPr>
              <a:t>(</a:t>
            </a:r>
            <a:r>
              <a:rPr lang="it" sz="850">
                <a:solidFill>
                  <a:srgbClr val="4FC1FF"/>
                </a:solidFill>
                <a:highlight>
                  <a:srgbClr val="1F1F1F"/>
                </a:highlight>
                <a:latin typeface="Courier New"/>
                <a:ea typeface="Courier New"/>
                <a:cs typeface="Courier New"/>
                <a:sym typeface="Courier New"/>
              </a:rPr>
              <a:t>TN</a:t>
            </a:r>
            <a:r>
              <a:rPr lang="it" sz="850">
                <a:solidFill>
                  <a:srgbClr val="D4D4D4"/>
                </a:solidFill>
                <a:highlight>
                  <a:srgbClr val="1F1F1F"/>
                </a:highlight>
                <a:latin typeface="Courier New"/>
                <a:ea typeface="Courier New"/>
                <a:cs typeface="Courier New"/>
                <a:sym typeface="Courier New"/>
              </a:rPr>
              <a:t>+</a:t>
            </a:r>
            <a:r>
              <a:rPr lang="it" sz="850">
                <a:solidFill>
                  <a:srgbClr val="4FC1FF"/>
                </a:solidFill>
                <a:highlight>
                  <a:srgbClr val="1F1F1F"/>
                </a:highlight>
                <a:latin typeface="Courier New"/>
                <a:ea typeface="Courier New"/>
                <a:cs typeface="Courier New"/>
                <a:sym typeface="Courier New"/>
              </a:rPr>
              <a:t>FP</a:t>
            </a:r>
            <a:r>
              <a:rPr lang="it" sz="850">
                <a:solidFill>
                  <a:srgbClr val="CCCCCC"/>
                </a:solidFill>
                <a:highlight>
                  <a:srgbClr val="1F1F1F"/>
                </a:highlight>
                <a:latin typeface="Courier New"/>
                <a:ea typeface="Courier New"/>
                <a:cs typeface="Courier New"/>
                <a:sym typeface="Courier New"/>
              </a:rPr>
              <a:t>) </a:t>
            </a:r>
            <a:endParaRPr sz="8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rgbClr val="6A9955"/>
                </a:solidFill>
                <a:highlight>
                  <a:srgbClr val="1F1F1F"/>
                </a:highlight>
                <a:latin typeface="Courier New"/>
                <a:ea typeface="Courier New"/>
                <a:cs typeface="Courier New"/>
                <a:sym typeface="Courier New"/>
              </a:rPr>
              <a:t>#PredictiveEquality or </a:t>
            </a:r>
            <a:endParaRPr sz="850">
              <a:solidFill>
                <a:srgbClr val="6A9955"/>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rgbClr val="6A9955"/>
                </a:solidFill>
                <a:highlight>
                  <a:srgbClr val="1F1F1F"/>
                </a:highlight>
                <a:latin typeface="Courier New"/>
                <a:ea typeface="Courier New"/>
                <a:cs typeface="Courier New"/>
                <a:sym typeface="Courier New"/>
              </a:rPr>
              <a:t>FalsePositiveRate (FPR)</a:t>
            </a:r>
            <a:endParaRPr sz="850">
              <a:solidFill>
                <a:srgbClr val="6A9955"/>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850">
              <a:solidFill>
                <a:srgbClr val="6A9955"/>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rgbClr val="CE9178"/>
                </a:solidFill>
                <a:highlight>
                  <a:srgbClr val="1F1F1F"/>
                </a:highlight>
                <a:latin typeface="Courier New"/>
                <a:ea typeface="Courier New"/>
                <a:cs typeface="Courier New"/>
                <a:sym typeface="Courier New"/>
              </a:rPr>
              <a:t>'FPR' </a:t>
            </a:r>
            <a:r>
              <a:rPr lang="it" sz="850">
                <a:solidFill>
                  <a:srgbClr val="D4D4D4"/>
                </a:solidFill>
                <a:highlight>
                  <a:srgbClr val="1F1F1F"/>
                </a:highlight>
                <a:latin typeface="Courier New"/>
                <a:ea typeface="Courier New"/>
                <a:cs typeface="Courier New"/>
                <a:sym typeface="Courier New"/>
              </a:rPr>
              <a:t>=</a:t>
            </a:r>
            <a:r>
              <a:rPr lang="it" sz="850">
                <a:solidFill>
                  <a:srgbClr val="CCCCCC"/>
                </a:solidFill>
                <a:highlight>
                  <a:srgbClr val="1F1F1F"/>
                </a:highlight>
                <a:latin typeface="Courier New"/>
                <a:ea typeface="Courier New"/>
                <a:cs typeface="Courier New"/>
                <a:sym typeface="Courier New"/>
              </a:rPr>
              <a:t> </a:t>
            </a:r>
            <a:r>
              <a:rPr lang="it" sz="850">
                <a:solidFill>
                  <a:srgbClr val="4FC1FF"/>
                </a:solidFill>
                <a:highlight>
                  <a:srgbClr val="1F1F1F"/>
                </a:highlight>
                <a:latin typeface="Courier New"/>
                <a:ea typeface="Courier New"/>
                <a:cs typeface="Courier New"/>
                <a:sym typeface="Courier New"/>
              </a:rPr>
              <a:t>(FP)</a:t>
            </a:r>
            <a:r>
              <a:rPr lang="it" sz="850">
                <a:solidFill>
                  <a:srgbClr val="D4D4D4"/>
                </a:solidFill>
                <a:highlight>
                  <a:srgbClr val="1F1F1F"/>
                </a:highlight>
                <a:latin typeface="Courier New"/>
                <a:ea typeface="Courier New"/>
                <a:cs typeface="Courier New"/>
                <a:sym typeface="Courier New"/>
              </a:rPr>
              <a:t>/</a:t>
            </a:r>
            <a:r>
              <a:rPr lang="it" sz="850">
                <a:solidFill>
                  <a:srgbClr val="CCCCCC"/>
                </a:solidFill>
                <a:highlight>
                  <a:srgbClr val="1F1F1F"/>
                </a:highlight>
                <a:latin typeface="Courier New"/>
                <a:ea typeface="Courier New"/>
                <a:cs typeface="Courier New"/>
                <a:sym typeface="Courier New"/>
              </a:rPr>
              <a:t>(</a:t>
            </a:r>
            <a:r>
              <a:rPr lang="it" sz="850">
                <a:solidFill>
                  <a:srgbClr val="4FC1FF"/>
                </a:solidFill>
                <a:highlight>
                  <a:srgbClr val="1F1F1F"/>
                </a:highlight>
                <a:latin typeface="Courier New"/>
                <a:ea typeface="Courier New"/>
                <a:cs typeface="Courier New"/>
                <a:sym typeface="Courier New"/>
              </a:rPr>
              <a:t>TP</a:t>
            </a:r>
            <a:r>
              <a:rPr lang="it" sz="850">
                <a:solidFill>
                  <a:srgbClr val="D4D4D4"/>
                </a:solidFill>
                <a:highlight>
                  <a:srgbClr val="1F1F1F"/>
                </a:highlight>
                <a:latin typeface="Courier New"/>
                <a:ea typeface="Courier New"/>
                <a:cs typeface="Courier New"/>
                <a:sym typeface="Courier New"/>
              </a:rPr>
              <a:t>+</a:t>
            </a:r>
            <a:r>
              <a:rPr lang="it" sz="850">
                <a:solidFill>
                  <a:srgbClr val="4FC1FF"/>
                </a:solidFill>
                <a:highlight>
                  <a:srgbClr val="1F1F1F"/>
                </a:highlight>
                <a:latin typeface="Courier New"/>
                <a:ea typeface="Courier New"/>
                <a:cs typeface="Courier New"/>
                <a:sym typeface="Courier New"/>
              </a:rPr>
              <a:t>FP</a:t>
            </a:r>
            <a:r>
              <a:rPr lang="it" sz="850">
                <a:solidFill>
                  <a:srgbClr val="CCCCCC"/>
                </a:solidFill>
                <a:highlight>
                  <a:srgbClr val="1F1F1F"/>
                </a:highlight>
                <a:latin typeface="Courier New"/>
                <a:ea typeface="Courier New"/>
                <a:cs typeface="Courier New"/>
                <a:sym typeface="Courier New"/>
              </a:rPr>
              <a:t>) </a:t>
            </a:r>
            <a:endParaRPr sz="8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rgbClr val="6A9955"/>
                </a:solidFill>
                <a:highlight>
                  <a:srgbClr val="1F1F1F"/>
                </a:highlight>
                <a:latin typeface="Courier New"/>
                <a:ea typeface="Courier New"/>
                <a:cs typeface="Courier New"/>
                <a:sym typeface="Courier New"/>
              </a:rPr>
              <a:t>#FalsDiscoveryRate</a:t>
            </a:r>
            <a:endParaRPr sz="850">
              <a:solidFill>
                <a:srgbClr val="6A9955"/>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850">
              <a:solidFill>
                <a:srgbClr val="6A9955"/>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rgbClr val="CE9178"/>
                </a:solidFill>
                <a:highlight>
                  <a:srgbClr val="1F1F1F"/>
                </a:highlight>
                <a:latin typeface="Courier New"/>
                <a:ea typeface="Courier New"/>
                <a:cs typeface="Courier New"/>
                <a:sym typeface="Courier New"/>
              </a:rPr>
              <a:t>'FPP'</a:t>
            </a:r>
            <a:r>
              <a:rPr lang="it" sz="850">
                <a:solidFill>
                  <a:srgbClr val="CCCCCC"/>
                </a:solidFill>
                <a:highlight>
                  <a:srgbClr val="1F1F1F"/>
                </a:highlight>
                <a:latin typeface="Courier New"/>
                <a:ea typeface="Courier New"/>
                <a:cs typeface="Courier New"/>
                <a:sym typeface="Courier New"/>
              </a:rPr>
              <a:t> </a:t>
            </a:r>
            <a:r>
              <a:rPr lang="it" sz="850">
                <a:solidFill>
                  <a:srgbClr val="D4D4D4"/>
                </a:solidFill>
                <a:highlight>
                  <a:srgbClr val="1F1F1F"/>
                </a:highlight>
                <a:latin typeface="Courier New"/>
                <a:ea typeface="Courier New"/>
                <a:cs typeface="Courier New"/>
                <a:sym typeface="Courier New"/>
              </a:rPr>
              <a:t>=</a:t>
            </a:r>
            <a:r>
              <a:rPr lang="it" sz="850">
                <a:solidFill>
                  <a:srgbClr val="CCCCCC"/>
                </a:solidFill>
                <a:highlight>
                  <a:srgbClr val="1F1F1F"/>
                </a:highlight>
                <a:latin typeface="Courier New"/>
                <a:ea typeface="Courier New"/>
                <a:cs typeface="Courier New"/>
                <a:sym typeface="Courier New"/>
              </a:rPr>
              <a:t> </a:t>
            </a:r>
            <a:r>
              <a:rPr lang="it" sz="850">
                <a:solidFill>
                  <a:srgbClr val="4FC1FF"/>
                </a:solidFill>
                <a:highlight>
                  <a:srgbClr val="1F1F1F"/>
                </a:highlight>
                <a:latin typeface="Courier New"/>
                <a:ea typeface="Courier New"/>
                <a:cs typeface="Courier New"/>
                <a:sym typeface="Courier New"/>
              </a:rPr>
              <a:t>(FP)</a:t>
            </a:r>
            <a:r>
              <a:rPr lang="it" sz="850">
                <a:solidFill>
                  <a:srgbClr val="D4D4D4"/>
                </a:solidFill>
                <a:highlight>
                  <a:srgbClr val="1F1F1F"/>
                </a:highlight>
                <a:latin typeface="Courier New"/>
                <a:ea typeface="Courier New"/>
                <a:cs typeface="Courier New"/>
                <a:sym typeface="Courier New"/>
              </a:rPr>
              <a:t>/</a:t>
            </a:r>
            <a:r>
              <a:rPr lang="it" sz="850">
                <a:solidFill>
                  <a:srgbClr val="9CDCFE"/>
                </a:solidFill>
                <a:highlight>
                  <a:srgbClr val="1F1F1F"/>
                </a:highlight>
                <a:latin typeface="Courier New"/>
                <a:ea typeface="Courier New"/>
                <a:cs typeface="Courier New"/>
                <a:sym typeface="Courier New"/>
              </a:rPr>
              <a:t>len_group</a:t>
            </a:r>
            <a:r>
              <a:rPr lang="it" sz="850">
                <a:solidFill>
                  <a:srgbClr val="CCCCCC"/>
                </a:solidFill>
                <a:highlight>
                  <a:srgbClr val="1F1F1F"/>
                </a:highlight>
                <a:latin typeface="Courier New"/>
                <a:ea typeface="Courier New"/>
                <a:cs typeface="Courier New"/>
                <a:sym typeface="Courier New"/>
              </a:rPr>
              <a:t> </a:t>
            </a:r>
            <a:endParaRPr sz="8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rgbClr val="6A9955"/>
                </a:solidFill>
                <a:highlight>
                  <a:srgbClr val="1F1F1F"/>
                </a:highlight>
                <a:latin typeface="Courier New"/>
                <a:ea typeface="Courier New"/>
                <a:cs typeface="Courier New"/>
                <a:sym typeface="Courier New"/>
              </a:rPr>
              <a:t>#FalsePositiveParity</a:t>
            </a:r>
            <a:endParaRPr sz="850">
              <a:solidFill>
                <a:srgbClr val="6A9955"/>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850">
              <a:solidFill>
                <a:srgbClr val="6A9955"/>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it" sz="850">
                <a:solidFill>
                  <a:srgbClr val="CE9178"/>
                </a:solidFill>
                <a:highlight>
                  <a:srgbClr val="1F1F1F"/>
                </a:highlight>
                <a:latin typeface="Courier New"/>
                <a:ea typeface="Courier New"/>
                <a:cs typeface="Courier New"/>
                <a:sym typeface="Courier New"/>
              </a:rPr>
              <a:t>'FPN'</a:t>
            </a:r>
            <a:r>
              <a:rPr lang="it" sz="850">
                <a:solidFill>
                  <a:srgbClr val="9CDCFE"/>
                </a:solidFill>
                <a:highlight>
                  <a:srgbClr val="1F1F1F"/>
                </a:highlight>
                <a:latin typeface="Courier New"/>
                <a:ea typeface="Courier New"/>
                <a:cs typeface="Courier New"/>
                <a:sym typeface="Courier New"/>
              </a:rPr>
              <a:t> </a:t>
            </a:r>
            <a:r>
              <a:rPr lang="it" sz="850">
                <a:solidFill>
                  <a:srgbClr val="D4D4D4"/>
                </a:solidFill>
                <a:highlight>
                  <a:srgbClr val="1F1F1F"/>
                </a:highlight>
                <a:latin typeface="Courier New"/>
                <a:ea typeface="Courier New"/>
                <a:cs typeface="Courier New"/>
                <a:sym typeface="Courier New"/>
              </a:rPr>
              <a:t>=</a:t>
            </a:r>
            <a:r>
              <a:rPr lang="it" sz="850">
                <a:solidFill>
                  <a:srgbClr val="CCCCCC"/>
                </a:solidFill>
                <a:highlight>
                  <a:srgbClr val="1F1F1F"/>
                </a:highlight>
                <a:latin typeface="Courier New"/>
                <a:ea typeface="Courier New"/>
                <a:cs typeface="Courier New"/>
                <a:sym typeface="Courier New"/>
              </a:rPr>
              <a:t> </a:t>
            </a:r>
            <a:r>
              <a:rPr lang="it" sz="850">
                <a:solidFill>
                  <a:srgbClr val="4FC1FF"/>
                </a:solidFill>
                <a:highlight>
                  <a:srgbClr val="1F1F1F"/>
                </a:highlight>
                <a:latin typeface="Courier New"/>
                <a:ea typeface="Courier New"/>
                <a:cs typeface="Courier New"/>
                <a:sym typeface="Courier New"/>
              </a:rPr>
              <a:t>(FP)</a:t>
            </a:r>
            <a:r>
              <a:rPr lang="it" sz="850">
                <a:solidFill>
                  <a:srgbClr val="D4D4D4"/>
                </a:solidFill>
                <a:highlight>
                  <a:srgbClr val="1F1F1F"/>
                </a:highlight>
                <a:latin typeface="Courier New"/>
                <a:ea typeface="Courier New"/>
                <a:cs typeface="Courier New"/>
                <a:sym typeface="Courier New"/>
              </a:rPr>
              <a:t>/</a:t>
            </a:r>
            <a:r>
              <a:rPr lang="it" sz="850">
                <a:solidFill>
                  <a:srgbClr val="CCCCCC"/>
                </a:solidFill>
                <a:highlight>
                  <a:srgbClr val="1F1F1F"/>
                </a:highlight>
                <a:latin typeface="Courier New"/>
                <a:ea typeface="Courier New"/>
                <a:cs typeface="Courier New"/>
                <a:sym typeface="Courier New"/>
              </a:rPr>
              <a:t>(</a:t>
            </a:r>
            <a:r>
              <a:rPr lang="it" sz="850">
                <a:solidFill>
                  <a:srgbClr val="4FC1FF"/>
                </a:solidFill>
                <a:highlight>
                  <a:srgbClr val="1F1F1F"/>
                </a:highlight>
                <a:latin typeface="Courier New"/>
                <a:ea typeface="Courier New"/>
                <a:cs typeface="Courier New"/>
                <a:sym typeface="Courier New"/>
              </a:rPr>
              <a:t>FN</a:t>
            </a:r>
            <a:r>
              <a:rPr lang="it" sz="850">
                <a:solidFill>
                  <a:srgbClr val="D4D4D4"/>
                </a:solidFill>
                <a:highlight>
                  <a:srgbClr val="1F1F1F"/>
                </a:highlight>
                <a:latin typeface="Courier New"/>
                <a:ea typeface="Courier New"/>
                <a:cs typeface="Courier New"/>
                <a:sym typeface="Courier New"/>
              </a:rPr>
              <a:t>+</a:t>
            </a:r>
            <a:r>
              <a:rPr lang="it" sz="850">
                <a:solidFill>
                  <a:srgbClr val="4FC1FF"/>
                </a:solidFill>
                <a:highlight>
                  <a:srgbClr val="1F1F1F"/>
                </a:highlight>
                <a:latin typeface="Courier New"/>
                <a:ea typeface="Courier New"/>
                <a:cs typeface="Courier New"/>
                <a:sym typeface="Courier New"/>
              </a:rPr>
              <a:t>FP</a:t>
            </a:r>
            <a:r>
              <a:rPr lang="it" sz="850">
                <a:solidFill>
                  <a:srgbClr val="CCCCCC"/>
                </a:solidFill>
                <a:highlight>
                  <a:srgbClr val="1F1F1F"/>
                </a:highlight>
                <a:latin typeface="Courier New"/>
                <a:ea typeface="Courier New"/>
                <a:cs typeface="Courier New"/>
                <a:sym typeface="Courier New"/>
              </a:rPr>
              <a:t>)</a:t>
            </a:r>
            <a:endParaRPr sz="8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C586C0"/>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CE9178"/>
              </a:solidFill>
              <a:highlight>
                <a:srgbClr val="1F1F1F"/>
              </a:highlight>
              <a:latin typeface="Courier New"/>
              <a:ea typeface="Courier New"/>
              <a:cs typeface="Courier New"/>
              <a:sym typeface="Courier New"/>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p:txBody>
      </p:sp>
      <p:pic>
        <p:nvPicPr>
          <p:cNvPr id="506" name="Google Shape;506;p78" title="Screenshot from 2025-03-21 17-24-40.png"/>
          <p:cNvPicPr preferRelativeResize="0"/>
          <p:nvPr/>
        </p:nvPicPr>
        <p:blipFill>
          <a:blip r:embed="rId3">
            <a:alphaModFix/>
          </a:blip>
          <a:stretch>
            <a:fillRect/>
          </a:stretch>
        </p:blipFill>
        <p:spPr>
          <a:xfrm>
            <a:off x="4378025" y="2763325"/>
            <a:ext cx="4314076" cy="2078803"/>
          </a:xfrm>
          <a:prstGeom prst="rect">
            <a:avLst/>
          </a:prstGeom>
          <a:noFill/>
          <a:ln>
            <a:noFill/>
          </a:ln>
        </p:spPr>
      </p:pic>
      <p:pic>
        <p:nvPicPr>
          <p:cNvPr id="507" name="Google Shape;507;p78"/>
          <p:cNvPicPr preferRelativeResize="0"/>
          <p:nvPr/>
        </p:nvPicPr>
        <p:blipFill>
          <a:blip r:embed="rId4">
            <a:alphaModFix/>
          </a:blip>
          <a:stretch>
            <a:fillRect/>
          </a:stretch>
        </p:blipFill>
        <p:spPr>
          <a:xfrm>
            <a:off x="5742500" y="310237"/>
            <a:ext cx="3122499" cy="2113625"/>
          </a:xfrm>
          <a:prstGeom prst="rect">
            <a:avLst/>
          </a:prstGeom>
          <a:noFill/>
          <a:ln>
            <a:noFill/>
          </a:ln>
        </p:spPr>
      </p:pic>
      <p:pic>
        <p:nvPicPr>
          <p:cNvPr id="508" name="Google Shape;508;p78" title="Screenshot from 2025-03-21 17-25-59.png"/>
          <p:cNvPicPr preferRelativeResize="0"/>
          <p:nvPr/>
        </p:nvPicPr>
        <p:blipFill>
          <a:blip r:embed="rId5">
            <a:alphaModFix/>
          </a:blip>
          <a:stretch>
            <a:fillRect/>
          </a:stretch>
        </p:blipFill>
        <p:spPr>
          <a:xfrm>
            <a:off x="1956500" y="208351"/>
            <a:ext cx="3423550" cy="2317399"/>
          </a:xfrm>
          <a:prstGeom prst="rect">
            <a:avLst/>
          </a:prstGeom>
          <a:noFill/>
          <a:ln>
            <a:noFill/>
          </a:ln>
        </p:spPr>
      </p:pic>
      <p:pic>
        <p:nvPicPr>
          <p:cNvPr id="509" name="Google Shape;509;p78" title="Screenshot from 2025-03-21 17-26-11.png"/>
          <p:cNvPicPr preferRelativeResize="0"/>
          <p:nvPr/>
        </p:nvPicPr>
        <p:blipFill>
          <a:blip r:embed="rId6">
            <a:alphaModFix/>
          </a:blip>
          <a:stretch>
            <a:fillRect/>
          </a:stretch>
        </p:blipFill>
        <p:spPr>
          <a:xfrm>
            <a:off x="273449" y="2604198"/>
            <a:ext cx="3541200" cy="2397052"/>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pic>
        <p:nvPicPr>
          <p:cNvPr id="514" name="Google Shape;514;p79" title="Screenshot from 2025-03-21 17-25-59.png"/>
          <p:cNvPicPr preferRelativeResize="0"/>
          <p:nvPr/>
        </p:nvPicPr>
        <p:blipFill>
          <a:blip r:embed="rId3">
            <a:alphaModFix/>
          </a:blip>
          <a:stretch>
            <a:fillRect/>
          </a:stretch>
        </p:blipFill>
        <p:spPr>
          <a:xfrm>
            <a:off x="334725" y="1041725"/>
            <a:ext cx="4376449" cy="2962400"/>
          </a:xfrm>
          <a:prstGeom prst="rect">
            <a:avLst/>
          </a:prstGeom>
          <a:noFill/>
          <a:ln>
            <a:noFill/>
          </a:ln>
        </p:spPr>
      </p:pic>
      <p:pic>
        <p:nvPicPr>
          <p:cNvPr id="515" name="Google Shape;515;p79" title="Screenshot from 2025-03-21 17-32-36.png"/>
          <p:cNvPicPr preferRelativeResize="0"/>
          <p:nvPr/>
        </p:nvPicPr>
        <p:blipFill>
          <a:blip r:embed="rId4">
            <a:alphaModFix/>
          </a:blip>
          <a:stretch>
            <a:fillRect/>
          </a:stretch>
        </p:blipFill>
        <p:spPr>
          <a:xfrm>
            <a:off x="4984800" y="705825"/>
            <a:ext cx="4013325" cy="3155074"/>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pic>
        <p:nvPicPr>
          <p:cNvPr id="520" name="Google Shape;520;p80" title="Screenshot from 2025-03-21 17-32-42.png"/>
          <p:cNvPicPr preferRelativeResize="0"/>
          <p:nvPr/>
        </p:nvPicPr>
        <p:blipFill>
          <a:blip r:embed="rId3">
            <a:alphaModFix/>
          </a:blip>
          <a:stretch>
            <a:fillRect/>
          </a:stretch>
        </p:blipFill>
        <p:spPr>
          <a:xfrm>
            <a:off x="4924825" y="651075"/>
            <a:ext cx="4096100" cy="3220150"/>
          </a:xfrm>
          <a:prstGeom prst="rect">
            <a:avLst/>
          </a:prstGeom>
          <a:noFill/>
          <a:ln>
            <a:noFill/>
          </a:ln>
        </p:spPr>
      </p:pic>
      <p:pic>
        <p:nvPicPr>
          <p:cNvPr id="521" name="Google Shape;521;p80" title="Screenshot from 2025-03-21 17-26-20.png"/>
          <p:cNvPicPr preferRelativeResize="0"/>
          <p:nvPr/>
        </p:nvPicPr>
        <p:blipFill>
          <a:blip r:embed="rId4">
            <a:alphaModFix/>
          </a:blip>
          <a:stretch>
            <a:fillRect/>
          </a:stretch>
        </p:blipFill>
        <p:spPr>
          <a:xfrm>
            <a:off x="145875" y="743925"/>
            <a:ext cx="4620025" cy="3127298"/>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pic>
        <p:nvPicPr>
          <p:cNvPr id="526" name="Google Shape;526;p81" title="Screenshot from 2025-03-21 17-32-48.png"/>
          <p:cNvPicPr preferRelativeResize="0"/>
          <p:nvPr/>
        </p:nvPicPr>
        <p:blipFill>
          <a:blip r:embed="rId3">
            <a:alphaModFix/>
          </a:blip>
          <a:stretch>
            <a:fillRect/>
          </a:stretch>
        </p:blipFill>
        <p:spPr>
          <a:xfrm>
            <a:off x="4325800" y="652425"/>
            <a:ext cx="4620024" cy="3632023"/>
          </a:xfrm>
          <a:prstGeom prst="rect">
            <a:avLst/>
          </a:prstGeom>
          <a:noFill/>
          <a:ln>
            <a:noFill/>
          </a:ln>
        </p:spPr>
      </p:pic>
      <p:pic>
        <p:nvPicPr>
          <p:cNvPr id="527" name="Google Shape;527;p81" title="Screenshot from 2025-03-21 17-26-11.png"/>
          <p:cNvPicPr preferRelativeResize="0"/>
          <p:nvPr/>
        </p:nvPicPr>
        <p:blipFill>
          <a:blip r:embed="rId4">
            <a:alphaModFix/>
          </a:blip>
          <a:stretch>
            <a:fillRect/>
          </a:stretch>
        </p:blipFill>
        <p:spPr>
          <a:xfrm>
            <a:off x="152449" y="1199763"/>
            <a:ext cx="4053752" cy="2743987"/>
          </a:xfrm>
          <a:prstGeom prst="rect">
            <a:avLst/>
          </a:prstGeom>
          <a:noFill/>
          <a:ln>
            <a:noFill/>
          </a:ln>
        </p:spPr>
      </p:pic>
      <p:sp>
        <p:nvSpPr>
          <p:cNvPr id="528" name="Google Shape;528;p81"/>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a:t>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pic>
        <p:nvPicPr>
          <p:cNvPr id="533" name="Google Shape;533;p82" title="Screenshot from 2025-03-21 17-24-40.png"/>
          <p:cNvPicPr preferRelativeResize="0"/>
          <p:nvPr/>
        </p:nvPicPr>
        <p:blipFill>
          <a:blip r:embed="rId3">
            <a:alphaModFix/>
          </a:blip>
          <a:stretch>
            <a:fillRect/>
          </a:stretch>
        </p:blipFill>
        <p:spPr>
          <a:xfrm>
            <a:off x="139375" y="63975"/>
            <a:ext cx="5204325" cy="2507775"/>
          </a:xfrm>
          <a:prstGeom prst="rect">
            <a:avLst/>
          </a:prstGeom>
          <a:noFill/>
          <a:ln>
            <a:noFill/>
          </a:ln>
        </p:spPr>
      </p:pic>
      <p:pic>
        <p:nvPicPr>
          <p:cNvPr id="534" name="Google Shape;534;p82" title="Screenshot from 2025-03-21 17-33-15.png"/>
          <p:cNvPicPr preferRelativeResize="0"/>
          <p:nvPr/>
        </p:nvPicPr>
        <p:blipFill>
          <a:blip r:embed="rId4">
            <a:alphaModFix/>
          </a:blip>
          <a:stretch>
            <a:fillRect/>
          </a:stretch>
        </p:blipFill>
        <p:spPr>
          <a:xfrm>
            <a:off x="4446850" y="2571750"/>
            <a:ext cx="4584124" cy="2617751"/>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83"/>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Greedy </a:t>
            </a:r>
            <a:endParaRPr/>
          </a:p>
          <a:p>
            <a:pPr indent="0" lvl="0" marL="0" rtl="0" algn="l">
              <a:spcBef>
                <a:spcPts val="0"/>
              </a:spcBef>
              <a:spcAft>
                <a:spcPts val="0"/>
              </a:spcAft>
              <a:buNone/>
            </a:pPr>
            <a:r>
              <a:rPr lang="it"/>
              <a:t>approach</a:t>
            </a:r>
            <a:endParaRPr/>
          </a:p>
        </p:txBody>
      </p:sp>
      <p:pic>
        <p:nvPicPr>
          <p:cNvPr id="540" name="Google Shape;540;p83"/>
          <p:cNvPicPr preferRelativeResize="0"/>
          <p:nvPr/>
        </p:nvPicPr>
        <p:blipFill rotWithShape="1">
          <a:blip r:embed="rId3">
            <a:alphaModFix/>
          </a:blip>
          <a:srcRect b="4614" l="3346" r="2906" t="1787"/>
          <a:stretch/>
        </p:blipFill>
        <p:spPr>
          <a:xfrm>
            <a:off x="2760550" y="328538"/>
            <a:ext cx="5991725" cy="4486427"/>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84"/>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Problem Statement</a:t>
            </a:r>
            <a:endParaRPr/>
          </a:p>
        </p:txBody>
      </p:sp>
      <p:sp>
        <p:nvSpPr>
          <p:cNvPr id="546" name="Google Shape;546;p8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it">
                <a:solidFill>
                  <a:schemeClr val="lt1"/>
                </a:solidFill>
              </a:rPr>
              <a:t>‹#›</a:t>
            </a:fld>
            <a:endParaRPr>
              <a:solidFill>
                <a:schemeClr val="lt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85"/>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Problem Statement</a:t>
            </a:r>
            <a:endParaRPr/>
          </a:p>
        </p:txBody>
      </p:sp>
      <p:sp>
        <p:nvSpPr>
          <p:cNvPr id="552" name="Google Shape;552;p85"/>
          <p:cNvSpPr txBox="1"/>
          <p:nvPr/>
        </p:nvSpPr>
        <p:spPr>
          <a:xfrm>
            <a:off x="540300" y="1150625"/>
            <a:ext cx="8150400" cy="323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800">
                <a:solidFill>
                  <a:schemeClr val="dk2"/>
                </a:solidFill>
                <a:latin typeface="Lato"/>
                <a:ea typeface="Lato"/>
                <a:cs typeface="Lato"/>
                <a:sym typeface="Lato"/>
              </a:rPr>
              <a:t>Given a dataset D with N protected attributes and a set G of all possible subgroups, for a binary classification task,</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rPr lang="it" sz="1800">
                <a:solidFill>
                  <a:schemeClr val="dk2"/>
                </a:solidFill>
                <a:latin typeface="Lato"/>
                <a:ea typeface="Lato"/>
                <a:cs typeface="Lato"/>
                <a:sym typeface="Lato"/>
              </a:rPr>
              <a:t>DISCOVER AUTOMATICALLY  all surprising penalized/favored subgroups:</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in </a:t>
            </a:r>
            <a:r>
              <a:rPr b="1" lang="it" sz="1800">
                <a:solidFill>
                  <a:schemeClr val="dk2"/>
                </a:solidFill>
                <a:latin typeface="Lato"/>
                <a:ea typeface="Lato"/>
                <a:cs typeface="Lato"/>
                <a:sym typeface="Lato"/>
              </a:rPr>
              <a:t>linear complexity O(N*G) →</a:t>
            </a:r>
            <a:r>
              <a:rPr lang="it" sz="1800">
                <a:solidFill>
                  <a:schemeClr val="dk2"/>
                </a:solidFill>
                <a:latin typeface="Lato"/>
                <a:ea typeface="Lato"/>
                <a:cs typeface="Lato"/>
                <a:sym typeface="Lato"/>
              </a:rPr>
              <a:t> (could be O(N+1)?)</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with </a:t>
            </a:r>
            <a:r>
              <a:rPr b="1" lang="it" sz="1800">
                <a:solidFill>
                  <a:schemeClr val="dk2"/>
                </a:solidFill>
                <a:latin typeface="Lato"/>
                <a:ea typeface="Lato"/>
                <a:cs typeface="Lato"/>
                <a:sym typeface="Lato"/>
              </a:rPr>
              <a:t>ML-model agnostic way</a:t>
            </a:r>
            <a:endParaRPr b="1"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giving a </a:t>
            </a:r>
            <a:r>
              <a:rPr b="1" lang="it" sz="1800">
                <a:solidFill>
                  <a:schemeClr val="dk2"/>
                </a:solidFill>
                <a:latin typeface="Lato"/>
                <a:ea typeface="Lato"/>
                <a:cs typeface="Lato"/>
                <a:sym typeface="Lato"/>
              </a:rPr>
              <a:t>easily understandable and interpretable motivation</a:t>
            </a:r>
            <a:endParaRPr b="1"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b="1" lang="it" sz="1800">
                <a:solidFill>
                  <a:schemeClr val="dk2"/>
                </a:solidFill>
                <a:latin typeface="Lato"/>
                <a:ea typeface="Lato"/>
                <a:cs typeface="Lato"/>
                <a:sym typeface="Lato"/>
              </a:rPr>
              <a:t>without being </a:t>
            </a:r>
            <a:r>
              <a:rPr b="1" lang="it" sz="1800">
                <a:solidFill>
                  <a:schemeClr val="dk2"/>
                </a:solidFill>
                <a:latin typeface="Lato"/>
                <a:ea typeface="Lato"/>
                <a:cs typeface="Lato"/>
                <a:sym typeface="Lato"/>
              </a:rPr>
              <a:t>constrained</a:t>
            </a:r>
            <a:r>
              <a:rPr b="1" lang="it" sz="1800">
                <a:solidFill>
                  <a:schemeClr val="dk2"/>
                </a:solidFill>
                <a:latin typeface="Lato"/>
                <a:ea typeface="Lato"/>
                <a:cs typeface="Lato"/>
                <a:sym typeface="Lato"/>
              </a:rPr>
              <a:t> </a:t>
            </a:r>
            <a:r>
              <a:rPr lang="it" sz="1800">
                <a:solidFill>
                  <a:schemeClr val="dk2"/>
                </a:solidFill>
                <a:latin typeface="Lato"/>
                <a:ea typeface="Lato"/>
                <a:cs typeface="Lato"/>
                <a:sym typeface="Lato"/>
              </a:rPr>
              <a:t>to any </a:t>
            </a:r>
            <a:r>
              <a:rPr b="1" lang="it" sz="1800">
                <a:solidFill>
                  <a:schemeClr val="dk2"/>
                </a:solidFill>
                <a:latin typeface="Lato"/>
                <a:ea typeface="Lato"/>
                <a:cs typeface="Lato"/>
                <a:sym typeface="Lato"/>
              </a:rPr>
              <a:t>specific statistical fairness metric</a:t>
            </a:r>
            <a:r>
              <a:rPr lang="it" sz="1800">
                <a:solidFill>
                  <a:schemeClr val="dk2"/>
                </a:solidFill>
                <a:latin typeface="Lato"/>
                <a:ea typeface="Lato"/>
                <a:cs typeface="Lato"/>
                <a:sym typeface="Lato"/>
              </a:rPr>
              <a:t>.</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rPr lang="it" sz="1800">
                <a:solidFill>
                  <a:schemeClr val="dk2"/>
                </a:solidFill>
                <a:latin typeface="Lato"/>
                <a:ea typeface="Lato"/>
                <a:cs typeface="Lato"/>
                <a:sym typeface="Lato"/>
              </a:rPr>
              <a:t>AND MITIGATE THEM …</a:t>
            </a:r>
            <a:endParaRPr sz="1800">
              <a:solidFill>
                <a:schemeClr val="dk2"/>
              </a:solidFill>
              <a:latin typeface="Lato"/>
              <a:ea typeface="Lato"/>
              <a:cs typeface="Lato"/>
              <a:sym typeface="Lato"/>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8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Problem Statement</a:t>
            </a:r>
            <a:endParaRPr/>
          </a:p>
        </p:txBody>
      </p:sp>
      <p:sp>
        <p:nvSpPr>
          <p:cNvPr id="558" name="Google Shape;558;p86"/>
          <p:cNvSpPr txBox="1"/>
          <p:nvPr/>
        </p:nvSpPr>
        <p:spPr>
          <a:xfrm>
            <a:off x="540300" y="1150625"/>
            <a:ext cx="5605800" cy="3786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800">
                <a:solidFill>
                  <a:schemeClr val="dk2"/>
                </a:solidFill>
                <a:latin typeface="Lato"/>
                <a:ea typeface="Lato"/>
                <a:cs typeface="Lato"/>
                <a:sym typeface="Lato"/>
              </a:rPr>
              <a:t>Given a dataset D with N protected attributes and a set G of all possible subgroups, for a binary classification task,</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rPr lang="it" sz="1800">
                <a:solidFill>
                  <a:schemeClr val="dk2"/>
                </a:solidFill>
                <a:latin typeface="Lato"/>
                <a:ea typeface="Lato"/>
                <a:cs typeface="Lato"/>
                <a:sym typeface="Lato"/>
              </a:rPr>
              <a:t>DISCOVER AUTOMATICALLY  all surprising penalized/favored subgroups:</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in linear complexity O(</a:t>
            </a:r>
            <a:r>
              <a:rPr lang="it" sz="1800">
                <a:solidFill>
                  <a:schemeClr val="dk1"/>
                </a:solidFill>
                <a:latin typeface="Lato"/>
                <a:ea typeface="Lato"/>
                <a:cs typeface="Lato"/>
                <a:sym typeface="Lato"/>
              </a:rPr>
              <a:t>N</a:t>
            </a:r>
            <a:r>
              <a:rPr lang="it" sz="1800">
                <a:solidFill>
                  <a:schemeClr val="dk2"/>
                </a:solidFill>
                <a:latin typeface="Lato"/>
                <a:ea typeface="Lato"/>
                <a:cs typeface="Lato"/>
                <a:sym typeface="Lato"/>
              </a:rPr>
              <a:t>*</a:t>
            </a:r>
            <a:r>
              <a:rPr lang="it" sz="1800">
                <a:solidFill>
                  <a:schemeClr val="accent2"/>
                </a:solidFill>
                <a:latin typeface="Lato"/>
                <a:ea typeface="Lato"/>
                <a:cs typeface="Lato"/>
                <a:sym typeface="Lato"/>
              </a:rPr>
              <a:t>G</a:t>
            </a:r>
            <a:r>
              <a:rPr lang="it" sz="1800">
                <a:solidFill>
                  <a:schemeClr val="dk2"/>
                </a:solidFill>
                <a:latin typeface="Lato"/>
                <a:ea typeface="Lato"/>
                <a:cs typeface="Lato"/>
                <a:sym typeface="Lato"/>
              </a:rPr>
              <a:t>) </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with ML-model agnostic way</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giving a easily understandable and interpretable motivation</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without being constrained to any specific statistical fairness metric.</a:t>
            </a:r>
            <a:endParaRPr sz="1800">
              <a:solidFill>
                <a:schemeClr val="dk2"/>
              </a:solidFill>
              <a:latin typeface="Lato"/>
              <a:ea typeface="Lato"/>
              <a:cs typeface="Lato"/>
              <a:sym typeface="Lato"/>
            </a:endParaRPr>
          </a:p>
        </p:txBody>
      </p:sp>
      <p:pic>
        <p:nvPicPr>
          <p:cNvPr id="559" name="Google Shape;559;p86" title="Screenshot from 2025-04-03 20-54-14.png"/>
          <p:cNvPicPr preferRelativeResize="0"/>
          <p:nvPr/>
        </p:nvPicPr>
        <p:blipFill>
          <a:blip r:embed="rId3">
            <a:alphaModFix/>
          </a:blip>
          <a:stretch>
            <a:fillRect/>
          </a:stretch>
        </p:blipFill>
        <p:spPr>
          <a:xfrm>
            <a:off x="5748900" y="1495900"/>
            <a:ext cx="3075000" cy="1733450"/>
          </a:xfrm>
          <a:prstGeom prst="rect">
            <a:avLst/>
          </a:prstGeom>
          <a:noFill/>
          <a:ln>
            <a:noFill/>
          </a:ln>
        </p:spPr>
      </p:pic>
      <p:sp>
        <p:nvSpPr>
          <p:cNvPr id="560" name="Google Shape;560;p86"/>
          <p:cNvSpPr/>
          <p:nvPr/>
        </p:nvSpPr>
        <p:spPr>
          <a:xfrm>
            <a:off x="6228450" y="1790450"/>
            <a:ext cx="2115900" cy="247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61" name="Google Shape;561;p86"/>
          <p:cNvSpPr/>
          <p:nvPr/>
        </p:nvSpPr>
        <p:spPr>
          <a:xfrm>
            <a:off x="5686950" y="2037950"/>
            <a:ext cx="3075000" cy="11619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87"/>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Mitigation: reweight approach</a:t>
            </a:r>
            <a:endParaRPr/>
          </a:p>
        </p:txBody>
      </p:sp>
      <p:sp>
        <p:nvSpPr>
          <p:cNvPr id="567" name="Google Shape;567;p87"/>
          <p:cNvSpPr txBox="1"/>
          <p:nvPr/>
        </p:nvSpPr>
        <p:spPr>
          <a:xfrm>
            <a:off x="540300" y="1150625"/>
            <a:ext cx="7852200" cy="37866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To reduce intersectional unfairness in binary classification by assigning higher training weights to samples from underprivileged subgroups.</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Input:</a:t>
            </a:r>
            <a:endParaRPr sz="1800">
              <a:solidFill>
                <a:schemeClr val="dk2"/>
              </a:solidFill>
              <a:latin typeface="Lato"/>
              <a:ea typeface="Lato"/>
              <a:cs typeface="Lato"/>
              <a:sym typeface="Lato"/>
            </a:endParaRPr>
          </a:p>
          <a:p>
            <a:pPr indent="-342900" lvl="1" marL="914400" rtl="0" algn="l">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A dataset, </a:t>
            </a:r>
            <a:endParaRPr sz="1800">
              <a:solidFill>
                <a:schemeClr val="dk2"/>
              </a:solidFill>
              <a:latin typeface="Lato"/>
              <a:ea typeface="Lato"/>
              <a:cs typeface="Lato"/>
              <a:sym typeface="Lato"/>
            </a:endParaRPr>
          </a:p>
          <a:p>
            <a:pPr indent="-342900" lvl="1" marL="914400" rtl="0" algn="l">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Precomputed penalty scores per subgroup (e.g., based on custom fairness metric).</a:t>
            </a:r>
            <a:endParaRPr sz="1800">
              <a:solidFill>
                <a:schemeClr val="dk2"/>
              </a:solidFill>
              <a:latin typeface="Lato"/>
              <a:ea typeface="Lato"/>
              <a:cs typeface="Lato"/>
              <a:sym typeface="Lato"/>
            </a:endParaRPr>
          </a:p>
          <a:p>
            <a:pPr indent="-342900" lvl="1" marL="914400" rtl="0" algn="l">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A scalar hyperparameter 𝜆 to control mitigation strength.</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lang="it" sz="1800">
                <a:solidFill>
                  <a:schemeClr val="dk2"/>
                </a:solidFill>
                <a:latin typeface="Lato"/>
                <a:ea typeface="Lato"/>
                <a:cs typeface="Lato"/>
                <a:sym typeface="Lato"/>
              </a:rPr>
              <a:t>We compute weight for tuples that have mispredictions (FP/FN) with this formula, where |g(i)| is the dimension of the subgroup:</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rPr lang="it" sz="1800">
                <a:solidFill>
                  <a:schemeClr val="dk2"/>
                </a:solidFill>
                <a:latin typeface="Lato"/>
                <a:ea typeface="Lato"/>
                <a:cs typeface="Lato"/>
                <a:sym typeface="Lato"/>
              </a:rPr>
              <a:t>First results: show small decrease in performance metrics</a:t>
            </a:r>
            <a:endParaRPr sz="1800">
              <a:solidFill>
                <a:schemeClr val="dk2"/>
              </a:solidFill>
              <a:latin typeface="Lato"/>
              <a:ea typeface="Lato"/>
              <a:cs typeface="Lato"/>
              <a:sym typeface="Lato"/>
            </a:endParaRPr>
          </a:p>
        </p:txBody>
      </p:sp>
      <p:pic>
        <p:nvPicPr>
          <p:cNvPr id="568" name="Google Shape;568;p87"/>
          <p:cNvPicPr preferRelativeResize="0"/>
          <p:nvPr/>
        </p:nvPicPr>
        <p:blipFill>
          <a:blip r:embed="rId3">
            <a:alphaModFix/>
          </a:blip>
          <a:stretch>
            <a:fillRect/>
          </a:stretch>
        </p:blipFill>
        <p:spPr>
          <a:xfrm>
            <a:off x="2427663" y="3779638"/>
            <a:ext cx="3286125" cy="6572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